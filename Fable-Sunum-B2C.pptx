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8EDF2"/>
                </a:solidFill>
              </a:defRPr>
            </a:pPr>
            <a:r>
              <a:t>Fable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E3B5"/>
                </a:solidFill>
              </a:defRPr>
            </a:pPr>
            <a:r>
              <a:t>Belgeni ver, verini verme.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6A3"/>
                </a:solidFill>
              </a:defRPr>
            </a:pPr>
            <a:r>
              <a:t>Belgelerini yapay zekâya güvenle sordur —</a:t>
            </a:r>
          </a:p>
          <a:p>
            <a:pPr algn="ctr">
              <a:defRPr sz="2000" b="0">
                <a:solidFill>
                  <a:srgbClr val="8A96A3"/>
                </a:solidFill>
              </a:defRPr>
            </a:pPr>
            <a:r>
              <a:t>kişisel verilerin bilgisayarından hiç çıkmadan.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Sözleşmeni ChatGPT'ye mi yapıştırdın?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DF2"/>
                </a:solidFill>
              </a:defRPr>
            </a:pPr>
            <a:r>
              <a:t>O belgede senin — ve başkalarının — TCKN'si, adresi, IBAN'ı, sağlık bilgisi var.</a:t>
            </a:r>
          </a:p>
          <a:p>
            <a:pPr algn="l">
              <a:defRPr sz="2200" b="0">
                <a:solidFill>
                  <a:srgbClr val="E8EDF2"/>
                </a:solidFill>
              </a:defRPr>
            </a:pPr>
          </a:p>
          <a:p>
            <a:pPr algn="l">
              <a:defRPr sz="2200" b="0">
                <a:solidFill>
                  <a:srgbClr val="E8EDF2"/>
                </a:solidFill>
              </a:defRPr>
            </a:pPr>
            <a:r>
              <a:t>Bir kez gönderdiğinde geri alamazsın. KVKK sadece şirketlerin sorunu değil:</a:t>
            </a:r>
          </a:p>
          <a:p>
            <a:pPr algn="l">
              <a:defRPr sz="2200" b="0">
                <a:solidFill>
                  <a:srgbClr val="E8EDF2"/>
                </a:solidFill>
              </a:defRPr>
            </a:pPr>
            <a:r>
              <a:t>müvekkilinin, müşterinin, çalışanının verisi de senin sorumluluğunda.</a:t>
            </a:r>
          </a:p>
          <a:p>
            <a:pPr algn="l">
              <a:defRPr sz="2200" b="0">
                <a:solidFill>
                  <a:srgbClr val="E8EDF2"/>
                </a:solidFill>
              </a:defRPr>
            </a:pPr>
          </a:p>
          <a:p>
            <a:pPr algn="l">
              <a:defRPr sz="2200" b="0">
                <a:solidFill>
                  <a:srgbClr val="E8EDF2"/>
                </a:solidFill>
              </a:defRPr>
            </a:pPr>
            <a:r>
              <a:t>Elle karartmak yavaş; bir tanesini kaçırmak yeterli.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Üç adımda güvenli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E3B5"/>
                </a:solidFill>
              </a:defRPr>
            </a:pPr>
            <a:r>
              <a:t>1  Yükle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PDF, Word ya da Excel — sürükle bırak.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E3B5"/>
                </a:solidFill>
              </a:defRPr>
            </a:pPr>
            <a:r>
              <a:t>2  Fable maskeler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9260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İsim, TCKN, IBAN, telefon, sağlık bilgisi → &lt;PERSON_1&gt; gibi etiketler.</a:t>
            </a:r>
          </a:p>
          <a:p>
            <a:pPr algn="l">
              <a:defRPr sz="1900" b="0">
                <a:solidFill>
                  <a:srgbClr val="E8EDF2"/>
                </a:solidFill>
              </a:defRPr>
            </a:pPr>
            <a:r>
              <a:t>Emin olamadığında OTOMATİK ONAYLAMAZ, sana sorar.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AE3B5"/>
                </a:solidFill>
              </a:defRPr>
            </a:pPr>
            <a:r>
              <a:t>3  Güvenle kullan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38912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Maskeli kopyayı AI'ya sor ya da PDF indir. Yanlış maskeyi tek tıkla geri 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Kimler için?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Avukat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137160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Dilekçe ve sözleşmeyi müvekkil verisi olmadan AI'ya özetlet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0428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Mali müşavir / muhasebeci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04288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Bordro ve beyanname üzerinde müşteri kimliği sızdırmadan çalış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36976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İK uzmanı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236976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Özlük dosyalarını anonim analiz 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9664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Öğrenci / araştırmacı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169664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Görüşme dökümlerini etik kurallara uygun anonimleştir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0235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Serbest çalışan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102352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Müşteri sözleşmelerini gizlilik ihlali korkusu olmadan AI ile incele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Neden güvenebilirsin?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%100 yerel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463040"/>
            <a:ext cx="7436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Belgen bilgisayarından çıkmaz. İnternet bile gerekmez.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Fail-closed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606040"/>
            <a:ext cx="7436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Sistem emin olamazsa OTOMATİK onaylamaz — sana düşer. Varsayılan: güvenlik.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Geri alınabilir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749040"/>
            <a:ext cx="7436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Yanlış maskelenen terimi tek tıkla geri al; belge yeniden taranır.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Ölçülmüş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92040"/>
            <a:ext cx="7436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"Bize güven" demiyoruz — sayı veriyoruz (sonraki slayt).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Sayılarla Fable (26 Ağustos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96A3"/>
                </a:solidFill>
              </a:defRPr>
            </a:pPr>
            <a:r>
              <a:t>72 tuzaklı belgede kritik sızıntı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96A3"/>
                </a:solidFill>
              </a:defRPr>
            </a:pPr>
            <a:r>
              <a:t>Kritik veri yakalama (mühürlü 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%100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96A3"/>
                </a:solidFill>
              </a:defRPr>
            </a:pPr>
            <a:r>
              <a:t>Belge işe yarar kaldı mı (fayda)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%98,9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96A3"/>
                </a:solidFill>
              </a:defRPr>
            </a:pPr>
            <a:r>
              <a:t>Sahte kimlik probu (16 kanarya)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16/16 yakalandı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96A3"/>
                </a:solidFill>
              </a:defRPr>
            </a:pPr>
            <a:r>
              <a:t>Otomatik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029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337 yeşil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3"/>
                </a:solidFill>
              </a:defRPr>
            </a:pPr>
            <a:r>
              <a:t>Ölçüm altyapısı açık: GoldBench + stres korpusu + bağımsız problar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2"/>
                </a:solidFill>
              </a:defRPr>
            </a:pPr>
            <a:r>
              <a:t>Aynı sınavda iki sistem: Fable (Claude) vs Sol (Codex)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6A3"/>
                </a:solidFill>
              </a:defRPr>
            </a:pPr>
            <a:r>
              <a:t>Aynı korpus, sabit kurallar, bağımsız denetlenmiş skorlayıcı — sonuçlar hash-pinli.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A96A3"/>
                </a:solidFill>
              </a:defRPr>
            </a:pPr>
            <a: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A96A3"/>
                </a:solidFill>
              </a:defRPr>
            </a:pPr>
            <a:r>
              <a:t>Fable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A96A3"/>
                </a:solidFill>
              </a:defRPr>
            </a:pPr>
            <a:r>
              <a:t>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Kritik veri yakalama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0.68  (kural-eşit: 0.86)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Aşırı-maskeleme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0/90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0/90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Stres: kritik sızıntı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0/72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57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9/72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Kanarya kaçışı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0/16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2976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1/16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Gereksiz maskeleme probu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11/40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937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AE3B5"/>
                </a:solidFill>
              </a:defRPr>
            </a:pPr>
            <a:r>
              <a:t>3/40  ← Sol daha iyi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6A3"/>
                </a:solidFill>
              </a:defRPr>
            </a:pPr>
            <a:r>
              <a:t>Dürüst not: Sol'un stres kayıplarının çoğu mimari (belgeyi aynı formatta sevk ediyor, metadata birlikte gidiyor).</a:t>
            </a:r>
          </a:p>
          <a:p>
            <a:pPr algn="l">
              <a:defRPr sz="1500" b="0">
                <a:solidFill>
                  <a:srgbClr val="8A96A3"/>
                </a:solidFill>
              </a:defRPr>
            </a:pPr>
            <a:r>
              <a:t>Fable PDF'i sıfırdan, yalnız denetlenmiş metinden üretir — o kanal fiziksel olarak kapalı.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Bu karşılaştırmadan ne öğrendik?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•  İki bağımsız ekip, aynı sınav: benchmark'ımız artık tek sisteme özgü değil — bir standart.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•  Sol'un temiz tarafı (3/40 gereksiz maskeleme) bizim 11/40'ımıza yol gösteriyor: sıradaki iyileştirme hedefimiz.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•  Fable'ın 0/72 stresi kısmen mimari tercihin ödülü: "denetlenen şey = sevk edilen şey".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•  Karşılaştırma tablosundaki her sayı yeniden koşturulabilir — skorlayıcılar ve korpus hash'leri açık.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DF2"/>
                </a:solidFill>
              </a:defRPr>
            </a:pPr>
            <a:r>
              <a:t>42 saniyede Fable</a:t>
            </a:r>
          </a:p>
        </p:txBody>
      </p:sp>
      <p:pic>
        <p:nvPicPr>
          <p:cNvPr id="3" name="fable-pro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051560"/>
            <a:ext cx="9997135" cy="56233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Sırada ne var?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Çift tıkla kurulum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463040"/>
            <a:ext cx="6522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Teknik bilgi gerektirmeyen başlatıcı (macOS/Windows)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UYAP (UDF) desteği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560320"/>
            <a:ext cx="6522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Avukatların gerçek dosya formatı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Hız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3657600"/>
            <a:ext cx="6522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Kalite modunun 38× yavaşlığını kapatan model optimizasyonu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Gereksiz maskelemeyi bitirmek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4754880"/>
            <a:ext cx="6522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Hedef: 11/40 → 3/40 seviyesi (Sol'un çıtası)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EDF2"/>
                </a:solidFill>
              </a:defRPr>
            </a:pPr>
            <a:r>
              <a:t>Belgeni ver, verini verme.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87087" y="1600200"/>
            <a:ext cx="30175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h-qr-pro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7" y="173736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800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E3B5"/>
                </a:solidFill>
              </a:defRPr>
            </a:pPr>
            <a:r>
              <a:t>github.com/EminKolac/fable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6A3"/>
                </a:solidFill>
              </a:defRPr>
            </a:pPr>
            <a:r>
              <a:t>kod · ölçümler · karşılaştırmalar — hepsi açık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