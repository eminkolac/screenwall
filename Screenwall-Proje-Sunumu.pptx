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2"/>
  </p:notesMasterIdLst>
  <p:sldIdLst>
    <p:sldId id="269" r:id="rId2"/>
    <p:sldId id="271" r:id="rId4"/>
    <p:sldId id="274" r:id="rId7"/>
    <p:sldId id="277" r:id="rId5"/>
    <p:sldId id="273" r:id="rId6"/>
    <p:sldId id="275" r:id="rId8"/>
    <p:sldId id="280" r:id="rId17"/>
    <p:sldId id="278" r:id="rId9"/>
    <p:sldId id="279" r:id="rId10"/>
    <p:sldId id="276" r:id="rId11"/>
  </p:sldIdLst>
  <p:sldSz cx="12192000" cy="6858000"/>
  <p:notesSz cx="6858000" cy="9144000"/>
  <p:defaultTextStyle>
    <a:defPPr>
      <a:defRPr lang="en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9BCB"/>
    <a:srgbClr val="39BEF8"/>
    <a:srgbClr val="001D3A"/>
    <a:srgbClr val="0063AB"/>
    <a:srgbClr val="024071"/>
    <a:srgbClr val="021B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99"/>
    <p:restoredTop sz="94675"/>
  </p:normalViewPr>
  <p:slideViewPr>
    <p:cSldViewPr snapToGrid="0">
      <p:cViewPr varScale="1">
        <p:scale>
          <a:sx n="112" d="100"/>
          <a:sy n="112" d="100"/>
        </p:scale>
        <p:origin x="23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0:00–0:10 · Merhaba, biz [ekip]. Projemiz Screenwall: şirket dokümanlarını Claude'a ya da ChatGPT'ye sormadan önce hassas bilgileri bilgisayarda maskeleyen bir uygulama.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0:10–1:00 · Videoya tıklayın; tamamı 50 saniye. Süre darsa denetim sahnesinden (yaklaşık 0:20) sonra durdurabilirsiniz.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1:00–1:40 · Sorun şu: şirket dokümanlarında ad, TCKN, IBAN var; KVKK'ya tabi bir ekip bunu Claude'a ya da ChatGPT'ye olduğu gibi gönderemez. Screenwall dokümanı bilgisayarda okuyor, kişisel verileri etiketlere çeviriyor: Ahmet Yılmaz &lt;PERSON_1&gt; oluyor, IBAN &lt;IBAN_1&gt;. Aynı kişi her yerde aynı etiketi alıyor, metin okunur kalıyor. Buluta yalnız bu etiketli metin gidiyor.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1:40–2:30 · Üç adım. Oku: PDF, Word, Excel; taranmış sayfalar OCR ile. Bul ve etiketle: Presidio ve spaCy'nin yanında bizim yazdığımız 17 Türkçe tanıyıcı var; TCKN'yi checksum ile doğruluyor, IBAN, GSM, adres buluyor ve her maskenin nedenini yazıyor. Denetle: maskeli kopyayı iki denetçi okuyor, kurallar ve bu bilgisayardaki lokal LLM; ikisi de temiz demeli. Emin değilse belge kendiliğinden onaylanmıyor, karar kullanıcıda.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2:30–3:20 · Dört sayı. 72 zorlu belgede onaylı çıktıya hiç sızıntı yok. Kritik verinin tamamı yakalandı (60 belgede 1555/1555). Güvenli belgelerin 59/62'si elle bakılmadan onaylandı. 1.011 otomatik test (932 backend + 79 arayüz) her değişiklikte koşuyor. Zayıf yanımız gereksiz maskeleme: 40 normal cümlenin 11'inde. Kurallar bu örnek belgelerle ayarlandı, bağımsız bir test seti hazırlıyoruz. Kodun ve sayıların tamamı GitHub'da; QR kodu okutabilirsiniz.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3:20–3:45 · Screenwall, Anthropic'in Claude for Startups programına kabul edildi. Bu bize Claude API kredisi ve destek sağlıyor; ilk iş Claude API modunu eklemek.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3:45–4:15 · İkinci fazda öncelik Claude API modu: onaylı maskeli metin doğrudan Claude'a gidecek, program kredisiyle. Doğrulukta hedef gereksiz maskelemeyi 11/40'tan 2/40'a indirmek ve bağımsız, mühürlü bir test setiyle ölçmek. Ayrıca büyük harfli adlar, resmî adresler, UYAP UDF formatı, Apple imzalı kurulum ve e-posta/sohbet eklentisi.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4:15–4:35 · Zaman: elle karartma yok, sadece şüpheli yerlere bakılıyor. Hata riski: kendi testlerimizde 72 zorlu belgede onaylanan kopyaya hiç kişisel veri sızmadı. Gizlilik: belge bilgisayardan çıkmıyor.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4:35–4:50 · Bugün kurulabilir bir macOS uygulamamız var: son sürüm GitHub'da, DMG dosyası indirilip Uygulamalar klasörüne sürüklenerek kuruluyor; kaynak kod da herkese açık. Sırada bağımsız bir test seti, gereksiz maskelemeyi azaltmak ve Claude API modu var. Aynı yaklaşım hukuk, İK, finans ve sağlıkta; e-posta ve sohbet eklentisi olarak da kullanılabilir.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4:50–5:00 · Teşekkürler. Sorularınız?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1 Ön Kap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ka image5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" y="476250"/>
            <a:ext cx="2476500" cy="652312"/>
          </a:xfrm>
          <a:prstGeom prst="rect">
            <a:avLst/>
          </a:prstGeom>
        </p:spPr>
      </p:pic>
      <p:pic>
        <p:nvPicPr>
          <p:cNvPr id="7" name="Marka image3"/>
          <p:cNvPicPr/>
          <p:nvPr/>
        </p:nvPicPr>
        <p:blipFill>
          <a:blip r:embed="rId3"/>
          <a:stretch>
            <a:fillRect/>
          </a:stretch>
        </p:blipFill>
        <p:spPr>
          <a:xfrm>
            <a:off x="6762125" y="799944"/>
            <a:ext cx="5258112" cy="5258112"/>
          </a:xfrm>
          <a:prstGeom prst="rect">
            <a:avLst/>
          </a:prstGeom>
        </p:spPr>
      </p:pic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7A08AEEF-AC2C-C041-D9F0-73FFFD1C03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9639" y="2491593"/>
            <a:ext cx="6953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buNone/>
              <a:defRPr lang="en-TR" sz="8000" b="1" dirty="0">
                <a:gradFill flip="none" rotWithShape="1">
                  <a:gsLst>
                    <a:gs pos="0">
                      <a:srgbClr val="021B36">
                        <a:alpha val="48811"/>
                      </a:srgbClr>
                    </a:gs>
                    <a:gs pos="100000">
                      <a:srgbClr val="0063AB">
                        <a:lumMod val="79851"/>
                        <a:lumOff val="20149"/>
                      </a:srgbClr>
                    </a:gs>
                  </a:gsLst>
                  <a:lin ang="16200000" scaled="1"/>
                  <a:tileRect/>
                </a:gradFill>
                <a:effectLst>
                  <a:outerShdw blurRad="47973" dist="116410" dir="10740000" sx="94960" sy="94960" kx="1300200" algn="ctr" rotWithShape="0">
                    <a:prstClr val="black">
                      <a:alpha val="16985"/>
                    </a:prstClr>
                  </a:outerShdw>
                </a:effectLst>
                <a:latin typeface="Montserrat" pitchFamily="2" charset="77"/>
              </a:defRPr>
            </a:lvl1pPr>
          </a:lstStyle>
          <a:p>
            <a:pPr marL="0" lvl="0"/>
            <a:r>
              <a:rPr lang="en-US" dirty="0"/>
              <a:t>PROJE ADI</a:t>
            </a:r>
            <a:endParaRPr lang="en-TR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D6C23E6-C761-A777-F464-CEC4AEC57D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275" y="1927278"/>
            <a:ext cx="6691313" cy="55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TR" sz="188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TR" dirty="0"/>
              <a:t>Yapay Zek</a:t>
            </a:r>
            <a:r>
              <a:rPr lang="en-US" dirty="0" err="1"/>
              <a:t>â</a:t>
            </a:r>
            <a:r>
              <a:rPr lang="en-US" dirty="0"/>
              <a:t> </a:t>
            </a:r>
            <a:r>
              <a:rPr lang="en-US" dirty="0" err="1"/>
              <a:t>Uzmanlık</a:t>
            </a:r>
            <a:r>
              <a:rPr lang="en-US" dirty="0"/>
              <a:t> </a:t>
            </a:r>
            <a:r>
              <a:rPr lang="en-US" dirty="0" err="1"/>
              <a:t>Programı</a:t>
            </a:r>
            <a:r>
              <a:rPr lang="en-US" dirty="0"/>
              <a:t> 2.0</a:t>
            </a:r>
            <a:endParaRPr lang="en-TR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72CF701-4439-E376-07CF-F0570674746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275" y="4565547"/>
            <a:ext cx="6691313" cy="55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TR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n-TR" dirty="0">
                <a:solidFill>
                  <a:schemeClr val="bg1"/>
                </a:solidFill>
                <a:latin typeface="Montserrat" pitchFamily="2" charset="77"/>
              </a:rPr>
              <a:t>Ekip Adı/ Grup Numarası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FBF8C7D-E096-BDBC-9042-4512A3102D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275" y="5502014"/>
            <a:ext cx="6691313" cy="558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TR" sz="16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n-TR" dirty="0">
                <a:solidFill>
                  <a:schemeClr val="bg1"/>
                </a:solidFill>
                <a:latin typeface="Montserrat" pitchFamily="2" charset="77"/>
              </a:rPr>
              <a:t>Proje Sunumu</a:t>
            </a:r>
          </a:p>
          <a:p>
            <a:r>
              <a:rPr lang="en-TR" dirty="0">
                <a:solidFill>
                  <a:schemeClr val="bg1"/>
                </a:solidFill>
                <a:latin typeface="Montserrat" pitchFamily="2" charset="77"/>
              </a:rPr>
              <a:t>Tarih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 Bölüm Ayırıc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kış oku 2">
            <a:extLst>
              <a:ext uri="{FF2B5EF4-FFF2-40B4-BE49-F238E27FC236}">
                <a16:creationId xmlns:a16="http://schemas.microsoft.com/office/drawing/2014/main" id="{500CA466-83DC-48FC-FF1F-B52F4A5E0ED2}"/>
              </a:ext>
            </a:extLst>
          </p:cNvPr>
          <p:cNvSpPr/>
          <p:nvPr userDrawn="1"/>
        </p:nvSpPr>
        <p:spPr>
          <a:xfrm>
            <a:off x="6371132" y="2548092"/>
            <a:ext cx="2228850" cy="85725"/>
          </a:xfrm>
          <a:prstGeom prst="rightArrow">
            <a:avLst/>
          </a:prstGeom>
          <a:noFill/>
          <a:ln>
            <a:gradFill flip="none" rotWithShape="1">
              <a:gsLst>
                <a:gs pos="0">
                  <a:srgbClr val="2B9BCB"/>
                </a:gs>
                <a:gs pos="100000">
                  <a:srgbClr val="001D3A">
                    <a:alpha val="7300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TR"/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8FCBA945-D186-88DD-6E68-BE5F56DE96D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71132" y="2834033"/>
            <a:ext cx="5006402" cy="1607272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Bölüm Başlığı</a:t>
            </a:r>
            <a:endParaRPr lang="en-TR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E7C47D-E485-ACC7-3CA7-22AEE642B9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04164" y="2113404"/>
            <a:ext cx="3836988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>
              <a:buNone/>
              <a:defRPr lang="en-TR" sz="25000" b="1" dirty="0">
                <a:gradFill flip="none" rotWithShape="1">
                  <a:gsLst>
                    <a:gs pos="0">
                      <a:srgbClr val="021B36">
                        <a:alpha val="0"/>
                      </a:srgbClr>
                    </a:gs>
                    <a:gs pos="100000">
                      <a:srgbClr val="0063AB"/>
                    </a:gs>
                  </a:gsLst>
                  <a:lin ang="16200000" scaled="1"/>
                  <a:tileRect/>
                </a:gradFill>
                <a:effectLst>
                  <a:outerShdw blurRad="47973" dist="215285" dir="10232882" sx="94960" sy="94960" kx="1300200" algn="ctr" rotWithShape="0">
                    <a:prstClr val="black">
                      <a:alpha val="15868"/>
                    </a:prstClr>
                  </a:outerShdw>
                </a:effectLst>
                <a:latin typeface="Montserrat" pitchFamily="2" charset="77"/>
              </a:defRPr>
            </a:lvl1pPr>
          </a:lstStyle>
          <a:p>
            <a:pPr marL="0" lvl="0"/>
            <a:r>
              <a:rPr lang="en-US" dirty="0"/>
              <a:t>01</a:t>
            </a:r>
            <a:endParaRPr lang="en-T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3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3404150-0744-45D9-7377-7F48B89C4A7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5175" y="1695026"/>
            <a:ext cx="10282238" cy="8438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lang="en-US" sz="2250" b="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en-TR" dirty="0"/>
            </a:lvl5pPr>
          </a:lstStyle>
          <a:p>
            <a:pPr>
              <a:defRPr sz="22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lang="en-US" sz="225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Ana </a:t>
            </a:r>
            <a:r>
              <a:rPr lang="en-US" sz="225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mesajınızı</a:t>
            </a:r>
            <a:r>
              <a:rPr lang="en-US" sz="225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225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buraya</a:t>
            </a:r>
            <a:r>
              <a:rPr lang="en-US" sz="225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225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yazın</a:t>
            </a:r>
            <a:r>
              <a:rPr lang="en-US" sz="225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.</a:t>
            </a:r>
          </a:p>
          <a:p>
            <a:endParaRPr lang="en-US" sz="2250" b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81EE33A-96F5-C904-A83D-5448D71239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34226"/>
            <a:ext cx="9939338" cy="594967"/>
          </a:xfrm>
          <a:prstGeom prst="rect">
            <a:avLst/>
          </a:prstGeom>
        </p:spPr>
        <p:txBody>
          <a:bodyPr/>
          <a:lstStyle>
            <a:lvl1pPr>
              <a:buNone/>
              <a:defRPr sz="32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Sayfa Başlığı</a:t>
            </a:r>
            <a:endParaRPr lang="en-TR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Akış oku 1">
            <a:extLst>
              <a:ext uri="{FF2B5EF4-FFF2-40B4-BE49-F238E27FC236}">
                <a16:creationId xmlns:a16="http://schemas.microsoft.com/office/drawing/2014/main" id="{D80B0CE1-834B-A188-982B-3FC12FBD3F05}"/>
              </a:ext>
            </a:extLst>
          </p:cNvPr>
          <p:cNvSpPr/>
          <p:nvPr userDrawn="1"/>
        </p:nvSpPr>
        <p:spPr>
          <a:xfrm>
            <a:off x="1562100" y="2324100"/>
            <a:ext cx="2228850" cy="85725"/>
          </a:xfrm>
          <a:prstGeom prst="rightArrow">
            <a:avLst/>
          </a:prstGeom>
          <a:noFill/>
          <a:ln>
            <a:gradFill flip="none" rotWithShape="1">
              <a:gsLst>
                <a:gs pos="0">
                  <a:srgbClr val="2B9BCB"/>
                </a:gs>
                <a:gs pos="100000">
                  <a:srgbClr val="001D3A">
                    <a:alpha val="7300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TR"/>
          </a:p>
        </p:txBody>
      </p:sp>
      <p:sp>
        <p:nvSpPr>
          <p:cNvPr id="16" name="Akış oku 2">
            <a:extLst>
              <a:ext uri="{FF2B5EF4-FFF2-40B4-BE49-F238E27FC236}">
                <a16:creationId xmlns:a16="http://schemas.microsoft.com/office/drawing/2014/main" id="{454E3871-B353-F35A-6F64-9AE8E2D20B39}"/>
              </a:ext>
            </a:extLst>
          </p:cNvPr>
          <p:cNvSpPr/>
          <p:nvPr userDrawn="1"/>
        </p:nvSpPr>
        <p:spPr>
          <a:xfrm>
            <a:off x="5276850" y="2324100"/>
            <a:ext cx="2228850" cy="85725"/>
          </a:xfrm>
          <a:prstGeom prst="rightArrow">
            <a:avLst/>
          </a:prstGeom>
          <a:noFill/>
          <a:ln>
            <a:gradFill flip="none" rotWithShape="1">
              <a:gsLst>
                <a:gs pos="0">
                  <a:srgbClr val="2B9BCB"/>
                </a:gs>
                <a:gs pos="100000">
                  <a:srgbClr val="001D3A">
                    <a:alpha val="7300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TR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88AA1820-4DC5-8BF7-FC04-7C9CF25DB2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2906" y="2995656"/>
            <a:ext cx="3284538" cy="447587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100" b="1" i="0" u="none" strike="noStrike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None/>
              <a:tabLst/>
            </a:pPr>
            <a:r>
              <a:rPr kumimoji="0" lang="tr-TR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Veri ve Girdiler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77221268-632D-73EA-F3DA-CD34D5D43B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49" y="4091464"/>
            <a:ext cx="3619188" cy="904875"/>
          </a:xfrm>
          <a:prstGeom prst="rect">
            <a:avLst/>
          </a:prstGeom>
        </p:spPr>
        <p:txBody>
          <a:bodyPr/>
          <a:lstStyle>
            <a:lvl1pPr marL="228600" indent="-228600">
              <a:buClrTx/>
              <a:buSzTx/>
              <a:buFont typeface="Arial" panose="020B0604020202020204" pitchFamily="34" charset="0"/>
              <a:buNone/>
              <a:defRPr sz="1875" b="0">
                <a:solidFill>
                  <a:srgbClr val="FFFFFF"/>
                </a:solidFill>
                <a:latin typeface="Montserra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Kullanılan</a:t>
            </a:r>
            <a:r>
              <a:rPr lang="en-US" sz="18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veri</a:t>
            </a:r>
            <a:r>
              <a:rPr lang="en-US" sz="18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veya</a:t>
            </a:r>
            <a:r>
              <a:rPr lang="en-US" sz="18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girdileri</a:t>
            </a:r>
            <a:r>
              <a:rPr lang="en-US" sz="18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ekleyin</a:t>
            </a:r>
            <a:endParaRPr lang="en-US" sz="1800" b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31FB0EF-15BD-4AF3-8BD1-E4F19C107D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2952" y="2995656"/>
            <a:ext cx="3284538" cy="4475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100" b="1" i="0" u="none" strike="noStrike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None/>
              <a:tabLst/>
            </a:pPr>
            <a:r>
              <a:rPr kumimoji="0" lang="tr-TR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Yapay Zekâ İşlemi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CB7388E4-D4A2-0CED-CA27-7653BEE14B2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092998" y="2995656"/>
            <a:ext cx="3284538" cy="447587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100" b="1" i="0" u="none" strike="noStrike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None/>
              <a:tabLst/>
            </a:pPr>
            <a:r>
              <a:rPr kumimoji="0" lang="tr-TR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Çıktı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02195441-8597-BA1D-353C-2FEBC3F5FF1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70570" y="4091464"/>
            <a:ext cx="3619188" cy="904875"/>
          </a:xfrm>
          <a:prstGeom prst="rect">
            <a:avLst/>
          </a:prstGeom>
        </p:spPr>
        <p:txBody>
          <a:bodyPr/>
          <a:lstStyle>
            <a:lvl1pPr marL="228600" indent="-228600">
              <a:buClrTx/>
              <a:buSzTx/>
              <a:buFont typeface="Arial" panose="020B0604020202020204" pitchFamily="34" charset="0"/>
              <a:buNone/>
              <a:defRPr sz="1875" b="0">
                <a:solidFill>
                  <a:srgbClr val="FFFFFF"/>
                </a:solidFill>
                <a:latin typeface="Montserra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Kullanılan</a:t>
            </a:r>
            <a:r>
              <a:rPr lang="en-US" sz="18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veri</a:t>
            </a:r>
            <a:r>
              <a:rPr lang="en-US" sz="18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veya</a:t>
            </a:r>
            <a:r>
              <a:rPr lang="en-US" sz="18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girdileri</a:t>
            </a:r>
            <a:r>
              <a:rPr lang="en-US" sz="18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ekleyin</a:t>
            </a:r>
            <a:endParaRPr lang="en-US" sz="1800" b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D5CA8B67-225E-84B1-A41A-37099F5E52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48091" y="4091464"/>
            <a:ext cx="3619188" cy="904875"/>
          </a:xfrm>
          <a:prstGeom prst="rect">
            <a:avLst/>
          </a:prstGeom>
        </p:spPr>
        <p:txBody>
          <a:bodyPr/>
          <a:lstStyle>
            <a:lvl1pPr marL="228600" indent="-228600">
              <a:buClrTx/>
              <a:buSzTx/>
              <a:buFont typeface="Arial" panose="020B0604020202020204" pitchFamily="34" charset="0"/>
              <a:buNone/>
              <a:defRPr sz="1875" b="0">
                <a:solidFill>
                  <a:srgbClr val="FFFFFF"/>
                </a:solidFill>
                <a:latin typeface="Montserrat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Kullanılan</a:t>
            </a:r>
            <a:r>
              <a:rPr lang="en-US" sz="18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veri</a:t>
            </a:r>
            <a:r>
              <a:rPr lang="en-US" sz="18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veya</a:t>
            </a:r>
            <a:r>
              <a:rPr lang="en-US" sz="18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girdileri</a:t>
            </a:r>
            <a:r>
              <a:rPr lang="en-US" sz="18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en-US" sz="18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ekleyin</a:t>
            </a:r>
            <a:endParaRPr lang="en-US" sz="1800" b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A561AF44-B052-24FE-CB3F-2FE07E1EC12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" y="634226"/>
            <a:ext cx="9939338" cy="594967"/>
          </a:xfrm>
          <a:prstGeom prst="rect">
            <a:avLst/>
          </a:prstGeom>
        </p:spPr>
        <p:txBody>
          <a:bodyPr/>
          <a:lstStyle>
            <a:lvl1pPr>
              <a:buNone/>
              <a:defRPr sz="32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 err="1"/>
              <a:t>Nasıl</a:t>
            </a:r>
            <a:r>
              <a:rPr lang="en-US" dirty="0"/>
              <a:t> </a:t>
            </a:r>
            <a:r>
              <a:rPr lang="en-US" dirty="0" err="1"/>
              <a:t>Çalışıyor</a:t>
            </a:r>
            <a:r>
              <a:rPr lang="en-US" dirty="0"/>
              <a:t>?</a:t>
            </a:r>
            <a:endParaRPr lang="en-TR" dirty="0"/>
          </a:p>
        </p:txBody>
      </p:sp>
      <p:sp>
        <p:nvSpPr>
          <p:cNvPr id="2" name="Akış oku 2">
            <a:extLst>
              <a:ext uri="{FF2B5EF4-FFF2-40B4-BE49-F238E27FC236}">
                <a16:creationId xmlns:a16="http://schemas.microsoft.com/office/drawing/2014/main" id="{07D2AC92-4C95-B8C2-558A-78F278ABB216}"/>
              </a:ext>
            </a:extLst>
          </p:cNvPr>
          <p:cNvSpPr/>
          <p:nvPr userDrawn="1"/>
        </p:nvSpPr>
        <p:spPr>
          <a:xfrm>
            <a:off x="8994740" y="2324100"/>
            <a:ext cx="2228850" cy="85725"/>
          </a:xfrm>
          <a:prstGeom prst="rightArrow">
            <a:avLst/>
          </a:prstGeom>
          <a:noFill/>
          <a:ln>
            <a:gradFill flip="none" rotWithShape="1">
              <a:gsLst>
                <a:gs pos="0">
                  <a:srgbClr val="2B9BCB"/>
                </a:gs>
                <a:gs pos="100000">
                  <a:srgbClr val="001D3A">
                    <a:alpha val="73000"/>
                  </a:srgb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en-TR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C8D539-A383-306D-90E3-A3BC5985858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" y="2086769"/>
            <a:ext cx="929263" cy="505706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solidFill>
                  <a:srgbClr val="2B9BCB"/>
                </a:solidFill>
                <a:latin typeface="Montserrat" pitchFamily="2" charset="77"/>
              </a:defRPr>
            </a:lvl1pPr>
            <a:lvl2pPr>
              <a:buNone/>
              <a:defRPr sz="3200" b="1">
                <a:solidFill>
                  <a:srgbClr val="2B9BCB"/>
                </a:solidFill>
                <a:latin typeface="Montserrat" pitchFamily="2" charset="77"/>
              </a:defRPr>
            </a:lvl2pPr>
            <a:lvl3pPr>
              <a:buNone/>
              <a:defRPr sz="3200" b="1">
                <a:solidFill>
                  <a:srgbClr val="2B9BCB"/>
                </a:solidFill>
                <a:latin typeface="Montserrat" pitchFamily="2" charset="77"/>
              </a:defRPr>
            </a:lvl3pPr>
            <a:lvl4pPr>
              <a:buNone/>
              <a:defRPr sz="3200" b="1">
                <a:solidFill>
                  <a:srgbClr val="2B9BCB"/>
                </a:solidFill>
                <a:latin typeface="Montserrat" pitchFamily="2" charset="77"/>
              </a:defRPr>
            </a:lvl4pPr>
            <a:lvl5pPr>
              <a:buNone/>
              <a:defRPr sz="3200" b="1">
                <a:solidFill>
                  <a:srgbClr val="2B9BCB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52744BA9-E825-ECB4-9A3F-DFCFA8F4989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47587" y="2086769"/>
            <a:ext cx="929263" cy="505706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solidFill>
                  <a:srgbClr val="2B9BCB"/>
                </a:solidFill>
                <a:latin typeface="Montserrat" pitchFamily="2" charset="77"/>
              </a:defRPr>
            </a:lvl1pPr>
            <a:lvl2pPr>
              <a:buNone/>
              <a:defRPr sz="3200" b="1">
                <a:solidFill>
                  <a:srgbClr val="2B9BCB"/>
                </a:solidFill>
                <a:latin typeface="Montserrat" pitchFamily="2" charset="77"/>
              </a:defRPr>
            </a:lvl2pPr>
            <a:lvl3pPr>
              <a:buNone/>
              <a:defRPr sz="3200" b="1">
                <a:solidFill>
                  <a:srgbClr val="2B9BCB"/>
                </a:solidFill>
                <a:latin typeface="Montserrat" pitchFamily="2" charset="77"/>
              </a:defRPr>
            </a:lvl3pPr>
            <a:lvl4pPr>
              <a:buNone/>
              <a:defRPr sz="3200" b="1">
                <a:solidFill>
                  <a:srgbClr val="2B9BCB"/>
                </a:solidFill>
                <a:latin typeface="Montserrat" pitchFamily="2" charset="77"/>
              </a:defRPr>
            </a:lvl4pPr>
            <a:lvl5pPr>
              <a:buNone/>
              <a:defRPr sz="3200" b="1">
                <a:solidFill>
                  <a:srgbClr val="2B9BCB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02</a:t>
            </a:r>
            <a:endParaRPr lang="en-TR" dirty="0"/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1523496-F622-FE56-9F95-B0EDB211C78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55429" y="2086769"/>
            <a:ext cx="929263" cy="505706"/>
          </a:xfrm>
          <a:prstGeom prst="rect">
            <a:avLst/>
          </a:prstGeom>
        </p:spPr>
        <p:txBody>
          <a:bodyPr/>
          <a:lstStyle>
            <a:lvl1pPr>
              <a:buNone/>
              <a:defRPr sz="3600" b="1">
                <a:solidFill>
                  <a:srgbClr val="2B9BCB"/>
                </a:solidFill>
                <a:latin typeface="Montserrat" pitchFamily="2" charset="77"/>
              </a:defRPr>
            </a:lvl1pPr>
            <a:lvl2pPr>
              <a:buNone/>
              <a:defRPr sz="3200" b="1">
                <a:solidFill>
                  <a:srgbClr val="2B9BCB"/>
                </a:solidFill>
                <a:latin typeface="Montserrat" pitchFamily="2" charset="77"/>
              </a:defRPr>
            </a:lvl2pPr>
            <a:lvl3pPr>
              <a:buNone/>
              <a:defRPr sz="3200" b="1">
                <a:solidFill>
                  <a:srgbClr val="2B9BCB"/>
                </a:solidFill>
                <a:latin typeface="Montserrat" pitchFamily="2" charset="77"/>
              </a:defRPr>
            </a:lvl3pPr>
            <a:lvl4pPr>
              <a:buNone/>
              <a:defRPr sz="3200" b="1">
                <a:solidFill>
                  <a:srgbClr val="2B9BCB"/>
                </a:solidFill>
                <a:latin typeface="Montserrat" pitchFamily="2" charset="77"/>
              </a:defRPr>
            </a:lvl4pPr>
            <a:lvl5pPr>
              <a:buNone/>
              <a:defRPr sz="3200" b="1">
                <a:solidFill>
                  <a:srgbClr val="2B9BCB"/>
                </a:solidFill>
                <a:latin typeface="Montserrat" pitchFamily="2" charset="77"/>
              </a:defRPr>
            </a:lvl5pPr>
          </a:lstStyle>
          <a:p>
            <a:pPr lvl="0"/>
            <a:r>
              <a:rPr lang="en-US" dirty="0"/>
              <a:t>03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86973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İki Sütu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C46EDDF-30DF-71D5-8C18-5151D37347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4113" y="1963868"/>
            <a:ext cx="4122737" cy="447587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100" b="1" i="0" u="none" strike="noStrike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None/>
              <a:tabLst/>
            </a:pPr>
            <a:r>
              <a:rPr kumimoji="0" lang="tr-TR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Sol Sütun Başlığı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34D4744-4B79-957B-A662-E841467914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10533" y="1963868"/>
            <a:ext cx="4122737" cy="447587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100" b="1" i="0" u="none" strike="noStrike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None/>
              <a:tabLst/>
            </a:pPr>
            <a:r>
              <a:rPr kumimoji="0" lang="tr-TR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Sol Sütun Başlığı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B9DE3F3-DD7C-AC3F-B104-1A0A0B8D67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34256" y="2638506"/>
            <a:ext cx="4961744" cy="455613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 err="1"/>
              <a:t>İçeriğinizi</a:t>
            </a:r>
            <a:r>
              <a:rPr lang="en-US" dirty="0"/>
              <a:t> </a:t>
            </a:r>
            <a:r>
              <a:rPr lang="en-US" dirty="0" err="1"/>
              <a:t>buraya</a:t>
            </a:r>
            <a:r>
              <a:rPr lang="en-US" dirty="0"/>
              <a:t> </a:t>
            </a:r>
            <a:r>
              <a:rPr lang="en-US" dirty="0" err="1"/>
              <a:t>ekleyin</a:t>
            </a:r>
            <a:endParaRPr lang="en-TR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431861D-C211-2195-3B4C-C255E6991B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20656" y="2638506"/>
            <a:ext cx="4961744" cy="455613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 err="1"/>
              <a:t>İçeriğinizi</a:t>
            </a:r>
            <a:r>
              <a:rPr lang="en-US" dirty="0"/>
              <a:t> </a:t>
            </a:r>
            <a:r>
              <a:rPr lang="en-US" dirty="0" err="1"/>
              <a:t>buraya</a:t>
            </a:r>
            <a:r>
              <a:rPr lang="en-US" dirty="0"/>
              <a:t> </a:t>
            </a:r>
            <a:r>
              <a:rPr lang="en-US" dirty="0" err="1"/>
              <a:t>ekleyin</a:t>
            </a:r>
            <a:endParaRPr lang="en-TR" dirty="0"/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3D02BAD3-301A-B5E3-7B7F-136D0F3A04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34226"/>
            <a:ext cx="9939338" cy="594967"/>
          </a:xfrm>
          <a:prstGeom prst="rect">
            <a:avLst/>
          </a:prstGeom>
        </p:spPr>
        <p:txBody>
          <a:bodyPr/>
          <a:lstStyle>
            <a:lvl1pPr>
              <a:buNone/>
              <a:defRPr sz="32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Sayfa Başlığı</a:t>
            </a:r>
            <a:endParaRPr lang="en-TR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5 Metin ve Gör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_3">
            <a:extLst>
              <a:ext uri="{FF2B5EF4-FFF2-40B4-BE49-F238E27FC236}">
                <a16:creationId xmlns:a16="http://schemas.microsoft.com/office/drawing/2014/main" id="{1AD33806-79F1-461A-8D9D-AEEFC3CADC02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6477000" y="1952625"/>
            <a:ext cx="5048250" cy="3381375"/>
          </a:xfrm>
          <a:prstGeom prst="rect">
            <a:avLst/>
          </a:prstGeom>
          <a:solidFill>
            <a:srgbClr val="16344F"/>
          </a:solidFill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A045676-F210-050C-7492-B9218883C8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34226"/>
            <a:ext cx="9939338" cy="594967"/>
          </a:xfrm>
          <a:prstGeom prst="rect">
            <a:avLst/>
          </a:prstGeom>
        </p:spPr>
        <p:txBody>
          <a:bodyPr/>
          <a:lstStyle>
            <a:lvl1pPr>
              <a:buNone/>
              <a:defRPr sz="32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Sayfa Başlığı</a:t>
            </a:r>
            <a:endParaRPr lang="en-TR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4461C46F-3E36-0AF7-7711-19D8734BC49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1597" y="1963868"/>
            <a:ext cx="4122737" cy="447587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lang="en-US" sz="2100" b="1" i="0" u="none" strike="noStrike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</a:defRPr>
            </a:lvl1pPr>
          </a:lstStyle>
          <a:p>
            <a:pPr marR="0" lvl="0" fontAlgn="auto">
              <a:spcAft>
                <a:spcPts val="0"/>
              </a:spcAft>
              <a:buClrTx/>
              <a:buSzTx/>
              <a:buNone/>
              <a:tabLst/>
            </a:pP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Başlık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315A503C-0C90-1A81-B0ED-EEDC9D87F8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740" y="2638506"/>
            <a:ext cx="4961744" cy="2695494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 err="1"/>
              <a:t>Açıklama</a:t>
            </a:r>
            <a:endParaRPr lang="en-T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5 Metin ve Gör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_3">
            <a:extLst>
              <a:ext uri="{FF2B5EF4-FFF2-40B4-BE49-F238E27FC236}">
                <a16:creationId xmlns:a16="http://schemas.microsoft.com/office/drawing/2014/main" id="{1AD33806-79F1-461A-8D9D-AEEFC3CADC02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609600" y="1952625"/>
            <a:ext cx="5048250" cy="3381375"/>
          </a:xfrm>
          <a:prstGeom prst="rect">
            <a:avLst/>
          </a:prstGeom>
          <a:solidFill>
            <a:srgbClr val="16344F"/>
          </a:solidFill>
        </p:spPr>
        <p:txBody>
          <a:bodyPr>
            <a:noAutofit/>
          </a:bodyPr>
          <a:lstStyle/>
          <a:p>
            <a:endParaRPr/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DA045676-F210-050C-7492-B9218883C8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34226"/>
            <a:ext cx="9939338" cy="594967"/>
          </a:xfrm>
          <a:prstGeom prst="rect">
            <a:avLst/>
          </a:prstGeom>
        </p:spPr>
        <p:txBody>
          <a:bodyPr/>
          <a:lstStyle>
            <a:lvl1pPr>
              <a:buNone/>
              <a:defRPr sz="32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Sayfa Başlığı</a:t>
            </a:r>
            <a:endParaRPr lang="en-TR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E24C18D6-A28E-62FA-2A1C-0ACC09879D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96857" y="1963868"/>
            <a:ext cx="4122737" cy="447587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tr-TR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Başlık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78174F5B-7E09-7B53-2F6A-0E603159B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0" y="2638506"/>
            <a:ext cx="4961744" cy="2695494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 err="1"/>
              <a:t>Açıklama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3440291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6 Yapay Zekâ Objeli İç Sayf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ka image4"/>
          <p:cNvPicPr/>
          <p:nvPr/>
        </p:nvPicPr>
        <p:blipFill>
          <a:blip r:embed="rId2"/>
          <a:stretch>
            <a:fillRect/>
          </a:stretch>
        </p:blipFill>
        <p:spPr>
          <a:xfrm>
            <a:off x="7000408" y="-929390"/>
            <a:ext cx="7114706" cy="7114706"/>
          </a:xfrm>
          <a:prstGeom prst="rect">
            <a:avLst/>
          </a:prstGeom>
          <a:effectLst/>
        </p:spPr>
      </p:pic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2A58B47-749B-40ED-2D34-85B5126E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34226"/>
            <a:ext cx="9939338" cy="594967"/>
          </a:xfrm>
          <a:prstGeom prst="rect">
            <a:avLst/>
          </a:prstGeom>
        </p:spPr>
        <p:txBody>
          <a:bodyPr/>
          <a:lstStyle>
            <a:lvl1pPr>
              <a:buNone/>
              <a:defRPr sz="32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Sayfa Başlığı</a:t>
            </a:r>
            <a:endParaRPr lang="en-TR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9BB0076-73B2-A3B0-7FCA-A094D02927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1597" y="1963868"/>
            <a:ext cx="4122737" cy="447587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noProof="0" dirty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>
              <a:buNone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Ana </a:t>
            </a: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Başlık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277FF9D3-9780-67DF-1699-2BD582F8EF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740" y="2638506"/>
            <a:ext cx="6108804" cy="3027776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Projenizin</a:t>
            </a:r>
            <a:r>
              <a:rPr lang="en-US" dirty="0"/>
              <a:t> </a:t>
            </a:r>
            <a:r>
              <a:rPr lang="en-US" dirty="0" err="1"/>
              <a:t>değerini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somut</a:t>
            </a:r>
            <a:r>
              <a:rPr lang="en-US" dirty="0"/>
              <a:t> </a:t>
            </a:r>
            <a:r>
              <a:rPr lang="en-US" dirty="0" err="1"/>
              <a:t>ifadelerle</a:t>
            </a:r>
            <a:r>
              <a:rPr lang="en-US" dirty="0"/>
              <a:t> </a:t>
            </a:r>
            <a:r>
              <a:rPr lang="en-US" dirty="0" err="1"/>
              <a:t>açıklayın</a:t>
            </a:r>
            <a:endParaRPr lang="en-TR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06 Yapay Zekâ Objeli İç Sayf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2A58B47-749B-40ED-2D34-85B5126E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34226"/>
            <a:ext cx="9939338" cy="594967"/>
          </a:xfrm>
          <a:prstGeom prst="rect">
            <a:avLst/>
          </a:prstGeom>
        </p:spPr>
        <p:txBody>
          <a:bodyPr/>
          <a:lstStyle>
            <a:lvl1pPr>
              <a:buNone/>
              <a:defRPr sz="32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Sayfa Başlığı</a:t>
            </a:r>
            <a:endParaRPr lang="en-TR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9BB0076-73B2-A3B0-7FCA-A094D02927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1597" y="1963868"/>
            <a:ext cx="4122737" cy="447587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noProof="0" dirty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>
              <a:buNone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Ana </a:t>
            </a: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Başlık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277FF9D3-9780-67DF-1699-2BD582F8EF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740" y="2638506"/>
            <a:ext cx="6108804" cy="3027776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Projenizin</a:t>
            </a:r>
            <a:r>
              <a:rPr lang="en-US" dirty="0"/>
              <a:t> </a:t>
            </a:r>
            <a:r>
              <a:rPr lang="en-US" dirty="0" err="1"/>
              <a:t>değerini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somut</a:t>
            </a:r>
            <a:r>
              <a:rPr lang="en-US" dirty="0"/>
              <a:t> </a:t>
            </a:r>
            <a:r>
              <a:rPr lang="en-US" dirty="0" err="1"/>
              <a:t>ifadelerle</a:t>
            </a:r>
            <a:r>
              <a:rPr lang="en-US" dirty="0"/>
              <a:t> </a:t>
            </a:r>
            <a:r>
              <a:rPr lang="en-US" dirty="0" err="1"/>
              <a:t>açıklayın</a:t>
            </a:r>
            <a:endParaRPr lang="en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995B9C-FA4C-D4DF-E321-4D53386204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74" r="33626"/>
          <a:stretch>
            <a:fillRect/>
          </a:stretch>
        </p:blipFill>
        <p:spPr>
          <a:xfrm>
            <a:off x="5200651" y="0"/>
            <a:ext cx="6991350" cy="746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001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06 Yapay Zekâ Objeli İç Sayf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E379E0-D724-8798-057B-4F61A5658F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347" r="20123"/>
          <a:stretch>
            <a:fillRect/>
          </a:stretch>
        </p:blipFill>
        <p:spPr>
          <a:xfrm>
            <a:off x="7087735" y="0"/>
            <a:ext cx="5104266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6F05D67-2745-3EC4-7E78-6BCE7B9C8037}"/>
              </a:ext>
            </a:extLst>
          </p:cNvPr>
          <p:cNvSpPr/>
          <p:nvPr userDrawn="1"/>
        </p:nvSpPr>
        <p:spPr>
          <a:xfrm>
            <a:off x="4313266" y="0"/>
            <a:ext cx="6108803" cy="6858000"/>
          </a:xfrm>
          <a:prstGeom prst="rect">
            <a:avLst/>
          </a:prstGeom>
          <a:gradFill flip="none" rotWithShape="1">
            <a:gsLst>
              <a:gs pos="99000">
                <a:schemeClr val="tx1">
                  <a:alpha val="0"/>
                </a:schemeClr>
              </a:gs>
              <a:gs pos="0">
                <a:schemeClr val="tx1">
                  <a:alpha val="0"/>
                </a:schemeClr>
              </a:gs>
              <a:gs pos="53000">
                <a:schemeClr val="tx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F2A58B47-749B-40ED-2D34-85B5126E91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634226"/>
            <a:ext cx="9939338" cy="594967"/>
          </a:xfrm>
          <a:prstGeom prst="rect">
            <a:avLst/>
          </a:prstGeom>
        </p:spPr>
        <p:txBody>
          <a:bodyPr/>
          <a:lstStyle>
            <a:lvl1pPr>
              <a:buNone/>
              <a:defRPr sz="3200" b="1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/>
            <a:r>
              <a:rPr lang="en-US" dirty="0"/>
              <a:t>Sayfa Başlığı</a:t>
            </a:r>
            <a:endParaRPr lang="en-TR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9BB0076-73B2-A3B0-7FCA-A094D02927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01597" y="1963868"/>
            <a:ext cx="4122737" cy="447587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000" b="1" noProof="0" dirty="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lvl="0">
              <a:buNone/>
            </a:pPr>
            <a:r>
              <a:rPr kumimoji="0" 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Ana </a:t>
            </a:r>
            <a:r>
              <a:rPr kumimoji="0" 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itchFamily="2" charset="77"/>
                <a:ea typeface="+mn-ea"/>
                <a:cs typeface="+mn-cs"/>
              </a:rPr>
              <a:t>Başlık</a:t>
            </a:r>
            <a:endParaRPr kumimoji="0" lang="en-US" sz="2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itchFamily="2" charset="77"/>
              <a:ea typeface="+mn-ea"/>
              <a:cs typeface="+mn-cs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277FF9D3-9780-67DF-1699-2BD582F8EFE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740" y="2638506"/>
            <a:ext cx="6108804" cy="3027776"/>
          </a:xfrm>
          <a:prstGeom prst="rect">
            <a:avLst/>
          </a:prstGeom>
        </p:spPr>
        <p:txBody>
          <a:bodyPr/>
          <a:lstStyle>
            <a:lvl1pPr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Projenizin</a:t>
            </a:r>
            <a:r>
              <a:rPr lang="en-US" dirty="0"/>
              <a:t> </a:t>
            </a:r>
            <a:r>
              <a:rPr lang="en-US" dirty="0" err="1"/>
              <a:t>değerini</a:t>
            </a:r>
            <a:r>
              <a:rPr lang="en-US" dirty="0"/>
              <a:t> </a:t>
            </a:r>
            <a:r>
              <a:rPr lang="en-US" dirty="0" err="1"/>
              <a:t>kısa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somut</a:t>
            </a:r>
            <a:r>
              <a:rPr lang="en-US" dirty="0"/>
              <a:t> </a:t>
            </a:r>
            <a:r>
              <a:rPr lang="en-US" dirty="0" err="1"/>
              <a:t>ifadelerle</a:t>
            </a:r>
            <a:r>
              <a:rPr lang="en-US" dirty="0"/>
              <a:t> </a:t>
            </a:r>
            <a:r>
              <a:rPr lang="en-US" dirty="0" err="1"/>
              <a:t>açıklayın</a:t>
            </a:r>
            <a:endParaRPr lang="en-TR" dirty="0"/>
          </a:p>
        </p:txBody>
      </p:sp>
    </p:spTree>
    <p:extLst>
      <p:ext uri="{BB962C8B-B14F-4D97-AF65-F5344CB8AC3E}">
        <p14:creationId xmlns:p14="http://schemas.microsoft.com/office/powerpoint/2010/main" val="436018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07 Arka Kap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ka image5"/>
          <p:cNvPicPr/>
          <p:nvPr/>
        </p:nvPicPr>
        <p:blipFill>
          <a:blip r:embed="rId2"/>
          <a:stretch>
            <a:fillRect/>
          </a:stretch>
        </p:blipFill>
        <p:spPr>
          <a:xfrm>
            <a:off x="4667250" y="4762500"/>
            <a:ext cx="2857500" cy="7526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38BF45-64C0-8B5F-0C8E-192D182E8D4D}"/>
              </a:ext>
            </a:extLst>
          </p:cNvPr>
          <p:cNvSpPr txBox="1"/>
          <p:nvPr userDrawn="1"/>
        </p:nvSpPr>
        <p:spPr>
          <a:xfrm>
            <a:off x="1205772" y="2606154"/>
            <a:ext cx="97804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TR"/>
            </a:defPPr>
            <a:lvl1pPr>
              <a:defRPr sz="25000" b="1">
                <a:gradFill flip="none" rotWithShape="1">
                  <a:gsLst>
                    <a:gs pos="0">
                      <a:srgbClr val="021B36">
                        <a:alpha val="0"/>
                      </a:srgbClr>
                    </a:gs>
                    <a:gs pos="100000">
                      <a:srgbClr val="0063AB"/>
                    </a:gs>
                  </a:gsLst>
                  <a:lin ang="16200000" scaled="1"/>
                  <a:tileRect/>
                </a:gradFill>
                <a:effectLst>
                  <a:outerShdw blurRad="47973" dist="215285" dir="10232882" sx="94960" sy="94960" kx="1300200" algn="ctr" rotWithShape="0">
                    <a:prstClr val="black">
                      <a:alpha val="15868"/>
                    </a:prstClr>
                  </a:outerShdw>
                </a:effectLst>
                <a:latin typeface="Montserrat" pitchFamily="2" charset="77"/>
              </a:defRPr>
            </a:lvl1pPr>
          </a:lstStyle>
          <a:p>
            <a:pPr lvl="0" algn="ctr"/>
            <a:r>
              <a:rPr lang="en-TR" sz="8000" dirty="0">
                <a:gradFill flip="none" rotWithShape="1">
                  <a:gsLst>
                    <a:gs pos="0">
                      <a:srgbClr val="021B36">
                        <a:alpha val="48811"/>
                      </a:srgbClr>
                    </a:gs>
                    <a:gs pos="100000">
                      <a:srgbClr val="0063AB">
                        <a:lumMod val="79851"/>
                        <a:lumOff val="20149"/>
                      </a:srgbClr>
                    </a:gs>
                  </a:gsLst>
                  <a:lin ang="16200000" scaled="1"/>
                  <a:tileRect/>
                </a:gradFill>
                <a:effectLst>
                  <a:outerShdw blurRad="47973" dist="116410" dir="10740000" sx="103844" sy="103844" kx="1300200" algn="ctr" rotWithShape="0">
                    <a:prstClr val="black">
                      <a:alpha val="16985"/>
                    </a:prstClr>
                  </a:outerShdw>
                </a:effectLst>
              </a:rPr>
              <a:t>TEŞEKKÜRLER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VF Akademi — Yapay Zekâ 2.0"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ka image5"/>
          <p:cNvPicPr/>
          <p:nvPr/>
        </p:nvPicPr>
        <p:blipFill>
          <a:blip r:embed="rId14"/>
          <a:stretch>
            <a:fillRect/>
          </a:stretch>
        </p:blipFill>
        <p:spPr>
          <a:xfrm>
            <a:off x="609600" y="6038850"/>
            <a:ext cx="1905000" cy="50177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49F225E-8283-4967-9F33-FD22A86CA6D4}"/>
              </a:ext>
            </a:extLst>
          </p:cNvPr>
          <p:cNvSpPr>
            <a:spLocks noGrp="1"/>
          </p:cNvSpPr>
          <p:nvPr/>
        </p:nvSpPr>
        <p:spPr>
          <a:xfrm>
            <a:off x="7505700" y="62198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r">
              <a:defRPr sz="1125" b="0">
                <a:solidFill>
                  <a:srgbClr val="BED2E8"/>
                </a:solidFill>
                <a:latin typeface="Montserrat"/>
                <a:ea typeface="Montserrat"/>
                <a:cs typeface="Montserrat"/>
              </a:defRPr>
            </a:pPr>
            <a:r>
              <a:rPr sz="1125" b="0" dirty="0">
                <a:solidFill>
                  <a:srgbClr val="BED2E8">
                    <a:alpha val="44763"/>
                  </a:srgbClr>
                </a:solidFill>
                <a:latin typeface="Montserrat"/>
                <a:ea typeface="Montserrat"/>
                <a:cs typeface="Montserrat"/>
              </a:rPr>
              <a:t>Yapay Zekâ </a:t>
            </a:r>
            <a:r>
              <a:rPr sz="1125" b="0" dirty="0" err="1">
                <a:solidFill>
                  <a:srgbClr val="BED2E8">
                    <a:alpha val="44763"/>
                  </a:srgbClr>
                </a:solidFill>
                <a:latin typeface="Montserrat"/>
                <a:ea typeface="Montserrat"/>
                <a:cs typeface="Montserrat"/>
              </a:rPr>
              <a:t>Uzmanlık</a:t>
            </a:r>
            <a:r>
              <a:rPr sz="1125" b="0" dirty="0">
                <a:solidFill>
                  <a:srgbClr val="BED2E8">
                    <a:alpha val="44763"/>
                  </a:srgbClr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125" b="0" dirty="0" err="1">
                <a:solidFill>
                  <a:srgbClr val="BED2E8">
                    <a:alpha val="44763"/>
                  </a:srgbClr>
                </a:solidFill>
                <a:latin typeface="Montserrat"/>
                <a:ea typeface="Montserrat"/>
                <a:cs typeface="Montserrat"/>
              </a:rPr>
              <a:t>Programı</a:t>
            </a:r>
            <a:r>
              <a:rPr sz="1125" b="0" dirty="0">
                <a:solidFill>
                  <a:srgbClr val="BED2E8">
                    <a:alpha val="44763"/>
                  </a:srgbClr>
                </a:solidFill>
                <a:latin typeface="Montserrat"/>
                <a:ea typeface="Montserrat"/>
                <a:cs typeface="Montserrat"/>
              </a:rPr>
              <a:t> 2.0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8" r:id="rId4"/>
    <p:sldLayoutId id="2147483654" r:id="rId5"/>
    <p:sldLayoutId id="2147483655" r:id="rId6"/>
    <p:sldLayoutId id="2147483659" r:id="rId7"/>
    <p:sldLayoutId id="2147483656" r:id="rId8"/>
    <p:sldLayoutId id="2147483660" r:id="rId9"/>
    <p:sldLayoutId id="2147483661" r:id="rId10"/>
    <p:sldLayoutId id="21474836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EminKolac/screenwall" TargetMode="Externa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hyperlink" Target="https://github.com/EminKolac/screenwall" TargetMode="Externa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8D71B2-288A-B2A6-1AF6-F22830587E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738359" y="2491593"/>
            <a:ext cx="6861809" cy="1200329"/>
          </a:xfrm>
        </p:spPr>
        <p:txBody>
          <a:bodyPr/>
          <a:lstStyle/>
          <a:p>
            <a:r>
              <a:t>Screenwall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99C72-CDDC-0ABD-36F7-783212B10D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Yapay Zekâ Uzmanlık Programı 2.0</a:t>
            </a:r>
            <a:endParaRPr lang="en-T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6B3F7C-D804-53DE-A3E8-112004F5BE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492B72-2B30-B224-89EA-B301EAE8A4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Proje Sunumu</a:t>
            </a:r>
            <a:endParaRPr lang="en-TR"/>
          </a:p>
          <a:p>
            <a:r>
              <a:t>Önce maskele. Sonra sor.</a:t>
            </a:r>
          </a:p>
        </p:txBody>
      </p:sp>
      <p:pic>
        <p:nvPicPr>
          <p:cNvPr id="6" name="Picture 5" descr="screenwall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639" y="2611697"/>
            <a:ext cx="960120" cy="960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292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wall-Tanitim-v11-1920x108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21616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FB92F0C-31BC-DC2E-3EE8-CFFB32EAAD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Oku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E9189-5192-F818-402E-71A60BAF0FB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93049" y="4091464"/>
            <a:ext cx="3619188" cy="1371600"/>
          </a:xfrm>
        </p:spPr>
        <p:txBody>
          <a:bodyPr/>
          <a:lstStyle/>
          <a:p>
            <a:r>
              <a:t>PDF, Word ve Excel; tablolar, üst ve altbilgiler dahil. Taranmış sayfalar OCR ile okunur.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5B8D2B-6B36-6487-E863-1659463CE4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Bul ve etiketle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D0B6A6-DB2F-027C-1B1C-5D55442770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Denetle ve onayla</a:t>
            </a:r>
            <a:endParaRPr lang="en-T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8DA1FE-DE1C-24E9-1CC9-7018FEA4615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70570" y="4091464"/>
            <a:ext cx="3619188" cy="1371600"/>
          </a:xfrm>
        </p:spPr>
        <p:txBody>
          <a:bodyPr/>
          <a:lstStyle/>
          <a:p>
            <a:r>
              <a:t>Presidio ve spaCy ile 17 Türkçe tanıyıcı: TCKN (doğrulamalı), VKN, IBAN, GSM, adres… Her maskenin nedeni yazar.</a:t>
            </a:r>
            <a:endParaRPr lang="en-TR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C8FE81-ECCF-3FA2-CF5E-FB90D3AADD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48091" y="4091464"/>
            <a:ext cx="3619188" cy="1371600"/>
          </a:xfrm>
        </p:spPr>
        <p:txBody>
          <a:bodyPr/>
          <a:lstStyle/>
          <a:p>
            <a:r>
              <a:t>Kurallar ve lokal LLM (Qwen) maskeli kopyayı okur; ikisi de temiz demeli. Emin değilse karar kullanıcıda.</a:t>
            </a:r>
            <a:endParaRPr lang="en-TR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13F818B-2B3F-51A2-8CFA-440188E3C81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Nasıl Yapıyoruz?</a:t>
            </a:r>
            <a:endParaRPr lang="en-TR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417D1B-D531-162C-8B42-468728D68D3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01</a:t>
            </a:r>
            <a:endParaRPr lang="en-TR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F3BE567-03AB-F214-9578-6EBCEA352B9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t>02</a:t>
            </a:r>
            <a:endParaRPr lang="en-T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BEB8EB-115F-BEC9-D72A-77485E1DAE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t>03</a:t>
            </a:r>
            <a:endParaRPr lang="en-TR"/>
          </a:p>
        </p:txBody>
      </p:sp>
      <p:sp>
        <p:nvSpPr>
          <p:cNvPr id="12" name="TextBox 11"/>
          <p:cNvSpPr txBox="1"/>
          <p:nvPr/>
        </p:nvSpPr>
        <p:spPr>
          <a:xfrm>
            <a:off x="612648" y="5559552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B8C7DB"/>
                </a:solidFill>
                <a:latin typeface="Montserrat"/>
              </a:rPr>
              <a:t>Hepsi bu bilgisayarda: Python · FastAPI · React · Presidio · spaCy · PyMuPDF · Tesseract · Ollama (Qwen 3.5 4B)</a:t>
            </a:r>
          </a:p>
        </p:txBody>
      </p:sp>
    </p:spTree>
    <p:extLst>
      <p:ext uri="{BB962C8B-B14F-4D97-AF65-F5344CB8AC3E}">
        <p14:creationId xmlns:p14="http://schemas.microsoft.com/office/powerpoint/2010/main" val="206714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6A7B35-13A2-B379-97DB-02C00638AC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Ölçtüklerimiz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2329A-3517-CB94-BFA9-294FA20AC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t>Açık kaynak: GitHub</a:t>
            </a:r>
            <a:endParaRPr lang="en-T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DD6C65-D2D4-71A2-A383-360E990DEE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0656" y="2638506"/>
            <a:ext cx="4961744" cy="731520"/>
          </a:xfrm>
        </p:spPr>
        <p:txBody>
          <a:bodyPr/>
          <a:lstStyle/>
          <a:p>
            <a:r>
              <a:rPr>
                <a:hlinkClick r:id="rId2"/>
              </a:rPr>
              <a:t>github.com/EminKolac/screenwall</a:t>
            </a:r>
            <a:endParaRPr lang="en-TR"/>
          </a:p>
          <a:p>
            <a:r>
              <a:t>Kurulum (DMG), kaynak kod ve tüm test sayıları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47D35D1-9B2D-F9AA-03F6-63A86E8C33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Test Sonuçları ve Kaynak Kod</a:t>
            </a:r>
            <a:endParaRPr lang="en-TR"/>
          </a:p>
        </p:txBody>
      </p:sp>
      <p:sp>
        <p:nvSpPr>
          <p:cNvPr id="7" name="Rounded Rectangle 6"/>
          <p:cNvSpPr/>
          <p:nvPr/>
        </p:nvSpPr>
        <p:spPr>
          <a:xfrm>
            <a:off x="1133856" y="2606040"/>
            <a:ext cx="2395728" cy="1371600"/>
          </a:xfrm>
          <a:prstGeom prst="roundRect">
            <a:avLst>
              <a:gd name="adj" fmla="val 6000"/>
            </a:avLst>
          </a:prstGeom>
          <a:solidFill>
            <a:srgbClr val="0B1E3A"/>
          </a:solidFill>
          <a:ln w="15875">
            <a:solidFill>
              <a:srgbClr val="5A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16736" y="2734056"/>
            <a:ext cx="20299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5AA0E6"/>
                </a:solidFill>
                <a:latin typeface="Montserrat"/>
              </a:rPr>
              <a:t>0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sızıntı</a:t>
            </a:r>
          </a:p>
          <a:p>
            <a:pPr algn="l"/>
            <a:r>
              <a:rPr sz="1200" b="0">
                <a:solidFill>
                  <a:srgbClr val="B8C7DB"/>
                </a:solidFill>
                <a:latin typeface="Montserrat"/>
              </a:rPr>
              <a:t>72 zorlu belgede onaylı çıktıya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30752" y="2606040"/>
            <a:ext cx="2395728" cy="1371600"/>
          </a:xfrm>
          <a:prstGeom prst="roundRect">
            <a:avLst>
              <a:gd name="adj" fmla="val 6000"/>
            </a:avLst>
          </a:prstGeom>
          <a:solidFill>
            <a:srgbClr val="0B1E3A"/>
          </a:solidFill>
          <a:ln w="15875">
            <a:solidFill>
              <a:srgbClr val="5A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913632" y="2734056"/>
            <a:ext cx="20299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5AA0E6"/>
                </a:solidFill>
                <a:latin typeface="Montserrat"/>
              </a:rPr>
              <a:t>%100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kritik veri</a:t>
            </a:r>
          </a:p>
          <a:p>
            <a:pPr algn="l"/>
            <a:r>
              <a:rPr sz="1200" b="0">
                <a:solidFill>
                  <a:srgbClr val="B8C7DB"/>
                </a:solidFill>
                <a:latin typeface="Montserrat"/>
              </a:rPr>
              <a:t>ad, TCKN, IBAN, telefon… yakalandı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33856" y="4160520"/>
            <a:ext cx="2395728" cy="1371600"/>
          </a:xfrm>
          <a:prstGeom prst="roundRect">
            <a:avLst>
              <a:gd name="adj" fmla="val 6000"/>
            </a:avLst>
          </a:prstGeom>
          <a:solidFill>
            <a:srgbClr val="0B1E3A"/>
          </a:solidFill>
          <a:ln w="15875">
            <a:solidFill>
              <a:srgbClr val="5A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16736" y="4288536"/>
            <a:ext cx="20299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5AA0E6"/>
                </a:solidFill>
                <a:latin typeface="Montserrat"/>
              </a:rPr>
              <a:t>59/62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otomatik onay</a:t>
            </a:r>
          </a:p>
          <a:p>
            <a:pPr algn="l"/>
            <a:r>
              <a:rPr sz="1200" b="0">
                <a:solidFill>
                  <a:srgbClr val="B8C7DB"/>
                </a:solidFill>
                <a:latin typeface="Montserrat"/>
              </a:rPr>
              <a:t>güvenli belgeler elle bakmadan geçti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30752" y="4160520"/>
            <a:ext cx="2395728" cy="1371600"/>
          </a:xfrm>
          <a:prstGeom prst="roundRect">
            <a:avLst>
              <a:gd name="adj" fmla="val 6000"/>
            </a:avLst>
          </a:prstGeom>
          <a:solidFill>
            <a:srgbClr val="0B1E3A"/>
          </a:solidFill>
          <a:ln w="15875">
            <a:solidFill>
              <a:srgbClr val="5A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913632" y="4288536"/>
            <a:ext cx="202996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5AA0E6"/>
                </a:solidFill>
                <a:latin typeface="Montserrat"/>
              </a:rPr>
              <a:t>1.011</a:t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otomatik test</a:t>
            </a:r>
          </a:p>
          <a:p>
            <a:pPr algn="l"/>
            <a:r>
              <a:rPr sz="1200" b="0">
                <a:solidFill>
                  <a:srgbClr val="B8C7DB"/>
                </a:solidFill>
                <a:latin typeface="Montserrat"/>
              </a:rPr>
              <a:t>her değişiklikte koşuyor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5641848"/>
            <a:ext cx="49926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B8C7DB"/>
                </a:solidFill>
                <a:latin typeface="Montserrat"/>
              </a:rPr>
              <a:t>Kendi test setimizle ölçüldü; bağımsız test Faz 2'de.</a:t>
            </a:r>
          </a:p>
        </p:txBody>
      </p:sp>
      <p:pic>
        <p:nvPicPr>
          <p:cNvPr id="16" name="Picture 15" descr="github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520440"/>
            <a:ext cx="2103120" cy="210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06840" y="420624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ontserrat"/>
              </a:rPr>
              <a:t>Telefonla okutun</a:t>
            </a:r>
          </a:p>
          <a:p>
            <a:pPr algn="l"/>
            <a:r>
              <a:rPr sz="1200" b="0">
                <a:solidFill>
                  <a:srgbClr val="B8C7DB"/>
                </a:solidFill>
                <a:latin typeface="Montserrat"/>
              </a:rPr>
              <a:t>Repo açılır</a:t>
            </a:r>
          </a:p>
        </p:txBody>
      </p:sp>
    </p:spTree>
    <p:extLst>
      <p:ext uri="{BB962C8B-B14F-4D97-AF65-F5344CB8AC3E}">
        <p14:creationId xmlns:p14="http://schemas.microsoft.com/office/powerpoint/2010/main" val="2255420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66FAAF-91C7-3877-CE63-CF4B3BCAB9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Ne Yapıyoruz?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1FC0F3-8513-99CC-86DD-669B2A2E3E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01597" y="1627632"/>
            <a:ext cx="10789920" cy="448056"/>
          </a:xfrm>
        </p:spPr>
        <p:txBody>
          <a:bodyPr/>
          <a:lstStyle/>
          <a:p>
            <a:r>
              <a:t>Kişisel veri etikete dönüşür; gerçek veri bilgisayarda kalır.</a:t>
            </a:r>
            <a:endParaRPr lang="en-TR" dirty="0"/>
          </a:p>
        </p:txBody>
      </p:sp>
      <p:pic>
        <p:nvPicPr>
          <p:cNvPr id="5" name="Picture 4" descr="sema-o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4912"/>
            <a:ext cx="3931920" cy="3136497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4544568" y="4146856"/>
            <a:ext cx="365760" cy="292608"/>
          </a:xfrm>
          <a:prstGeom prst="rightArrow">
            <a:avLst/>
          </a:prstGeom>
          <a:solidFill>
            <a:srgbClr val="5A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ma-sonr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724912"/>
            <a:ext cx="3931920" cy="3136497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8979408" y="4146856"/>
            <a:ext cx="365760" cy="292608"/>
          </a:xfrm>
          <a:prstGeom prst="rightArrow">
            <a:avLst/>
          </a:prstGeom>
          <a:solidFill>
            <a:srgbClr val="5A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418320" y="2724912"/>
            <a:ext cx="2240280" cy="3136497"/>
          </a:xfrm>
          <a:prstGeom prst="roundRect">
            <a:avLst>
              <a:gd name="adj" fmla="val 6000"/>
            </a:avLst>
          </a:prstGeom>
          <a:solidFill>
            <a:srgbClr val="0B1E3A"/>
          </a:solidFill>
          <a:ln w="15875">
            <a:solidFill>
              <a:srgbClr val="5A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0" y="2907792"/>
            <a:ext cx="1874520" cy="27707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ontserrat"/>
              </a:rPr>
              <a:t>Claude / ChatGPT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ontserrat"/>
              </a:rPr>
              <a:t/>
            </a:r>
          </a:p>
          <a:p>
            <a:pPr algn="l"/>
            <a:r>
              <a:rPr sz="1300" b="0">
                <a:solidFill>
                  <a:srgbClr val="B8C7DB"/>
                </a:solidFill>
                <a:latin typeface="Montserrat"/>
              </a:rPr>
              <a:t>Yalnız etiketli metni görür:</a:t>
            </a:r>
          </a:p>
          <a:p>
            <a:pPr algn="l"/>
            <a:r>
              <a:rPr sz="1300" b="1">
                <a:solidFill>
                  <a:srgbClr val="5AA0E6"/>
                </a:solidFill>
                <a:latin typeface="Montserrat"/>
              </a:rPr>
              <a:t>&lt;PERSON_1&gt;</a:t>
            </a:r>
          </a:p>
          <a:p>
            <a:pPr algn="l"/>
            <a:r>
              <a:rPr sz="1300" b="1">
                <a:solidFill>
                  <a:srgbClr val="5AA0E6"/>
                </a:solidFill>
                <a:latin typeface="Montserrat"/>
              </a:rPr>
              <a:t>&lt;TCKN_1&gt;</a:t>
            </a:r>
          </a:p>
          <a:p>
            <a:pPr algn="l"/>
            <a:r>
              <a:rPr sz="1300" b="1">
                <a:solidFill>
                  <a:srgbClr val="5AA0E6"/>
                </a:solidFill>
                <a:latin typeface="Montserrat"/>
              </a:rPr>
              <a:t>&lt;IBAN_1&gt;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Montserrat"/>
              </a:rPr>
              <a:t/>
            </a:r>
          </a:p>
          <a:p>
            <a:pPr algn="l"/>
            <a:r>
              <a:rPr sz="1300" b="0">
                <a:solidFill>
                  <a:srgbClr val="B8C7DB"/>
                </a:solidFill>
                <a:latin typeface="Montserrat"/>
              </a:rPr>
              <a:t>Gerçek veri bilgisayardan çıkmaz.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957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AA0E6"/>
                </a:solidFill>
                <a:latin typeface="Montserrat"/>
              </a:rPr>
              <a:t>1 · Doküman: gerçek veriler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395728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AA0E6"/>
                </a:solidFill>
                <a:latin typeface="Montserrat"/>
              </a:rPr>
              <a:t>2 · Screenwall maskeler (bilgisayarda)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395728"/>
            <a:ext cx="2240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AA0E6"/>
                </a:solidFill>
                <a:latin typeface="Montserrat"/>
              </a:rPr>
              <a:t>3 · Yapay zekâya soru</a:t>
            </a:r>
          </a:p>
        </p:txBody>
      </p:sp>
    </p:spTree>
    <p:extLst>
      <p:ext uri="{BB962C8B-B14F-4D97-AF65-F5344CB8AC3E}">
        <p14:creationId xmlns:p14="http://schemas.microsoft.com/office/powerpoint/2010/main" val="3580507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920B744-5444-D968-0D09-CE3C571A620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Claude for Startups</a:t>
            </a:r>
            <a:endParaRPr lang="en-TR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9A4569-C98F-084F-6642-CDB228E058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Programa kabul edildik</a:t>
            </a:r>
            <a:endParaRPr lang="en-TR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A8D36D-F00E-2C46-AD8F-4C51E65FFA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b="1"/>
              <a:t>Kabul: </a:t>
            </a:r>
            <a:r>
              <a:t>Screenwall, Anthropic'in Claude for Startups programına kabul edildi.</a:t>
            </a:r>
            <a:endParaRPr lang="en-TR"/>
          </a:p>
          <a:p>
            <a:r>
              <a:rPr b="1"/>
              <a:t>Ne sağlıyor: </a:t>
            </a:r>
            <a:r>
              <a:t>Claude API kredisi ve girişimlere yönelik destek.</a:t>
            </a:r>
          </a:p>
          <a:p>
            <a:r>
              <a:rPr b="1"/>
              <a:t>Sıradaki adım: </a:t>
            </a:r>
            <a:r>
              <a:t>Claude API modu: onaylı maskeli metin doğrudan Claude'a gider.</a:t>
            </a:r>
          </a:p>
        </p:txBody>
      </p:sp>
    </p:spTree>
    <p:extLst>
      <p:ext uri="{BB962C8B-B14F-4D97-AF65-F5344CB8AC3E}">
        <p14:creationId xmlns:p14="http://schemas.microsoft.com/office/powerpoint/2010/main" val="3937607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AA9E56-5255-CB57-0E8A-E8BFDBA028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Sağladığı Değer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F1FF21-BAA9-2CC4-CA92-E9B712984C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Güvenle yapay zekâ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0A0999-127D-220E-7D8F-7F610BFC02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b="1"/>
              <a:t>Zaman: </a:t>
            </a:r>
            <a:r>
              <a:t>Elle karartma yerine otomatik tespit; kullanıcı yalnız şüpheli yerlere bakar.</a:t>
            </a:r>
            <a:endParaRPr lang="en-TR"/>
          </a:p>
          <a:p>
            <a:r>
              <a:rPr b="1"/>
              <a:t>Hata riski: </a:t>
            </a:r>
            <a:r>
              <a:t>Zorlu 72 test belgesinde onaylanan kopyaya 0 sızıntı.</a:t>
            </a:r>
          </a:p>
          <a:p>
            <a:r>
              <a:rPr b="1"/>
              <a:t>Gizlilik: </a:t>
            </a:r>
            <a:r>
              <a:t>Gerçek veri bilgisayarda kalır; Claude ve ChatGPT yalnız etiketleri görür.</a:t>
            </a:r>
          </a:p>
          <a:p>
            <a:r>
              <a:rPr b="1"/>
              <a:t>Erişim: </a:t>
            </a:r>
            <a:r>
              <a:t>KVKK'ya tabi ekipler de yapay zekâdan yararlanabilir.</a:t>
            </a:r>
          </a:p>
        </p:txBody>
      </p:sp>
    </p:spTree>
    <p:extLst>
      <p:ext uri="{BB962C8B-B14F-4D97-AF65-F5344CB8AC3E}">
        <p14:creationId xmlns:p14="http://schemas.microsoft.com/office/powerpoint/2010/main" val="561328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52445F-29C5-4832-BEE2-80791B3093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Sonuç &amp; Gelecek Potansiyeli</a:t>
            </a:r>
            <a:endParaRPr lang="en-T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9E9B13-EF76-FDC1-F1FD-9EE1153FB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Bugün çalışıyor</a:t>
            </a:r>
            <a:endParaRPr lang="en-T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96EAE9-2A43-DE42-41ED-71309D96F9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b="1"/>
              <a:t>Bugün: </a:t>
            </a:r>
            <a:r>
              <a:t>Kurulabilir macOS uygulaması (DMG), açık GitHub reposu, otomatik testler.</a:t>
            </a:r>
            <a:endParaRPr lang="en-TR"/>
          </a:p>
          <a:p>
            <a:r>
              <a:rPr b="1"/>
              <a:t>Sonraki adım: </a:t>
            </a:r>
            <a:r>
              <a:t>Bağımsız test seti, gereksiz maskelemeyi azaltmak, Claude API modu.</a:t>
            </a:r>
          </a:p>
          <a:p>
            <a:r>
              <a:rPr b="1"/>
              <a:t>Başka alanlar: </a:t>
            </a:r>
            <a:r>
              <a:t>Hukuk, İK, finans, sağlık; e-posta ve sohbet eklentisi.</a:t>
            </a:r>
          </a:p>
          <a:p>
            <a:r>
              <a:rPr b="1"/>
              <a:t>İndirme ve kaynak kod: </a:t>
            </a:r>
            <a:r>
              <a:rPr>
                <a:hlinkClick r:id="rId2"/>
              </a:rPr>
              <a:t>github.com/EminKolac/screenwall</a:t>
            </a:r>
          </a:p>
        </p:txBody>
      </p:sp>
    </p:spTree>
    <p:extLst>
      <p:ext uri="{BB962C8B-B14F-4D97-AF65-F5344CB8AC3E}">
        <p14:creationId xmlns:p14="http://schemas.microsoft.com/office/powerpoint/2010/main" val="1337643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54802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marL="0" indent="0">
              <a:buNone/>
            </a:pPr>
            <a:r>
              <a:t>Daha doğru maskeleme, yeni formatlar ve Claude entegrasyonu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Faz 2: Neler Olabilir?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6060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0B1E3A"/>
          </a:solidFill>
          <a:ln w="15875">
            <a:solidFill>
              <a:srgbClr val="5A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6968" y="2770632"/>
            <a:ext cx="3026664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AA0E6"/>
                </a:solidFill>
                <a:latin typeface="Montserrat"/>
              </a:rPr>
              <a:t>01  Claude API modu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Onaylı maskeli metin doğrudan Claude'a gider; Claude for Startups kredisiyle.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6060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0B1E3A"/>
          </a:solidFill>
          <a:ln w="15875">
            <a:solidFill>
              <a:srgbClr val="5A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90288" y="2770632"/>
            <a:ext cx="3026664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AA0E6"/>
                </a:solidFill>
                <a:latin typeface="Montserrat"/>
              </a:rPr>
              <a:t>02  Daha az gereksiz maskeleme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Nötr cümlede 11/40'tan en fazla 2/40'a; iş terimlerinde 30/90'dan 80/90'a.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6060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0B1E3A"/>
          </a:solidFill>
          <a:ln w="15875">
            <a:solidFill>
              <a:srgbClr val="5A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93608" y="2770632"/>
            <a:ext cx="3026664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AA0E6"/>
                </a:solidFill>
                <a:latin typeface="Montserrat"/>
              </a:rPr>
              <a:t>03  Bağımsız test seti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Sistemin hiç görmediği, mühürlü belgelerle dürüst ölçüm.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5196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0B1E3A"/>
          </a:solidFill>
          <a:ln w="15875">
            <a:solidFill>
              <a:srgbClr val="5A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4416552"/>
            <a:ext cx="3026664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AA0E6"/>
                </a:solidFill>
                <a:latin typeface="Montserrat"/>
              </a:rPr>
              <a:t>04  Zor vakalar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Büyük harfle yazılmış adlar, kısaltmasız resmî adresler, meslek ve maaş bilgisi.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25196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0B1E3A"/>
          </a:solidFill>
          <a:ln w="15875">
            <a:solidFill>
              <a:srgbClr val="5A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90288" y="4416552"/>
            <a:ext cx="3026664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AA0E6"/>
                </a:solidFill>
                <a:latin typeface="Montserrat"/>
              </a:rPr>
              <a:t>05  UYAP UDF desteği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Avukatların gerçekte kullandığı belge formatı.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425196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0B1E3A"/>
          </a:solidFill>
          <a:ln w="15875">
            <a:solidFill>
              <a:srgbClr val="5AA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93608" y="4416552"/>
            <a:ext cx="3026664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5AA0E6"/>
                </a:solidFill>
                <a:latin typeface="Montserrat"/>
              </a:rPr>
              <a:t>06  Güven ve dağıtım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/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Montserrat"/>
              </a:rPr>
              <a:t>Apple imzalı kurulum, saldırı-direnci testi; e-posta ve sohbet eklentisi.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VF_Yapay_Zeka_Şablon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</Words>
  <Application>Microsoft Macintosh PowerPoint</Application>
  <DocSecurity>0</DocSecurity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Montserrat</vt:lpstr>
      <vt:lpstr>TVF_Yapay_Zeka_Şablon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Miray GİDİRİŞLİOĞLU</cp:lastModifiedBy>
  <cp:revision>2</cp:revision>
  <dcterms:created xsi:type="dcterms:W3CDTF">2026-10-01T08:22:40Z</dcterms:created>
  <dcterms:modified xsi:type="dcterms:W3CDTF">2026-10-02T09:11:33Z</dcterms:modified>
</cp:coreProperties>
</file>