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1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486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DA15E"/>
                </a:solidFill>
                <a:latin typeface="Consolas"/>
              </a:rPr>
              <a:t>◆  KURUMSAL GİZLİLİK ALTYAPISI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691640"/>
            <a:ext cx="100584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 i="0">
                <a:solidFill>
                  <a:srgbClr val="FFFFFF"/>
                </a:solidFill>
                <a:latin typeface="Cambria"/>
              </a:rPr>
              <a:t>Belge Anonimleştirme
Platformu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794760"/>
            <a:ext cx="8229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CFE0DE"/>
                </a:solidFill>
                <a:latin typeface="Calibri"/>
              </a:rPr>
              <a:t>Kurumların gizli belgelerini — data room, finansal tablo, LP listesi — </a:t>
            </a:r>
            <a:r>
              <a:rPr sz="1500" b="1" i="0">
                <a:solidFill>
                  <a:srgbClr val="CDA15E"/>
                </a:solidFill>
                <a:latin typeface="Calibri"/>
              </a:rPr>
              <a:t>makineden hiç çıkmadan</a:t>
            </a:r>
            <a:r>
              <a:rPr sz="1500" b="0" i="0">
                <a:solidFill>
                  <a:srgbClr val="CFE0DE"/>
                </a:solidFill>
                <a:latin typeface="Calibri"/>
              </a:rPr>
              <a:t> kişisel veriden arındıran, çift dilli (TR + EN) yerel anonimleştirme sistemi.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983480"/>
            <a:ext cx="2560320" cy="65836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3800" b="1" i="0">
                <a:solidFill>
                  <a:srgbClr val="CDA15E"/>
                </a:solidFill>
                <a:latin typeface="Cambria"/>
              </a:rPr>
              <a:t>%98.1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687568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FE0DE"/>
                </a:solidFill>
                <a:latin typeface="Consolas"/>
              </a:rPr>
              <a:t>PII GİZLEME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10128" y="4983480"/>
            <a:ext cx="2560320" cy="65836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10128" y="5687568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FE0DE"/>
                </a:solidFill>
                <a:latin typeface="Consolas"/>
              </a:rPr>
              <a:t>İZOLE KATMAN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53328" y="4983480"/>
            <a:ext cx="2560320" cy="65836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53328" y="5687568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FE0DE"/>
                </a:solidFill>
                <a:latin typeface="Consolas"/>
              </a:rPr>
              <a:t>AŞAMALI TESPİT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96528" y="4983480"/>
            <a:ext cx="2560320" cy="65836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mbria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96528" y="5687568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FE0DE"/>
                </a:solidFill>
                <a:latin typeface="Consolas"/>
              </a:rPr>
              <a:t>ONAY ÖNCESİ DIŞ ÇAĞRI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008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B9CA1"/>
                </a:solidFill>
                <a:latin typeface="Consolas"/>
              </a:rPr>
              <a:t>PROJE SUNUMU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52767" y="64008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CDA15E"/>
                </a:solidFill>
                <a:latin typeface="Consolas"/>
              </a:rPr>
              <a:t>SHIP · WITH · GUARDRAILS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iamond 1"/>
          <p:cNvSpPr/>
          <p:nvPr/>
        </p:nvSpPr>
        <p:spPr>
          <a:xfrm>
            <a:off x="566928" y="594360"/>
            <a:ext cx="109728" cy="109728"/>
          </a:xfrm>
          <a:prstGeom prst="diamond">
            <a:avLst/>
          </a:prstGeom>
          <a:solidFill>
            <a:srgbClr val="AD8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54864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AD8339"/>
                </a:solidFill>
                <a:latin typeface="Consolas"/>
              </a:rPr>
              <a:t>KURUMLAR İÇİN NE İFADE EDİYOR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16262E"/>
                </a:solidFill>
                <a:latin typeface="Cambria"/>
              </a:rPr>
              <a:t>Gizli belge paylaşmanın riskini sıfıra indirir.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38528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6262E"/>
                </a:solidFill>
                <a:latin typeface="Calibri"/>
              </a:rPr>
              <a:t>Tek kaçan alan bir KVKK ihlalidir. </a:t>
            </a:r>
            <a:r>
              <a:rPr sz="1400" b="0" i="0">
                <a:solidFill>
                  <a:srgbClr val="5C7077"/>
                </a:solidFill>
                <a:latin typeface="Calibri"/>
              </a:rPr>
              <a:t>Bu platform karartma adımını otomatikleştirir ve ölçülebilir kılar — </a:t>
            </a:r>
            <a:r>
              <a:rPr sz="1400" b="1" i="0">
                <a:solidFill>
                  <a:srgbClr val="AD8339"/>
                </a:solidFill>
                <a:latin typeface="Calibri"/>
              </a:rPr>
              <a:t>denetlenen = gönderilen.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697480"/>
            <a:ext cx="5257800" cy="1508760"/>
          </a:xfrm>
          <a:prstGeom prst="roundRect">
            <a:avLst>
              <a:gd name="adj" fmla="val 5500"/>
            </a:avLst>
          </a:prstGeom>
          <a:solidFill>
            <a:srgbClr val="F1F5F4"/>
          </a:solidFill>
          <a:ln w="12700">
            <a:solidFill>
              <a:srgbClr val="D9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859536" y="3008376"/>
            <a:ext cx="146304" cy="146304"/>
          </a:xfrm>
          <a:prstGeom prst="diamond">
            <a:avLst/>
          </a:prstGeom>
          <a:solidFill>
            <a:srgbClr val="AD8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3856" y="2916936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16262E"/>
                </a:solidFill>
                <a:latin typeface="Cambria"/>
              </a:rPr>
              <a:t>Yerel-öncelikli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383280"/>
            <a:ext cx="46634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0" i="0">
                <a:solidFill>
                  <a:srgbClr val="5C7077"/>
                </a:solidFill>
                <a:latin typeface="Calibri"/>
              </a:rPr>
              <a:t>Ham belge onay verilene dek makineden çıkmaz. Tespit modelleri cihaz-içi — çalışma anında dış-ağ çağrısı yok.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4768" y="2697480"/>
            <a:ext cx="5257800" cy="1508760"/>
          </a:xfrm>
          <a:prstGeom prst="roundRect">
            <a:avLst>
              <a:gd name="adj" fmla="val 5500"/>
            </a:avLst>
          </a:prstGeom>
          <a:solidFill>
            <a:srgbClr val="F1F5F4"/>
          </a:solidFill>
          <a:ln w="12700">
            <a:solidFill>
              <a:srgbClr val="D9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iamond 10"/>
          <p:cNvSpPr/>
          <p:nvPr/>
        </p:nvSpPr>
        <p:spPr>
          <a:xfrm>
            <a:off x="6437376" y="3008376"/>
            <a:ext cx="146304" cy="146304"/>
          </a:xfrm>
          <a:prstGeom prst="diamond">
            <a:avLst/>
          </a:prstGeom>
          <a:solidFill>
            <a:srgbClr val="AD8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11696" y="2916936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16262E"/>
                </a:solidFill>
                <a:latin typeface="Cambria"/>
              </a:rPr>
              <a:t>KVKK / GDPR uyumu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3383280"/>
            <a:ext cx="46634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0" i="0">
                <a:solidFill>
                  <a:srgbClr val="5C7077"/>
                </a:solidFill>
                <a:latin typeface="Calibri"/>
              </a:rPr>
              <a:t>Kişisel veri geri döndürülemez &lt;TÜR_n&gt; yer tutucularıyla değişir; eşleme tablosu hiç dışarı verilmez.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416552"/>
            <a:ext cx="5257800" cy="1508760"/>
          </a:xfrm>
          <a:prstGeom prst="roundRect">
            <a:avLst>
              <a:gd name="adj" fmla="val 5500"/>
            </a:avLst>
          </a:prstGeom>
          <a:solidFill>
            <a:srgbClr val="F1F5F4"/>
          </a:solidFill>
          <a:ln w="12700">
            <a:solidFill>
              <a:srgbClr val="D9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iamond 14"/>
          <p:cNvSpPr/>
          <p:nvPr/>
        </p:nvSpPr>
        <p:spPr>
          <a:xfrm>
            <a:off x="859536" y="4727448"/>
            <a:ext cx="146304" cy="146304"/>
          </a:xfrm>
          <a:prstGeom prst="diamond">
            <a:avLst/>
          </a:prstGeom>
          <a:solidFill>
            <a:srgbClr val="AD8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33856" y="4636008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16262E"/>
                </a:solidFill>
                <a:latin typeface="Cambria"/>
              </a:rPr>
              <a:t>Deterministik &amp; denetlenebilir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5102352"/>
            <a:ext cx="46634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0" i="0">
                <a:solidFill>
                  <a:srgbClr val="5C7077"/>
                </a:solidFill>
                <a:latin typeface="Calibri"/>
              </a:rPr>
              <a:t>Aynı değer her yerde aynı token. Her belge onay veya insan-inceleme kararıyla iz bırakır.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4768" y="4416552"/>
            <a:ext cx="5257800" cy="1508760"/>
          </a:xfrm>
          <a:prstGeom prst="roundRect">
            <a:avLst>
              <a:gd name="adj" fmla="val 5500"/>
            </a:avLst>
          </a:prstGeom>
          <a:solidFill>
            <a:srgbClr val="F1F5F4"/>
          </a:solidFill>
          <a:ln w="12700">
            <a:solidFill>
              <a:srgbClr val="D9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iamond 18"/>
          <p:cNvSpPr/>
          <p:nvPr/>
        </p:nvSpPr>
        <p:spPr>
          <a:xfrm>
            <a:off x="6437376" y="4727448"/>
            <a:ext cx="146304" cy="146304"/>
          </a:xfrm>
          <a:prstGeom prst="diamond">
            <a:avLst/>
          </a:prstGeom>
          <a:solidFill>
            <a:srgbClr val="AD8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11696" y="4636008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16262E"/>
                </a:solidFill>
                <a:latin typeface="Cambria"/>
              </a:rPr>
              <a:t>Çok formatlı, çift dilli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5664" y="5102352"/>
            <a:ext cx="46634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0" i="0">
                <a:solidFill>
                  <a:srgbClr val="5C7077"/>
                </a:solidFill>
                <a:latin typeface="Calibri"/>
              </a:rPr>
              <a:t>PDF · Word · Excel; TR + EN + karışık. Header, footer, comment, gizli sheet dahil.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6400800"/>
            <a:ext cx="11057839" cy="12801"/>
          </a:xfrm>
          <a:prstGeom prst="rect">
            <a:avLst/>
          </a:prstGeom>
          <a:solidFill>
            <a:srgbClr val="D9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6455664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B9CA1"/>
                </a:solidFill>
                <a:latin typeface="Consolas"/>
              </a:rPr>
              <a:t>02 · DEĞER ÖNERİSİ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23967" y="6455664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9CA1"/>
                </a:solidFill>
                <a:latin typeface="Consolas"/>
              </a:rPr>
              <a:t>data room · finansal tablo · LP listesi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iamond 1"/>
          <p:cNvSpPr/>
          <p:nvPr/>
        </p:nvSpPr>
        <p:spPr>
          <a:xfrm>
            <a:off x="566928" y="594360"/>
            <a:ext cx="109728" cy="109728"/>
          </a:xfrm>
          <a:prstGeom prst="diamond">
            <a:avLst/>
          </a:prstGeom>
          <a:solidFill>
            <a:srgbClr val="AD8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54864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AD8339"/>
                </a:solidFill>
                <a:latin typeface="Consolas"/>
              </a:rPr>
              <a:t>NEDEN GEREKLİ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16262E"/>
                </a:solidFill>
                <a:latin typeface="Cambria"/>
              </a:rPr>
              <a:t>Elle karartma ölçeklenmiyor — bu ölçekleniyor.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057400"/>
            <a:ext cx="5257800" cy="4114800"/>
          </a:xfrm>
          <a:prstGeom prst="roundRect">
            <a:avLst>
              <a:gd name="adj" fmla="val 5500"/>
            </a:avLst>
          </a:prstGeom>
          <a:solidFill>
            <a:srgbClr val="F1F5F4"/>
          </a:solidFill>
          <a:ln w="12700">
            <a:solidFill>
              <a:srgbClr val="D9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2286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A23C2A"/>
                </a:solidFill>
                <a:latin typeface="Consolas"/>
              </a:rPr>
              <a:t>PROBLEM</a:t>
            </a:r>
          </a:p>
        </p:txBody>
      </p:sp>
      <p:sp>
        <p:nvSpPr>
          <p:cNvPr id="7" name="Diamond 6"/>
          <p:cNvSpPr/>
          <p:nvPr/>
        </p:nvSpPr>
        <p:spPr>
          <a:xfrm>
            <a:off x="896112" y="2807208"/>
            <a:ext cx="109728" cy="109728"/>
          </a:xfrm>
          <a:prstGeom prst="diamond">
            <a:avLst/>
          </a:prstGeom>
          <a:solidFill>
            <a:srgbClr val="A23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3856" y="271576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6262E"/>
                </a:solidFill>
                <a:latin typeface="Calibri"/>
              </a:rPr>
              <a:t>Gizli belge dış paylaşımı zorunlu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" y="2990088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C7077"/>
                </a:solidFill>
                <a:latin typeface="Calibri"/>
              </a:rPr>
              <a:t>Danışman, denetçi, yatırımcı, AI aracı — hepsi belgeyi görür.</a:t>
            </a:r>
          </a:p>
        </p:txBody>
      </p:sp>
      <p:sp>
        <p:nvSpPr>
          <p:cNvPr id="10" name="Diamond 9"/>
          <p:cNvSpPr/>
          <p:nvPr/>
        </p:nvSpPr>
        <p:spPr>
          <a:xfrm>
            <a:off x="896112" y="3630168"/>
            <a:ext cx="109728" cy="109728"/>
          </a:xfrm>
          <a:prstGeom prst="diamond">
            <a:avLst/>
          </a:prstGeom>
          <a:solidFill>
            <a:srgbClr val="A23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353872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6262E"/>
                </a:solidFill>
                <a:latin typeface="Calibri"/>
              </a:rPr>
              <a:t>Belgeler PII ile dolu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" y="3813048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C7077"/>
                </a:solidFill>
                <a:latin typeface="Calibri"/>
              </a:rPr>
              <a:t>İsim, TCKN, IBAN, hesap no, iletişim, adres, imza.</a:t>
            </a:r>
          </a:p>
        </p:txBody>
      </p:sp>
      <p:sp>
        <p:nvSpPr>
          <p:cNvPr id="13" name="Diamond 12"/>
          <p:cNvSpPr/>
          <p:nvPr/>
        </p:nvSpPr>
        <p:spPr>
          <a:xfrm>
            <a:off x="896112" y="4453128"/>
            <a:ext cx="109728" cy="109728"/>
          </a:xfrm>
          <a:prstGeom prst="diamond">
            <a:avLst/>
          </a:prstGeom>
          <a:solidFill>
            <a:srgbClr val="A23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3856" y="436168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6262E"/>
                </a:solidFill>
                <a:latin typeface="Calibri"/>
              </a:rPr>
              <a:t>Elle karartma hataya açık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" y="4636008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C7077"/>
                </a:solidFill>
                <a:latin typeface="Calibri"/>
              </a:rPr>
              <a:t>Header/footer, comment, gizli sheet, resim/OCR atlanır.</a:t>
            </a:r>
          </a:p>
        </p:txBody>
      </p:sp>
      <p:sp>
        <p:nvSpPr>
          <p:cNvPr id="16" name="Diamond 15"/>
          <p:cNvSpPr/>
          <p:nvPr/>
        </p:nvSpPr>
        <p:spPr>
          <a:xfrm>
            <a:off x="896112" y="5276088"/>
            <a:ext cx="109728" cy="109728"/>
          </a:xfrm>
          <a:prstGeom prst="diamond">
            <a:avLst/>
          </a:prstGeom>
          <a:solidFill>
            <a:srgbClr val="A23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33856" y="518464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6262E"/>
                </a:solidFill>
                <a:latin typeface="Calibri"/>
              </a:rPr>
              <a:t>Sonuç: sessiz sızıntı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" y="5458968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C7077"/>
                </a:solidFill>
                <a:latin typeface="Calibri"/>
              </a:rPr>
              <a:t>Tek görülmeyen alan → KVKK ihlali, itibar riski.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4768" y="2057400"/>
            <a:ext cx="5257800" cy="4114800"/>
          </a:xfrm>
          <a:prstGeom prst="roundRect">
            <a:avLst>
              <a:gd name="adj" fmla="val 5500"/>
            </a:avLst>
          </a:prstGeom>
          <a:solidFill>
            <a:srgbClr val="0D2130"/>
          </a:solidFill>
          <a:ln w="12700">
            <a:solidFill>
              <a:srgbClr val="D9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55664" y="2286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CDA15E"/>
                </a:solidFill>
                <a:latin typeface="Consolas"/>
              </a:rPr>
              <a:t>ÇÖZÜM</a:t>
            </a:r>
          </a:p>
        </p:txBody>
      </p:sp>
      <p:sp>
        <p:nvSpPr>
          <p:cNvPr id="21" name="Diamond 20"/>
          <p:cNvSpPr/>
          <p:nvPr/>
        </p:nvSpPr>
        <p:spPr>
          <a:xfrm>
            <a:off x="6473952" y="2807208"/>
            <a:ext cx="109728" cy="109728"/>
          </a:xfrm>
          <a:prstGeom prst="diamond">
            <a:avLst/>
          </a:prstGeom>
          <a:solidFill>
            <a:srgbClr val="CDA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11696" y="271576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Yükle → arındır → onayla → dışa aktar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11696" y="2990088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CFE0DE"/>
                </a:solidFill>
                <a:latin typeface="Calibri"/>
              </a:rPr>
              <a:t>Tek tıkla uçtan uca; belge makineden çıkmaz.</a:t>
            </a:r>
          </a:p>
        </p:txBody>
      </p:sp>
      <p:sp>
        <p:nvSpPr>
          <p:cNvPr id="24" name="Diamond 23"/>
          <p:cNvSpPr/>
          <p:nvPr/>
        </p:nvSpPr>
        <p:spPr>
          <a:xfrm>
            <a:off x="6473952" y="3630168"/>
            <a:ext cx="109728" cy="109728"/>
          </a:xfrm>
          <a:prstGeom prst="diamond">
            <a:avLst/>
          </a:prstGeom>
          <a:solidFill>
            <a:srgbClr val="CDA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11696" y="353872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Tüm kanalları tarar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11696" y="3813048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CFE0DE"/>
                </a:solidFill>
                <a:latin typeface="Calibri"/>
              </a:rPr>
              <a:t>Metin + tablo + header/footer/comment + gizli sheet + OCR.</a:t>
            </a:r>
          </a:p>
        </p:txBody>
      </p:sp>
      <p:sp>
        <p:nvSpPr>
          <p:cNvPr id="27" name="Diamond 26"/>
          <p:cNvSpPr/>
          <p:nvPr/>
        </p:nvSpPr>
        <p:spPr>
          <a:xfrm>
            <a:off x="6473952" y="4453128"/>
            <a:ext cx="109728" cy="109728"/>
          </a:xfrm>
          <a:prstGeom prst="diamond">
            <a:avLst/>
          </a:prstGeom>
          <a:solidFill>
            <a:srgbClr val="CDA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11696" y="436168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3 aşamalı tespit + denetim döngüsü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11696" y="4636008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CFE0DE"/>
                </a:solidFill>
                <a:latin typeface="Calibri"/>
              </a:rPr>
              <a:t>Presidio → Privacy Filter → deterministik audit, max 3 tur.</a:t>
            </a:r>
          </a:p>
        </p:txBody>
      </p:sp>
      <p:sp>
        <p:nvSpPr>
          <p:cNvPr id="30" name="Diamond 29"/>
          <p:cNvSpPr/>
          <p:nvPr/>
        </p:nvSpPr>
        <p:spPr>
          <a:xfrm>
            <a:off x="6473952" y="5276088"/>
            <a:ext cx="109728" cy="109728"/>
          </a:xfrm>
          <a:prstGeom prst="diamond">
            <a:avLst/>
          </a:prstGeom>
          <a:solidFill>
            <a:srgbClr val="CDA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11696" y="518464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Yalnız denetlenmiş metni gönderir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11696" y="5458968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CFE0DE"/>
                </a:solidFill>
                <a:latin typeface="Calibri"/>
              </a:rPr>
              <a:t>Çıktı katman-3'ten üretilir; dosya adı da anonim.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6400800"/>
            <a:ext cx="11057839" cy="12801"/>
          </a:xfrm>
          <a:prstGeom prst="rect">
            <a:avLst/>
          </a:prstGeom>
          <a:solidFill>
            <a:srgbClr val="D9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6455664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B9CA1"/>
                </a:solidFill>
                <a:latin typeface="Consolas"/>
              </a:rPr>
              <a:t>03 · PROBLEM → ÇÖZÜM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23967" y="6455664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9CA1"/>
                </a:solidFill>
                <a:latin typeface="Consolas"/>
              </a:rPr>
              <a:t>otomatik · ölçülebilir · yerel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iamond 1"/>
          <p:cNvSpPr/>
          <p:nvPr/>
        </p:nvSpPr>
        <p:spPr>
          <a:xfrm>
            <a:off x="566928" y="594360"/>
            <a:ext cx="109728" cy="109728"/>
          </a:xfrm>
          <a:prstGeom prst="diamond">
            <a:avLst/>
          </a:prstGeom>
          <a:solidFill>
            <a:srgbClr val="AD8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54864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AD8339"/>
                </a:solidFill>
                <a:latin typeface="Consolas"/>
              </a:rPr>
              <a:t>SÜREÇ — BİR BELGE NASIL AKIYOR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16262E"/>
                </a:solidFill>
                <a:latin typeface="Cambria"/>
              </a:rPr>
              <a:t>Altı adım, tek yön: içeri ham, dışarı anonim.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965960"/>
            <a:ext cx="3474720" cy="1280160"/>
          </a:xfrm>
          <a:prstGeom prst="roundRect">
            <a:avLst>
              <a:gd name="adj" fmla="val 5500"/>
            </a:avLst>
          </a:prstGeom>
          <a:solidFill>
            <a:srgbClr val="F1F5F4"/>
          </a:solidFill>
          <a:ln w="12700">
            <a:solidFill>
              <a:srgbClr val="D9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2221991"/>
            <a:ext cx="566928" cy="566928"/>
          </a:xfrm>
          <a:prstGeom prst="ellipse">
            <a:avLst/>
          </a:prstGeom>
          <a:solidFill>
            <a:srgbClr val="0D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21991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CDA15E"/>
                </a:solidFill>
                <a:latin typeface="Cambr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7048" y="2203704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16262E"/>
                </a:solidFill>
                <a:latin typeface="Cambria"/>
              </a:rPr>
              <a:t>Yükleme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7048" y="2551176"/>
            <a:ext cx="23957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7077"/>
                </a:solidFill>
                <a:latin typeface="Calibri"/>
              </a:rPr>
              <a:t>Tür/boyut/zip-bomb doğrulaması. .xls/.doc reddedilir.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965960"/>
            <a:ext cx="3474720" cy="1280160"/>
          </a:xfrm>
          <a:prstGeom prst="roundRect">
            <a:avLst>
              <a:gd name="adj" fmla="val 5500"/>
            </a:avLst>
          </a:prstGeom>
          <a:solidFill>
            <a:srgbClr val="F1F5F4"/>
          </a:solidFill>
          <a:ln w="12700">
            <a:solidFill>
              <a:srgbClr val="D9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07992" y="2221991"/>
            <a:ext cx="566928" cy="566928"/>
          </a:xfrm>
          <a:prstGeom prst="ellipse">
            <a:avLst/>
          </a:prstGeom>
          <a:solidFill>
            <a:srgbClr val="0D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2221991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CDA15E"/>
                </a:solidFill>
                <a:latin typeface="Cambria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2203704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16262E"/>
                </a:solidFill>
                <a:latin typeface="Cambria"/>
              </a:rPr>
              <a:t>Çıkarım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2551176"/>
            <a:ext cx="23957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7077"/>
                </a:solidFill>
                <a:latin typeface="Calibri"/>
              </a:rPr>
              <a:t>PDF·DOCX·XLSX; tablo, header/footer, comment, gizli sheet, OCR.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36992" y="1965960"/>
            <a:ext cx="3474720" cy="1280160"/>
          </a:xfrm>
          <a:prstGeom prst="roundRect">
            <a:avLst>
              <a:gd name="adj" fmla="val 5500"/>
            </a:avLst>
          </a:prstGeom>
          <a:solidFill>
            <a:srgbClr val="F1F5F4"/>
          </a:solidFill>
          <a:ln w="12700">
            <a:solidFill>
              <a:srgbClr val="D9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193023" y="2221991"/>
            <a:ext cx="566928" cy="566928"/>
          </a:xfrm>
          <a:prstGeom prst="ellipse">
            <a:avLst/>
          </a:prstGeom>
          <a:solidFill>
            <a:srgbClr val="0D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3023" y="2221991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CDA15E"/>
                </a:solidFill>
                <a:latin typeface="Cambr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97112" y="2203704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16262E"/>
                </a:solidFill>
                <a:latin typeface="Cambria"/>
              </a:rPr>
              <a:t>Tespit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97112" y="2551176"/>
            <a:ext cx="23957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7077"/>
                </a:solidFill>
                <a:latin typeface="Calibri"/>
              </a:rPr>
              <a:t>① Presidio  ② Privacy Filter  ③ Denetim — birleşik span.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429000"/>
            <a:ext cx="3474720" cy="1280160"/>
          </a:xfrm>
          <a:prstGeom prst="roundRect">
            <a:avLst>
              <a:gd name="adj" fmla="val 5500"/>
            </a:avLst>
          </a:prstGeom>
          <a:solidFill>
            <a:srgbClr val="F1F5F4"/>
          </a:solidFill>
          <a:ln w="12700">
            <a:solidFill>
              <a:srgbClr val="D9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2960" y="3685032"/>
            <a:ext cx="566928" cy="566928"/>
          </a:xfrm>
          <a:prstGeom prst="ellipse">
            <a:avLst/>
          </a:prstGeom>
          <a:solidFill>
            <a:srgbClr val="0D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685032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CDA15E"/>
                </a:solidFill>
                <a:latin typeface="Cambria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27048" y="3666744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16262E"/>
                </a:solidFill>
                <a:latin typeface="Cambria"/>
              </a:rPr>
              <a:t>İterasyon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7048" y="4014215"/>
            <a:ext cx="23957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7077"/>
                </a:solidFill>
                <a:latin typeface="Calibri"/>
              </a:rPr>
              <a:t>Maskele → denetle → kalıntıyı geri besle. En çok 3 tur.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51960" y="3429000"/>
            <a:ext cx="3474720" cy="1280160"/>
          </a:xfrm>
          <a:prstGeom prst="roundRect">
            <a:avLst>
              <a:gd name="adj" fmla="val 5500"/>
            </a:avLst>
          </a:prstGeom>
          <a:solidFill>
            <a:srgbClr val="F1F5F4"/>
          </a:solidFill>
          <a:ln w="12700">
            <a:solidFill>
              <a:srgbClr val="D9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507992" y="3685032"/>
            <a:ext cx="566928" cy="566928"/>
          </a:xfrm>
          <a:prstGeom prst="ellipse">
            <a:avLst/>
          </a:prstGeom>
          <a:solidFill>
            <a:srgbClr val="0D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07992" y="3685032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CDA15E"/>
                </a:solidFill>
                <a:latin typeface="Cambria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3666744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16262E"/>
                </a:solidFill>
                <a:latin typeface="Cambria"/>
              </a:rPr>
              <a:t>Karar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4014215"/>
            <a:ext cx="23957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7077"/>
                </a:solidFill>
                <a:latin typeface="Calibri"/>
              </a:rPr>
              <a:t>Temiz → Onay. Şüpheli/kısmi → İnsan incelemesi (fail-closed).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36992" y="3429000"/>
            <a:ext cx="3474720" cy="1280160"/>
          </a:xfrm>
          <a:prstGeom prst="roundRect">
            <a:avLst>
              <a:gd name="adj" fmla="val 5500"/>
            </a:avLst>
          </a:prstGeom>
          <a:solidFill>
            <a:srgbClr val="F1F5F4"/>
          </a:solidFill>
          <a:ln w="12700">
            <a:solidFill>
              <a:srgbClr val="D9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193023" y="3685032"/>
            <a:ext cx="566928" cy="566928"/>
          </a:xfrm>
          <a:prstGeom prst="ellipse">
            <a:avLst/>
          </a:prstGeom>
          <a:solidFill>
            <a:srgbClr val="0D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93023" y="3685032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CDA15E"/>
                </a:solidFill>
                <a:latin typeface="Cambria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97112" y="3666744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16262E"/>
                </a:solidFill>
                <a:latin typeface="Cambria"/>
              </a:rPr>
              <a:t>Export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97112" y="4014215"/>
            <a:ext cx="23957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7077"/>
                </a:solidFill>
                <a:latin typeface="Calibri"/>
              </a:rPr>
              <a:t>Yalnız denetlenmiş katman-3'ten PDF. Dosya adı anonim.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502920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AD8339"/>
                </a:solidFill>
                <a:latin typeface="Calibri"/>
              </a:rPr>
              <a:t>① Presidio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5321808"/>
            <a:ext cx="35204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050" b="0" i="0">
                <a:solidFill>
                  <a:srgbClr val="5C7077"/>
                </a:solidFill>
                <a:latin typeface="Calibri"/>
              </a:rPr>
              <a:t>spaCy EN + çok-dilli NER + özel TR/EN tanıyıcı (TCKN, IBAN, GSM, plaka) + deny-list.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51960" y="502920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AD8339"/>
                </a:solidFill>
                <a:latin typeface="Calibri"/>
              </a:rPr>
              <a:t>② Privacy Filter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51960" y="5321808"/>
            <a:ext cx="35204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050" b="0" i="0">
                <a:solidFill>
                  <a:srgbClr val="5C7077"/>
                </a:solidFill>
                <a:latin typeface="Calibri"/>
              </a:rPr>
              <a:t>Opsiyonel, cihaz-içi bağlamsal model — secret/hesap için. Yerel-öncelik korunur.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36992" y="502920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AD8339"/>
                </a:solidFill>
                <a:latin typeface="Calibri"/>
              </a:rPr>
              <a:t>③ Denetim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36992" y="5321808"/>
            <a:ext cx="35204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050" b="0" i="0">
                <a:solidFill>
                  <a:srgbClr val="5C7077"/>
                </a:solidFill>
                <a:latin typeface="Calibri"/>
              </a:rPr>
              <a:t>Deterministik: email·IBAN·kart·TCKN·telefon·API-key kalıntısını yakalar → geri besler.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6400800"/>
            <a:ext cx="11057839" cy="12801"/>
          </a:xfrm>
          <a:prstGeom prst="rect">
            <a:avLst/>
          </a:prstGeom>
          <a:solidFill>
            <a:srgbClr val="D9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6928" y="6455664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B9CA1"/>
                </a:solidFill>
                <a:latin typeface="Consolas"/>
              </a:rPr>
              <a:t>04 · SÜREÇ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23967" y="6455664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9CA1"/>
                </a:solidFill>
                <a:latin typeface="Consolas"/>
              </a:rPr>
              <a:t>fail-closed · deterministik · yerel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iamond 1"/>
          <p:cNvSpPr/>
          <p:nvPr/>
        </p:nvSpPr>
        <p:spPr>
          <a:xfrm>
            <a:off x="566928" y="594360"/>
            <a:ext cx="109728" cy="109728"/>
          </a:xfrm>
          <a:prstGeom prst="diamond">
            <a:avLst/>
          </a:prstGeom>
          <a:solidFill>
            <a:srgbClr val="AD8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54864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AD8339"/>
                </a:solidFill>
                <a:latin typeface="Consolas"/>
              </a:rPr>
              <a:t>DOKÜMANLARI NASIL FİLTRELİYOR — GERÇEK ÇIKTI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16262E"/>
                </a:solidFill>
                <a:latin typeface="Cambria"/>
              </a:rPr>
              <a:t>Girdi → Çıktı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27632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C7077"/>
                </a:solidFill>
                <a:latin typeface="Calibri"/>
              </a:rPr>
              <a:t>Aşağısı sistemin gerçek pipeline çıktısıdır (sentetik veri). Sol: ham. Sağ: anonim.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029968"/>
            <a:ext cx="5257800" cy="2926080"/>
          </a:xfrm>
          <a:prstGeom prst="roundRect">
            <a:avLst>
              <a:gd name="adj" fmla="val 5500"/>
            </a:avLst>
          </a:prstGeom>
          <a:solidFill>
            <a:srgbClr val="F1F5F4"/>
          </a:solidFill>
          <a:ln w="12700">
            <a:solidFill>
              <a:srgbClr val="D9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44768" y="2029968"/>
            <a:ext cx="5257800" cy="2926080"/>
          </a:xfrm>
          <a:prstGeom prst="roundRect">
            <a:avLst>
              <a:gd name="adj" fmla="val 5500"/>
            </a:avLst>
          </a:prstGeom>
          <a:solidFill>
            <a:srgbClr val="F1F5F4"/>
          </a:solidFill>
          <a:ln w="12700">
            <a:solidFill>
              <a:srgbClr val="D9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76272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B9CA1"/>
                </a:solidFill>
                <a:latin typeface="Consolas"/>
              </a:rPr>
              <a:t>GİRDİ · ham belge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44568" y="2176272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23C2A"/>
                </a:solidFill>
                <a:latin typeface="Consolas"/>
              </a:rPr>
              <a:t>● PII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76272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B9CA1"/>
                </a:solidFill>
                <a:latin typeface="Consolas"/>
              </a:rPr>
              <a:t>ÇIKTI · anonim PDF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48088" y="2176272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1C6E68"/>
                </a:solidFill>
                <a:latin typeface="Consolas"/>
              </a:rPr>
              <a:t>● maskeli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578608"/>
            <a:ext cx="48006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16262E"/>
                </a:solidFill>
                <a:latin typeface="Cambria"/>
              </a:rPr>
              <a:t>Fon III — Yatırımcı ve Taahhüt Özeti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026664"/>
            <a:ext cx="48006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5C7077"/>
                </a:solidFill>
                <a:latin typeface="Calibri"/>
              </a:rPr>
              <a:t>Fon yöneticisi </a:t>
            </a:r>
            <a:r>
              <a:rPr sz="1100" b="1" i="0">
                <a:solidFill>
                  <a:srgbClr val="A23C2A"/>
                </a:solidFill>
                <a:latin typeface="Calibri"/>
              </a:rPr>
              <a:t>Mehmet Demir</a:t>
            </a:r>
            <a:r>
              <a:rPr sz="1100" b="0" i="0">
                <a:solidFill>
                  <a:srgbClr val="5C7077"/>
                </a:solidFill>
                <a:latin typeface="Calibri"/>
              </a:rPr>
              <a:t> (TCKN: </a:t>
            </a:r>
            <a:r>
              <a:rPr sz="1100" b="1" i="0">
                <a:solidFill>
                  <a:srgbClr val="A23C2A"/>
                </a:solidFill>
                <a:latin typeface="Calibri"/>
              </a:rPr>
              <a:t>10203040550</a:t>
            </a:r>
            <a:r>
              <a:rPr sz="1100" b="0" i="0">
                <a:solidFill>
                  <a:srgbClr val="5C7077"/>
                </a:solidFill>
                <a:latin typeface="Calibri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474720"/>
            <a:ext cx="48006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5C7077"/>
                </a:solidFill>
                <a:latin typeface="Calibri"/>
              </a:rPr>
              <a:t>e-posta </a:t>
            </a:r>
            <a:r>
              <a:rPr sz="1100" b="1" i="0">
                <a:solidFill>
                  <a:srgbClr val="A23C2A"/>
                </a:solidFill>
                <a:latin typeface="Calibri"/>
              </a:rPr>
              <a:t>mehmet.demir@ornekfon.com</a:t>
            </a:r>
            <a:r>
              <a:rPr sz="1100" b="0" i="0">
                <a:solidFill>
                  <a:srgbClr val="5C7077"/>
                </a:solidFill>
                <a:latin typeface="Calibri"/>
              </a:rPr>
              <a:t>, cep </a:t>
            </a:r>
            <a:r>
              <a:rPr sz="1100" b="1" i="0">
                <a:solidFill>
                  <a:srgbClr val="A23C2A"/>
                </a:solidFill>
                <a:latin typeface="Calibri"/>
              </a:rPr>
              <a:t>0532 764 21 09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922776"/>
            <a:ext cx="48006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5C7077"/>
                </a:solidFill>
                <a:latin typeface="Calibri"/>
              </a:rPr>
              <a:t>IBAN: </a:t>
            </a:r>
            <a:r>
              <a:rPr sz="1100" b="1" i="0">
                <a:solidFill>
                  <a:srgbClr val="A23C2A"/>
                </a:solidFill>
                <a:latin typeface="Calibri"/>
              </a:rPr>
              <a:t>TR84 0009 1000 8765 4321 0987 65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70832"/>
            <a:ext cx="48006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5C7077"/>
                </a:solidFill>
                <a:latin typeface="Calibri"/>
              </a:rPr>
              <a:t>LP </a:t>
            </a:r>
            <a:r>
              <a:rPr sz="1100" b="1" i="0">
                <a:solidFill>
                  <a:srgbClr val="A23C2A"/>
                </a:solidFill>
                <a:latin typeface="Calibri"/>
              </a:rPr>
              <a:t>John Carter</a:t>
            </a:r>
            <a:r>
              <a:rPr sz="1100" b="0" i="0">
                <a:solidFill>
                  <a:srgbClr val="5C7077"/>
                </a:solidFill>
                <a:latin typeface="Calibri"/>
              </a:rPr>
              <a:t> · SSN </a:t>
            </a:r>
            <a:r>
              <a:rPr sz="1100" b="1" i="0">
                <a:solidFill>
                  <a:srgbClr val="A23C2A"/>
                </a:solidFill>
                <a:latin typeface="Calibri"/>
              </a:rPr>
              <a:t>123-45-6789</a:t>
            </a:r>
            <a:r>
              <a:rPr sz="1100" b="0" i="0">
                <a:solidFill>
                  <a:srgbClr val="5C7077"/>
                </a:solidFill>
                <a:latin typeface="Calibri"/>
              </a:rPr>
              <a:t> · </a:t>
            </a:r>
            <a:r>
              <a:rPr sz="1100" b="0" i="1">
                <a:solidFill>
                  <a:srgbClr val="8B9CA1"/>
                </a:solidFill>
                <a:latin typeface="Calibri"/>
              </a:rPr>
              <a:t>USD 5.000.000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578608"/>
            <a:ext cx="48006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C6E68"/>
                </a:solidFill>
                <a:latin typeface="Consolas"/>
              </a:rPr>
              <a:t>&lt;PERSON_2&gt;</a:t>
            </a:r>
            <a:r>
              <a:rPr sz="1100" b="0" i="0">
                <a:solidFill>
                  <a:srgbClr val="5C7077"/>
                </a:solidFill>
                <a:latin typeface="Calibri"/>
              </a:rPr>
              <a:t> ve </a:t>
            </a:r>
            <a:r>
              <a:rPr sz="1050" b="1" i="0">
                <a:solidFill>
                  <a:srgbClr val="1C6E68"/>
                </a:solidFill>
                <a:latin typeface="Consolas"/>
              </a:rPr>
              <a:t>&lt;PERSON_1&gt;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026664"/>
            <a:ext cx="48006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C6E68"/>
                </a:solidFill>
                <a:latin typeface="Consolas"/>
              </a:rPr>
              <a:t>&lt;PERSON_4&gt;</a:t>
            </a:r>
            <a:r>
              <a:rPr sz="1100" b="0" i="0">
                <a:solidFill>
                  <a:srgbClr val="5C7077"/>
                </a:solidFill>
                <a:latin typeface="Calibri"/>
              </a:rPr>
              <a:t> yöneticisi </a:t>
            </a:r>
            <a:r>
              <a:rPr sz="1050" b="1" i="0">
                <a:solidFill>
                  <a:srgbClr val="1C6E68"/>
                </a:solidFill>
                <a:latin typeface="Consolas"/>
              </a:rPr>
              <a:t>&lt;PERSON_3&gt;</a:t>
            </a:r>
            <a:r>
              <a:rPr sz="1100" b="0" i="0">
                <a:solidFill>
                  <a:srgbClr val="5C7077"/>
                </a:solidFill>
                <a:latin typeface="Calibri"/>
              </a:rPr>
              <a:t> (</a:t>
            </a:r>
            <a:r>
              <a:rPr sz="1050" b="1" i="0">
                <a:solidFill>
                  <a:srgbClr val="1C6E68"/>
                </a:solidFill>
                <a:latin typeface="Consolas"/>
              </a:rPr>
              <a:t>&lt;ORG_1&gt;</a:t>
            </a:r>
            <a:r>
              <a:rPr sz="1100" b="0" i="0">
                <a:solidFill>
                  <a:srgbClr val="5C7077"/>
                </a:solidFill>
                <a:latin typeface="Calibri"/>
              </a:rPr>
              <a:t>: </a:t>
            </a:r>
            <a:r>
              <a:rPr sz="1050" b="1" i="0">
                <a:solidFill>
                  <a:srgbClr val="1C6E68"/>
                </a:solidFill>
                <a:latin typeface="Consolas"/>
              </a:rPr>
              <a:t>&lt;TCKN_1&gt;</a:t>
            </a:r>
            <a:r>
              <a:rPr sz="1100" b="0" i="0">
                <a:solidFill>
                  <a:srgbClr val="5C7077"/>
                </a:solidFill>
                <a:latin typeface="Calibri"/>
              </a:rPr>
              <a:t>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474720"/>
            <a:ext cx="48006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5C7077"/>
                </a:solidFill>
                <a:latin typeface="Calibri"/>
              </a:rPr>
              <a:t>e-posta </a:t>
            </a:r>
            <a:r>
              <a:rPr sz="1050" b="1" i="0">
                <a:solidFill>
                  <a:srgbClr val="1C6E68"/>
                </a:solidFill>
                <a:latin typeface="Consolas"/>
              </a:rPr>
              <a:t>&lt;EMAIL_1&gt;</a:t>
            </a:r>
            <a:r>
              <a:rPr sz="1100" b="0" i="0">
                <a:solidFill>
                  <a:srgbClr val="5C7077"/>
                </a:solidFill>
                <a:latin typeface="Calibri"/>
              </a:rPr>
              <a:t>, cep </a:t>
            </a:r>
            <a:r>
              <a:rPr sz="1050" b="1" i="0">
                <a:solidFill>
                  <a:srgbClr val="1C6E68"/>
                </a:solidFill>
                <a:latin typeface="Consolas"/>
              </a:rPr>
              <a:t>&lt;DATE_2&gt;</a:t>
            </a:r>
            <a:r>
              <a:rPr sz="1100" b="0" i="0">
                <a:solidFill>
                  <a:srgbClr val="5C7077"/>
                </a:solidFill>
                <a:latin typeface="Calibri"/>
              </a:rPr>
              <a:t> 764 </a:t>
            </a:r>
            <a:r>
              <a:rPr sz="1050" b="1" i="0">
                <a:solidFill>
                  <a:srgbClr val="1C6E68"/>
                </a:solidFill>
                <a:latin typeface="Consolas"/>
              </a:rPr>
              <a:t>&lt;DATE_1&gt;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922776"/>
            <a:ext cx="48006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5C7077"/>
                </a:solidFill>
                <a:latin typeface="Calibri"/>
              </a:rPr>
              <a:t>Ödeme </a:t>
            </a:r>
            <a:r>
              <a:rPr sz="1050" b="1" i="0">
                <a:solidFill>
                  <a:srgbClr val="1C6E68"/>
                </a:solidFill>
                <a:latin typeface="Consolas"/>
              </a:rPr>
              <a:t>&lt;NRP_1&gt;</a:t>
            </a:r>
            <a:r>
              <a:rPr sz="1100" b="0" i="0">
                <a:solidFill>
                  <a:srgbClr val="5C7077"/>
                </a:solidFill>
                <a:latin typeface="Calibri"/>
              </a:rPr>
              <a:t> 1000 </a:t>
            </a:r>
            <a:r>
              <a:rPr sz="1050" b="1" i="0">
                <a:solidFill>
                  <a:srgbClr val="1C6E68"/>
                </a:solidFill>
                <a:latin typeface="Consolas"/>
              </a:rPr>
              <a:t>&lt;DATE_3&gt;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370832"/>
            <a:ext cx="48006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5C7077"/>
                </a:solidFill>
                <a:latin typeface="Calibri"/>
              </a:rPr>
              <a:t>LP </a:t>
            </a:r>
            <a:r>
              <a:rPr sz="1050" b="1" i="0">
                <a:solidFill>
                  <a:srgbClr val="1C6E68"/>
                </a:solidFill>
                <a:latin typeface="Consolas"/>
              </a:rPr>
              <a:t>&lt;PERSON_5&gt;</a:t>
            </a:r>
            <a:r>
              <a:rPr sz="1100" b="0" i="0">
                <a:solidFill>
                  <a:srgbClr val="5C7077"/>
                </a:solidFill>
                <a:latin typeface="Calibri"/>
              </a:rPr>
              <a:t> (</a:t>
            </a:r>
            <a:r>
              <a:rPr sz="1050" b="1" i="0">
                <a:solidFill>
                  <a:srgbClr val="1C6E68"/>
                </a:solidFill>
                <a:latin typeface="Consolas"/>
              </a:rPr>
              <a:t>&lt;ORG_2&gt;</a:t>
            </a:r>
            <a:r>
              <a:rPr sz="1100" b="0" i="0">
                <a:solidFill>
                  <a:srgbClr val="5C7077"/>
                </a:solidFill>
                <a:latin typeface="Calibri"/>
              </a:rPr>
              <a:t>: </a:t>
            </a:r>
            <a:r>
              <a:rPr sz="1050" b="1" i="0">
                <a:solidFill>
                  <a:srgbClr val="1C6E68"/>
                </a:solidFill>
                <a:latin typeface="Consolas"/>
              </a:rPr>
              <a:t>&lt;SSN_1&gt;</a:t>
            </a:r>
            <a:r>
              <a:rPr sz="1100" b="0" i="0">
                <a:solidFill>
                  <a:srgbClr val="5C7077"/>
                </a:solidFill>
                <a:latin typeface="Calibri"/>
              </a:rPr>
              <a:t>) · </a:t>
            </a:r>
            <a:r>
              <a:rPr sz="1100" b="0" i="1">
                <a:solidFill>
                  <a:srgbClr val="8B9CA1"/>
                </a:solidFill>
                <a:latin typeface="Calibri"/>
              </a:rPr>
              <a:t>USD 5.000.000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07492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8B9CA1"/>
                </a:solidFill>
                <a:latin typeface="Consolas"/>
              </a:rPr>
              <a:t>DOSYA ADI   </a:t>
            </a:r>
            <a:r>
              <a:rPr sz="1100" b="1" i="0">
                <a:solidFill>
                  <a:srgbClr val="A23C2A"/>
                </a:solidFill>
                <a:latin typeface="Calibri"/>
              </a:rPr>
              <a:t>e2vc Fund III - Mehmet Demir LP Ozet.docx</a:t>
            </a:r>
            <a:r>
              <a:rPr sz="1100" b="1" i="0">
                <a:solidFill>
                  <a:srgbClr val="AD8339"/>
                </a:solidFill>
                <a:latin typeface="Calibri"/>
              </a:rPr>
              <a:t>   →   </a:t>
            </a:r>
            <a:r>
              <a:rPr sz="1050" b="1" i="0">
                <a:solidFill>
                  <a:srgbClr val="1C6E68"/>
                </a:solidFill>
                <a:latin typeface="Consolas"/>
              </a:rPr>
              <a:t>anonymized_e2vc_&lt;PERSON_1&gt;.pdf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486400"/>
            <a:ext cx="5257800" cy="841248"/>
          </a:xfrm>
          <a:prstGeom prst="roundRect">
            <a:avLst>
              <a:gd name="adj" fmla="val 5500"/>
            </a:avLst>
          </a:prstGeom>
          <a:solidFill>
            <a:srgbClr val="F1F5F4"/>
          </a:solidFill>
          <a:ln w="12700">
            <a:solidFill>
              <a:srgbClr val="D9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57784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2E7D5B"/>
                </a:solidFill>
                <a:latin typeface="Consolas"/>
              </a:rPr>
              <a:t>✓ TAM GİZLENEN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815584"/>
            <a:ext cx="48463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C7077"/>
                </a:solidFill>
                <a:latin typeface="Calibri"/>
              </a:rPr>
              <a:t>İsim, TCKN, e-posta, IBAN, SSN — hiçbir tam kimlik hayatta kalmıyor. Aynı değer → aynı token.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5486400"/>
            <a:ext cx="5257800" cy="841248"/>
          </a:xfrm>
          <a:prstGeom prst="roundRect">
            <a:avLst>
              <a:gd name="adj" fmla="val 5500"/>
            </a:avLst>
          </a:prstGeom>
          <a:solidFill>
            <a:srgbClr val="F1F5F4"/>
          </a:solidFill>
          <a:ln w="12700">
            <a:solidFill>
              <a:srgbClr val="D9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557784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C6413"/>
                </a:solidFill>
                <a:latin typeface="Consolas"/>
              </a:rPr>
              <a:t>⚠ ÖLÇÜLEN KUSUR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815584"/>
            <a:ext cx="48463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C7077"/>
                </a:solidFill>
                <a:latin typeface="Calibri"/>
              </a:rPr>
              <a:t>IBAN/telefon jenerik DATE/NRP alıyor; başlık/etiket over-mask; deny-list'siz "e2vc" adda kalıyor.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6400800"/>
            <a:ext cx="11057839" cy="12801"/>
          </a:xfrm>
          <a:prstGeom prst="rect">
            <a:avLst/>
          </a:prstGeom>
          <a:solidFill>
            <a:srgbClr val="D9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6455664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B9CA1"/>
                </a:solidFill>
                <a:latin typeface="Consolas"/>
              </a:rPr>
              <a:t>05 · FİLTRELEME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23967" y="6455664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9CA1"/>
                </a:solidFill>
                <a:latin typeface="Consolas"/>
              </a:rPr>
              <a:t>gerçek pipeline çıktısı · sentetik veri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iamond 1"/>
          <p:cNvSpPr/>
          <p:nvPr/>
        </p:nvSpPr>
        <p:spPr>
          <a:xfrm>
            <a:off x="566928" y="594360"/>
            <a:ext cx="109728" cy="109728"/>
          </a:xfrm>
          <a:prstGeom prst="diamond">
            <a:avLst/>
          </a:prstGeom>
          <a:solidFill>
            <a:srgbClr val="AD8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54864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AD8339"/>
                </a:solidFill>
                <a:latin typeface="Consolas"/>
              </a:rPr>
              <a:t>AŞAMALARA GÖRE BAŞARI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16262E"/>
                </a:solidFill>
                <a:latin typeface="Cambria"/>
              </a:rPr>
              <a:t>Her aşamanın ölçülmüş karnesi.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938528"/>
            <a:ext cx="11057839" cy="402336"/>
          </a:xfrm>
          <a:prstGeom prst="rect">
            <a:avLst/>
          </a:prstGeom>
          <a:solidFill>
            <a:srgbClr val="F1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938528"/>
            <a:ext cx="32004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6262E"/>
                </a:solidFill>
                <a:latin typeface="Calibri"/>
              </a:rPr>
              <a:t>Yükleme &amp; doğrulama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95928" y="1938528"/>
            <a:ext cx="57607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5C7077"/>
                </a:solidFill>
                <a:latin typeface="Calibri"/>
              </a:rPr>
              <a:t>.xls doğru reddedildi · 9/9 doğrulandı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344607" y="2002536"/>
            <a:ext cx="1188720" cy="274320"/>
          </a:xfrm>
          <a:prstGeom prst="roundRect">
            <a:avLst>
              <a:gd name="adj" fmla="val 50000"/>
            </a:avLst>
          </a:prstGeom>
          <a:noFill/>
          <a:ln w="1397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44607" y="2002536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 i="0">
                <a:solidFill>
                  <a:srgbClr val="2E7D5B"/>
                </a:solidFill>
                <a:latin typeface="Consolas"/>
              </a:rPr>
              <a:t>SAĞLAM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340864"/>
            <a:ext cx="32004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6262E"/>
                </a:solidFill>
                <a:latin typeface="Calibri"/>
              </a:rPr>
              <a:t>Çıkarım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95928" y="2340864"/>
            <a:ext cx="57607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5C7077"/>
                </a:solidFill>
                <a:latin typeface="Calibri"/>
              </a:rPr>
              <a:t>%98 · özel kanallar %100 kapsam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344607" y="2404872"/>
            <a:ext cx="1188720" cy="274320"/>
          </a:xfrm>
          <a:prstGeom prst="roundRect">
            <a:avLst>
              <a:gd name="adj" fmla="val 50000"/>
            </a:avLst>
          </a:prstGeom>
          <a:noFill/>
          <a:ln w="1397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44607" y="240487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 i="0">
                <a:solidFill>
                  <a:srgbClr val="2E7D5B"/>
                </a:solidFill>
                <a:latin typeface="Consolas"/>
              </a:rPr>
              <a:t>SAĞLAM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743200"/>
            <a:ext cx="11057839" cy="402336"/>
          </a:xfrm>
          <a:prstGeom prst="rect">
            <a:avLst/>
          </a:prstGeom>
          <a:solidFill>
            <a:srgbClr val="F1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2743200"/>
            <a:ext cx="32004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6262E"/>
                </a:solidFill>
                <a:latin typeface="Calibri"/>
              </a:rPr>
              <a:t>OCR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95928" y="2743200"/>
            <a:ext cx="57607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5C7077"/>
                </a:solidFill>
                <a:latin typeface="Calibri"/>
              </a:rPr>
              <a:t>recall %100 · çıkarım %80 (1 bozuk)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44607" y="2807208"/>
            <a:ext cx="1188720" cy="274320"/>
          </a:xfrm>
          <a:prstGeom prst="roundRect">
            <a:avLst>
              <a:gd name="adj" fmla="val 50000"/>
            </a:avLst>
          </a:prstGeom>
          <a:noFill/>
          <a:ln w="13970">
            <a:solidFill>
              <a:srgbClr val="8C6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44607" y="280720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 i="0">
                <a:solidFill>
                  <a:srgbClr val="8C6413"/>
                </a:solidFill>
                <a:latin typeface="Consolas"/>
              </a:rPr>
              <a:t>İYİ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3145536"/>
            <a:ext cx="32004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6262E"/>
                </a:solidFill>
                <a:latin typeface="Calibri"/>
              </a:rPr>
              <a:t>Tespit ① Presidio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95928" y="3145536"/>
            <a:ext cx="57607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5C7077"/>
                </a:solidFill>
                <a:latin typeface="Calibri"/>
              </a:rPr>
              <a:t>isim·email·kart·TCKN·IP·URL·plaka yüksek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344607" y="3209544"/>
            <a:ext cx="1188720" cy="274320"/>
          </a:xfrm>
          <a:prstGeom prst="roundRect">
            <a:avLst>
              <a:gd name="adj" fmla="val 50000"/>
            </a:avLst>
          </a:prstGeom>
          <a:noFill/>
          <a:ln w="1397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44607" y="320954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 i="0">
                <a:solidFill>
                  <a:srgbClr val="2E7D5B"/>
                </a:solidFill>
                <a:latin typeface="Consolas"/>
              </a:rPr>
              <a:t>GÜÇLÜ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3547872"/>
            <a:ext cx="11057839" cy="402336"/>
          </a:xfrm>
          <a:prstGeom prst="rect">
            <a:avLst/>
          </a:prstGeom>
          <a:solidFill>
            <a:srgbClr val="F1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" y="3547872"/>
            <a:ext cx="32004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6262E"/>
                </a:solidFill>
                <a:latin typeface="Calibri"/>
              </a:rPr>
              <a:t>Tespit — boşluk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95928" y="3547872"/>
            <a:ext cx="57607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5C7077"/>
                </a:solidFill>
                <a:latin typeface="Calibri"/>
              </a:rPr>
              <a:t>secret·hesap·adres: recognizer yok → PF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344607" y="3611879"/>
            <a:ext cx="1188720" cy="274320"/>
          </a:xfrm>
          <a:prstGeom prst="roundRect">
            <a:avLst>
              <a:gd name="adj" fmla="val 50000"/>
            </a:avLst>
          </a:prstGeom>
          <a:noFill/>
          <a:ln w="13970">
            <a:solidFill>
              <a:srgbClr val="A23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44607" y="3611879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 i="0">
                <a:solidFill>
                  <a:srgbClr val="A23C2A"/>
                </a:solidFill>
                <a:latin typeface="Consolas"/>
              </a:rPr>
              <a:t>BOŞLUK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" y="3950208"/>
            <a:ext cx="32004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6262E"/>
                </a:solidFill>
                <a:latin typeface="Calibri"/>
              </a:rPr>
              <a:t>Span çözümü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95928" y="3950208"/>
            <a:ext cx="57607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5C7077"/>
                </a:solidFill>
                <a:latin typeface="Calibri"/>
              </a:rPr>
              <a:t>çalışır · IBAN/telefon yanlış aile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344607" y="4014216"/>
            <a:ext cx="1188720" cy="274320"/>
          </a:xfrm>
          <a:prstGeom prst="roundRect">
            <a:avLst>
              <a:gd name="adj" fmla="val 50000"/>
            </a:avLst>
          </a:prstGeom>
          <a:noFill/>
          <a:ln w="13970">
            <a:solidFill>
              <a:srgbClr val="8C6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44607" y="4014216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 i="0">
                <a:solidFill>
                  <a:srgbClr val="8C6413"/>
                </a:solidFill>
                <a:latin typeface="Consolas"/>
              </a:rPr>
              <a:t>KUSURLU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352544"/>
            <a:ext cx="11057839" cy="402336"/>
          </a:xfrm>
          <a:prstGeom prst="rect">
            <a:avLst/>
          </a:prstGeom>
          <a:solidFill>
            <a:srgbClr val="F1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" y="4352544"/>
            <a:ext cx="32004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6262E"/>
                </a:solidFill>
                <a:latin typeface="Calibri"/>
              </a:rPr>
              <a:t>Placeholder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95928" y="4352544"/>
            <a:ext cx="57607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5C7077"/>
                </a:solidFill>
                <a:latin typeface="Calibri"/>
              </a:rPr>
              <a:t>deterministik · aynı değer → aynı token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344607" y="4416552"/>
            <a:ext cx="1188720" cy="274320"/>
          </a:xfrm>
          <a:prstGeom prst="roundRect">
            <a:avLst>
              <a:gd name="adj" fmla="val 50000"/>
            </a:avLst>
          </a:prstGeom>
          <a:noFill/>
          <a:ln w="1397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344607" y="441655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 i="0">
                <a:solidFill>
                  <a:srgbClr val="2E7D5B"/>
                </a:solidFill>
                <a:latin typeface="Consolas"/>
              </a:rPr>
              <a:t>SAĞLAM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" y="4754880"/>
            <a:ext cx="32004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6262E"/>
                </a:solidFill>
                <a:latin typeface="Calibri"/>
              </a:rPr>
              <a:t>Denetim (audit)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95928" y="4754880"/>
            <a:ext cx="57607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5C7077"/>
                </a:solidFill>
                <a:latin typeface="Calibri"/>
              </a:rPr>
              <a:t>secret backstop → sızıntı 3→1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344607" y="4818888"/>
            <a:ext cx="1188720" cy="274320"/>
          </a:xfrm>
          <a:prstGeom prst="roundRect">
            <a:avLst>
              <a:gd name="adj" fmla="val 50000"/>
            </a:avLst>
          </a:prstGeom>
          <a:noFill/>
          <a:ln w="1397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44607" y="481888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 i="0">
                <a:solidFill>
                  <a:srgbClr val="2E7D5B"/>
                </a:solidFill>
                <a:latin typeface="Consolas"/>
              </a:rPr>
              <a:t>SAĞLAM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5157216"/>
            <a:ext cx="11057839" cy="402336"/>
          </a:xfrm>
          <a:prstGeom prst="rect">
            <a:avLst/>
          </a:prstGeom>
          <a:solidFill>
            <a:srgbClr val="F1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4088" y="5157216"/>
            <a:ext cx="32004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6262E"/>
                </a:solidFill>
                <a:latin typeface="Calibri"/>
              </a:rPr>
              <a:t>Export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95928" y="5157216"/>
            <a:ext cx="57607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5C7077"/>
                </a:solidFill>
                <a:latin typeface="Calibri"/>
              </a:rPr>
              <a:t>yalnız katman-3 · yanlış-katman sızıntısı yok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344607" y="5221224"/>
            <a:ext cx="1188720" cy="274320"/>
          </a:xfrm>
          <a:prstGeom prst="roundRect">
            <a:avLst>
              <a:gd name="adj" fmla="val 50000"/>
            </a:avLst>
          </a:prstGeom>
          <a:noFill/>
          <a:ln w="1397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344607" y="522122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 i="0">
                <a:solidFill>
                  <a:srgbClr val="2E7D5B"/>
                </a:solidFill>
                <a:latin typeface="Consolas"/>
              </a:rPr>
              <a:t>SAĞLAM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4088" y="5559552"/>
            <a:ext cx="32004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6262E"/>
                </a:solidFill>
                <a:latin typeface="Calibri"/>
              </a:rPr>
              <a:t>Dosya adı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95928" y="5559552"/>
            <a:ext cx="57607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5C7077"/>
                </a:solidFill>
                <a:latin typeface="Calibri"/>
              </a:rPr>
              <a:t>canary %100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344607" y="5623560"/>
            <a:ext cx="1188720" cy="274320"/>
          </a:xfrm>
          <a:prstGeom prst="roundRect">
            <a:avLst>
              <a:gd name="adj" fmla="val 50000"/>
            </a:avLst>
          </a:prstGeom>
          <a:noFill/>
          <a:ln w="1397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344607" y="562356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 i="0">
                <a:solidFill>
                  <a:srgbClr val="2E7D5B"/>
                </a:solidFill>
                <a:latin typeface="Consolas"/>
              </a:rPr>
              <a:t>SAĞLAM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" y="6071616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1">
                <a:solidFill>
                  <a:srgbClr val="16262E"/>
                </a:solidFill>
                <a:latin typeface="Calibri"/>
              </a:rPr>
              <a:t>Özet:  </a:t>
            </a:r>
            <a:r>
              <a:rPr sz="1100" b="0" i="1">
                <a:solidFill>
                  <a:srgbClr val="5C7077"/>
                </a:solidFill>
                <a:latin typeface="Calibri"/>
              </a:rPr>
              <a:t>Omurga (çıkarım, placeholder, denetim, export, dosya-adı) sağlam; OCR ve span-çözümü iyi ama kusurlu (yanlış aile); tek gerçek boşluk recognizer'ı olmayan türler (secret/hesap) — Privacy Filter ile kapanır.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6928" y="6400800"/>
            <a:ext cx="11057839" cy="12801"/>
          </a:xfrm>
          <a:prstGeom prst="rect">
            <a:avLst/>
          </a:prstGeom>
          <a:solidFill>
            <a:srgbClr val="D9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6928" y="6455664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B9CA1"/>
                </a:solidFill>
                <a:latin typeface="Consolas"/>
              </a:rPr>
              <a:t>06 · AŞAMA KARNESİ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23967" y="6455664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9CA1"/>
                </a:solidFill>
                <a:latin typeface="Consolas"/>
              </a:rPr>
              <a:t>15-aşamalı hata taksonomisi (S3–S15)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1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iamond 1"/>
          <p:cNvSpPr/>
          <p:nvPr/>
        </p:nvSpPr>
        <p:spPr>
          <a:xfrm>
            <a:off x="566928" y="594360"/>
            <a:ext cx="109728" cy="109728"/>
          </a:xfrm>
          <a:prstGeom prst="diamond">
            <a:avLst/>
          </a:prstGeom>
          <a:solidFill>
            <a:srgbClr val="CDA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54864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CDA15E"/>
                </a:solidFill>
                <a:latin typeface="Consolas"/>
              </a:rPr>
              <a:t>PROJENİN BAŞARISI — ÖLÇÜLMÜŞ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mbria"/>
              </a:rPr>
              <a:t>İki benchmark, tek sonuç: güvenli ama gürültülü.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6596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DA15E"/>
                </a:solidFill>
                <a:latin typeface="Consolas"/>
              </a:rPr>
              <a:t>CANARY — GROUND-TRUTH (%)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4128" y="2935955"/>
            <a:ext cx="1051560" cy="2870484"/>
          </a:xfrm>
          <a:prstGeom prst="rect">
            <a:avLst/>
          </a:prstGeom>
          <a:solidFill>
            <a:srgbClr val="CDA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551907"/>
            <a:ext cx="141731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%98.1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5879592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CFE0DE"/>
                </a:solidFill>
                <a:latin typeface="Calibri"/>
              </a:rPr>
              <a:t>Recall</a:t>
            </a:r>
          </a:p>
        </p:txBody>
      </p:sp>
      <p:sp>
        <p:nvSpPr>
          <p:cNvPr id="9" name="Rectangle 8"/>
          <p:cNvSpPr/>
          <p:nvPr/>
        </p:nvSpPr>
        <p:spPr>
          <a:xfrm>
            <a:off x="2624328" y="3743553"/>
            <a:ext cx="1051560" cy="2062886"/>
          </a:xfrm>
          <a:prstGeom prst="rect">
            <a:avLst/>
          </a:prstGeom>
          <a:solidFill>
            <a:srgbClr val="CDA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41448" y="3359505"/>
            <a:ext cx="141731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%70.5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95728" y="5879592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CFE0DE"/>
                </a:solidFill>
                <a:latin typeface="Calibri"/>
              </a:rPr>
              <a:t>Precision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24528" y="4200022"/>
            <a:ext cx="1051560" cy="1606417"/>
          </a:xfrm>
          <a:prstGeom prst="rect">
            <a:avLst/>
          </a:prstGeom>
          <a:solidFill>
            <a:srgbClr val="CDA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41648" y="3815974"/>
            <a:ext cx="141731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%54.9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95928" y="5879592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CFE0DE"/>
                </a:solidFill>
                <a:latin typeface="Calibri"/>
              </a:rPr>
              <a:t>Aile doğ.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6968" y="5806440"/>
            <a:ext cx="4754880" cy="12801"/>
          </a:xfrm>
          <a:prstGeom prst="rect">
            <a:avLst/>
          </a:prstGeom>
          <a:solidFill>
            <a:srgbClr val="16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0528" y="2286000"/>
            <a:ext cx="2697480" cy="6400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Cambria"/>
              </a:rPr>
              <a:t>16/16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8" y="2944368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FE0DE"/>
                </a:solidFill>
                <a:latin typeface="Consolas"/>
              </a:rPr>
              <a:t>GERÇEK BELGE İŞLENDİ · APPROVED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99448" y="2286000"/>
            <a:ext cx="2697480" cy="6400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Cambria"/>
              </a:rPr>
              <a:t>%100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99448" y="2944368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FE0DE"/>
                </a:solidFill>
                <a:latin typeface="Consolas"/>
              </a:rPr>
              <a:t>İNDİRME · EXPORT BAŞARISI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749039"/>
            <a:ext cx="2697480" cy="6400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4407407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FE0DE"/>
                </a:solidFill>
                <a:latin typeface="Consolas"/>
              </a:rPr>
              <a:t>GERÇEK XLSX DATABOOK 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9448" y="3749039"/>
            <a:ext cx="2697480" cy="6400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3300" b="1" i="0">
                <a:solidFill>
                  <a:srgbClr val="CDA15E"/>
                </a:solidFill>
                <a:latin typeface="Cambria"/>
              </a:rPr>
              <a:t>.xls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9448" y="4407407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FE0DE"/>
                </a:solidFill>
                <a:latin typeface="Consolas"/>
              </a:rPr>
              <a:t>DESTEKLENMİYOR → REDDEDİLDİ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5257800"/>
            <a:ext cx="5577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DA15E"/>
                </a:solidFill>
                <a:latin typeface="Calibri"/>
              </a:rPr>
              <a:t>Düzeltme etkisi:  </a:t>
            </a:r>
            <a:r>
              <a:rPr sz="1200" b="0" i="0">
                <a:solidFill>
                  <a:srgbClr val="CFE0DE"/>
                </a:solidFill>
                <a:latin typeface="Calibri"/>
              </a:rPr>
              <a:t>ship-leak 3 → 1 · value-recall %94.2 → %98.1 · 98 test geçiyor · ruff temiz.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6400800"/>
            <a:ext cx="11057839" cy="12801"/>
          </a:xfrm>
          <a:prstGeom prst="rect">
            <a:avLst/>
          </a:prstGeom>
          <a:solidFill>
            <a:srgbClr val="16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6455664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B9CA1"/>
                </a:solidFill>
                <a:latin typeface="Consolas"/>
              </a:rPr>
              <a:t>07 · SONUÇLAR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23967" y="6455664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9CA1"/>
                </a:solidFill>
                <a:latin typeface="Consolas"/>
              </a:rPr>
              <a:t>gerçek dokümanda ground-truth yok → P/R iddia edilmez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1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iamond 1"/>
          <p:cNvSpPr/>
          <p:nvPr/>
        </p:nvSpPr>
        <p:spPr>
          <a:xfrm>
            <a:off x="566928" y="685800"/>
            <a:ext cx="109728" cy="109728"/>
          </a:xfrm>
          <a:prstGeom prst="diamond">
            <a:avLst/>
          </a:prstGeom>
          <a:solidFill>
            <a:srgbClr val="CDA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64008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CDA15E"/>
                </a:solidFill>
                <a:latin typeface="Consolas"/>
              </a:rPr>
              <a:t>DÜRÜST DEĞERLENDİRME &amp; ÜRETİME UYGUNLUK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51560"/>
            <a:ext cx="109728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FFFFFF"/>
                </a:solidFill>
                <a:latin typeface="Cambria"/>
              </a:rPr>
              <a:t>Güvenli, gürültülü — guardrail'lerle hazır.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286000"/>
            <a:ext cx="4846320" cy="658368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CDA1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2286000"/>
            <a:ext cx="48463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0">
                <a:solidFill>
                  <a:srgbClr val="CDA15E"/>
                </a:solidFill>
                <a:latin typeface="Consolas"/>
              </a:rPr>
              <a:t>◆  SHIP_WITH_GUARDRAILS</a:t>
            </a:r>
          </a:p>
        </p:txBody>
      </p:sp>
      <p:sp>
        <p:nvSpPr>
          <p:cNvPr id="7" name="Diamond 6"/>
          <p:cNvSpPr/>
          <p:nvPr/>
        </p:nvSpPr>
        <p:spPr>
          <a:xfrm>
            <a:off x="585216" y="3392424"/>
            <a:ext cx="118872" cy="118872"/>
          </a:xfrm>
          <a:prstGeom prst="diamond">
            <a:avLst/>
          </a:prstGeom>
          <a:solidFill>
            <a:srgbClr val="CDA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3337560"/>
            <a:ext cx="557784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Sızdırmıyor  </a:t>
            </a:r>
            <a:r>
              <a:rPr sz="1200" b="0" i="0">
                <a:solidFill>
                  <a:srgbClr val="CFE0DE"/>
                </a:solidFill>
                <a:latin typeface="Calibri"/>
              </a:rPr>
              <a:t>~%98 recall · export yalnız denetlenmiş katmandan · dış-ağ çağrısı yok.</a:t>
            </a:r>
          </a:p>
        </p:txBody>
      </p:sp>
      <p:sp>
        <p:nvSpPr>
          <p:cNvPr id="9" name="Diamond 8"/>
          <p:cNvSpPr/>
          <p:nvPr/>
        </p:nvSpPr>
        <p:spPr>
          <a:xfrm>
            <a:off x="585216" y="4160520"/>
            <a:ext cx="118872" cy="118872"/>
          </a:xfrm>
          <a:prstGeom prst="diamond">
            <a:avLst/>
          </a:prstGeom>
          <a:solidFill>
            <a:srgbClr val="CDA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4105656"/>
            <a:ext cx="557784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Ama gürültülü  </a:t>
            </a:r>
            <a:r>
              <a:rPr sz="1200" b="0" i="0">
                <a:solidFill>
                  <a:srgbClr val="CFE0DE"/>
                </a:solidFill>
                <a:latin typeface="Calibri"/>
              </a:rPr>
              <a:t>~%30 over-masking · IBAN/telefon yanlış aile · tip etiketleri güvenilmez.</a:t>
            </a:r>
          </a:p>
        </p:txBody>
      </p:sp>
      <p:sp>
        <p:nvSpPr>
          <p:cNvPr id="11" name="Diamond 10"/>
          <p:cNvSpPr/>
          <p:nvPr/>
        </p:nvSpPr>
        <p:spPr>
          <a:xfrm>
            <a:off x="585216" y="4928616"/>
            <a:ext cx="118872" cy="118872"/>
          </a:xfrm>
          <a:prstGeom prst="diamond">
            <a:avLst/>
          </a:prstGeom>
          <a:solidFill>
            <a:srgbClr val="CDA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4873752"/>
            <a:ext cx="557784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Dar bir boşluk  </a:t>
            </a:r>
            <a:r>
              <a:rPr sz="1200" b="0" i="0">
                <a:solidFill>
                  <a:srgbClr val="CFE0DE"/>
                </a:solidFill>
                <a:latin typeface="Calibri"/>
              </a:rPr>
              <a:t>Privacy Filter kapalıyken secret/hesap yapısal FN (secret düzeltildi).</a:t>
            </a:r>
          </a:p>
        </p:txBody>
      </p:sp>
      <p:sp>
        <p:nvSpPr>
          <p:cNvPr id="13" name="Diamond 12"/>
          <p:cNvSpPr/>
          <p:nvPr/>
        </p:nvSpPr>
        <p:spPr>
          <a:xfrm>
            <a:off x="585216" y="5696712"/>
            <a:ext cx="118872" cy="118872"/>
          </a:xfrm>
          <a:prstGeom prst="diamond">
            <a:avLst/>
          </a:prstGeom>
          <a:solidFill>
            <a:srgbClr val="CDA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5641848"/>
            <a:ext cx="557784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Format kapsamı  </a:t>
            </a:r>
            <a:r>
              <a:rPr sz="1200" b="0" i="0">
                <a:solidFill>
                  <a:srgbClr val="CFE0DE"/>
                </a:solidFill>
                <a:latin typeface="Calibri"/>
              </a:rPr>
              <a:t>.xlsx ✓ ama .xls/.doc değil → BIST Excel verisinin bir kısmı dışarıda.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67728" y="3337560"/>
            <a:ext cx="4846320" cy="2880360"/>
          </a:xfrm>
          <a:prstGeom prst="roundRect">
            <a:avLst>
              <a:gd name="adj" fmla="val 5500"/>
            </a:avLst>
          </a:prstGeom>
          <a:solidFill>
            <a:srgbClr val="16333F"/>
          </a:solidFill>
          <a:ln w="12700">
            <a:solidFill>
              <a:srgbClr val="D9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42048" y="356616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CDA15E"/>
                </a:solidFill>
                <a:latin typeface="Consolas"/>
              </a:rPr>
              <a:t>GUARDRAIL'LER</a:t>
            </a:r>
          </a:p>
        </p:txBody>
      </p:sp>
      <p:sp>
        <p:nvSpPr>
          <p:cNvPr id="17" name="Oval 16"/>
          <p:cNvSpPr/>
          <p:nvPr/>
        </p:nvSpPr>
        <p:spPr>
          <a:xfrm>
            <a:off x="7242048" y="3995927"/>
            <a:ext cx="237744" cy="237744"/>
          </a:xfrm>
          <a:prstGeom prst="ellipse">
            <a:avLst/>
          </a:prstGeom>
          <a:solidFill>
            <a:srgbClr val="AD8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42048" y="3995927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D2130"/>
                </a:solidFill>
                <a:latin typeface="Calibr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71231" y="3950207"/>
            <a:ext cx="4023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Credential/hesap içeren belgeler için lokal Privacy Filter'ı aç.</a:t>
            </a:r>
          </a:p>
        </p:txBody>
      </p:sp>
      <p:sp>
        <p:nvSpPr>
          <p:cNvPr id="20" name="Oval 19"/>
          <p:cNvSpPr/>
          <p:nvPr/>
        </p:nvSpPr>
        <p:spPr>
          <a:xfrm>
            <a:off x="7242048" y="4681727"/>
            <a:ext cx="237744" cy="237744"/>
          </a:xfrm>
          <a:prstGeom prst="ellipse">
            <a:avLst/>
          </a:prstGeom>
          <a:solidFill>
            <a:srgbClr val="AD8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42048" y="4681727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D2130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71231" y="4636007"/>
            <a:ext cx="4023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Yanlış-aile &amp; over-masking'i bilinen kalite sınırı say.</a:t>
            </a:r>
          </a:p>
        </p:txBody>
      </p:sp>
      <p:sp>
        <p:nvSpPr>
          <p:cNvPr id="23" name="Oval 22"/>
          <p:cNvSpPr/>
          <p:nvPr/>
        </p:nvSpPr>
        <p:spPr>
          <a:xfrm>
            <a:off x="7242048" y="5367527"/>
            <a:ext cx="237744" cy="237744"/>
          </a:xfrm>
          <a:prstGeom prst="ellipse">
            <a:avLst/>
          </a:prstGeom>
          <a:solidFill>
            <a:srgbClr val="AD8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42048" y="5367527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D2130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71231" y="5321807"/>
            <a:ext cx="4023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Doğrulanamayan yüksek-riskli türlerde insan-incelemesine fail-closed kal.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6400800"/>
            <a:ext cx="11057839" cy="12801"/>
          </a:xfrm>
          <a:prstGeom prst="rect">
            <a:avLst/>
          </a:prstGeom>
          <a:solidFill>
            <a:srgbClr val="16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6455664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B9CA1"/>
                </a:solidFill>
                <a:latin typeface="Consolas"/>
              </a:rPr>
              <a:t>08 · KARAR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23967" y="6455664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9CA1"/>
                </a:solidFill>
                <a:latin typeface="Consolas"/>
              </a:rPr>
              <a:t>ölçüm · teşhis · kanıt üretildi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