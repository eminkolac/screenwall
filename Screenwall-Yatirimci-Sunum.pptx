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9" r:id="rId21"/>
    <p:sldId id="270" r:id="rId22"/>
    <p:sldId id="267" r:id="rId13"/>
    <p:sldId id="268" r:id="rId14"/>
    <p:sldId id="271" r:id="rId23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7.xml"/><Relationship Id="rId22" Type="http://schemas.openxmlformats.org/officeDocument/2006/relationships/slide" Target="slides/slide10.xml"/><Relationship Id="rId2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2FA4F-7793-4CA4-BC58-585FF308389D}" type="datetimeFigureOut">
              <a:rPr lang="tr-TR" smtClean="0"/>
              <a:t>23.09.2026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5987E-2F64-4066-8511-372709329A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034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5987E-2F64-4066-8511-372709329ADC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6326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5987E-2F64-4066-8511-372709329AD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2089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5987E-2F64-4066-8511-372709329ADC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89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5987E-2F64-4066-8511-372709329ADC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7837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5987E-2F64-4066-8511-372709329ADC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4864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5987E-2F64-4066-8511-372709329ADC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8158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5987E-2F64-4066-8511-372709329ADC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8819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5987E-2F64-4066-8511-372709329ADC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7352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5987E-2F64-4066-8511-372709329ADC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36199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188720" cy="381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4688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C1B18"/>
                </a:solidFill>
                <a:latin typeface="Georgia"/>
              </a:rPr>
              <a:t>Screenwall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B675C"/>
                </a:solidFill>
                <a:latin typeface="Avenir Next"/>
              </a:rPr>
              <a:t>Hassas belgelerinizle, en güçlü yapay zekâ modellerini güvenle kullanmanın yolu.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Çözülen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70432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82193" y="2229306"/>
            <a:ext cx="249631" cy="332841"/>
          </a:xfrm>
          <a:prstGeom prst="rect">
            <a:avLst/>
          </a:prstGeom>
          <a:noFill/>
          <a:ln w="28575">
            <a:solidFill>
              <a:srgbClr val="6B6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132119" y="2322501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32119" y="2389069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32119" y="2455637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36192" y="2112263"/>
            <a:ext cx="12344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1" i="0" dirty="0" err="1">
                <a:solidFill>
                  <a:srgbClr val="1C1B18"/>
                </a:solidFill>
                <a:latin typeface="Avenir Next"/>
              </a:rPr>
              <a:t>Kişisel</a:t>
            </a:r>
            <a:r>
              <a:rPr lang="en-US" sz="1150" b="1" i="0" dirty="0">
                <a:solidFill>
                  <a:srgbClr val="1C1B18"/>
                </a:solidFill>
                <a:latin typeface="Avenir Next"/>
              </a:rPr>
              <a:t> </a:t>
            </a:r>
            <a:r>
              <a:rPr lang="en-US" sz="1150" b="1" i="0" dirty="0" err="1">
                <a:solidFill>
                  <a:srgbClr val="1C1B18"/>
                </a:solidFill>
                <a:latin typeface="Avenir Next"/>
              </a:rPr>
              <a:t>veri</a:t>
            </a:r>
            <a:r>
              <a:rPr lang="en-US" sz="1150" b="1" i="0" dirty="0">
                <a:solidFill>
                  <a:srgbClr val="1C1B18"/>
                </a:solidFill>
                <a:latin typeface="Avenir Next"/>
              </a:rPr>
              <a:t> </a:t>
            </a:r>
            <a:r>
              <a:rPr lang="en-US" sz="1150" b="1" i="0" dirty="0" err="1">
                <a:solidFill>
                  <a:srgbClr val="1C1B18"/>
                </a:solidFill>
                <a:latin typeface="Avenir Next"/>
              </a:rPr>
              <a:t>içeren</a:t>
            </a:r>
            <a:r>
              <a:rPr lang="en-US" sz="1150" b="1" i="0" dirty="0">
                <a:solidFill>
                  <a:srgbClr val="1C1B18"/>
                </a:solidFill>
                <a:latin typeface="Avenir Next"/>
              </a:rPr>
              <a:t> </a:t>
            </a:r>
            <a:r>
              <a:rPr lang="en-US" sz="1150" b="1" i="0" dirty="0" err="1">
                <a:solidFill>
                  <a:srgbClr val="1C1B18"/>
                </a:solidFill>
                <a:latin typeface="Avenir Next"/>
              </a:rPr>
              <a:t>belge</a:t>
            </a:r>
            <a:endParaRPr sz="1150" b="1" i="0" dirty="0">
              <a:solidFill>
                <a:srgbClr val="1C1B18"/>
              </a:solidFill>
              <a:latin typeface="Avenir Next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2395726"/>
            <a:ext cx="1371600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0" y="1874519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9525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05739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4E28"/>
                </a:solidFill>
                <a:latin typeface="Avenir Next"/>
              </a:rPr>
              <a:t>A. Doğrudan gönderim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0487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Kişisel veri kurum dışına çıkar</a:t>
            </a:r>
          </a:p>
        </p:txBody>
      </p:sp>
      <p:sp>
        <p:nvSpPr>
          <p:cNvPr id="16" name="&quot;No&quot; Symbol 15"/>
          <p:cNvSpPr/>
          <p:nvPr/>
        </p:nvSpPr>
        <p:spPr>
          <a:xfrm>
            <a:off x="7800747" y="2241193"/>
            <a:ext cx="309067" cy="309067"/>
          </a:xfrm>
          <a:prstGeom prst="noSmoking">
            <a:avLst/>
          </a:prstGeom>
          <a:noFill/>
          <a:ln w="38100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2112263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4E28"/>
                </a:solidFill>
                <a:latin typeface="Avenir Next"/>
              </a:rPr>
              <a:t>Mevzuat riski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461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82193" y="3600907"/>
            <a:ext cx="249631" cy="332841"/>
          </a:xfrm>
          <a:prstGeom prst="rect">
            <a:avLst/>
          </a:prstGeom>
          <a:noFill/>
          <a:ln w="28575">
            <a:solidFill>
              <a:srgbClr val="6B6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132119" y="3694102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2119" y="3760670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32119" y="3827238"/>
            <a:ext cx="149779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36192" y="3483864"/>
            <a:ext cx="12344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b="1" dirty="0" err="1">
                <a:solidFill>
                  <a:srgbClr val="1C1B18"/>
                </a:solidFill>
                <a:latin typeface="Avenir Next"/>
              </a:rPr>
              <a:t>Kişisel</a:t>
            </a:r>
            <a:r>
              <a:rPr lang="en-US" sz="1150" b="1" dirty="0">
                <a:solidFill>
                  <a:srgbClr val="1C1B18"/>
                </a:solidFill>
                <a:latin typeface="Avenir Next"/>
              </a:rPr>
              <a:t> </a:t>
            </a:r>
            <a:r>
              <a:rPr lang="en-US" sz="1150" b="1" dirty="0" err="1">
                <a:solidFill>
                  <a:srgbClr val="1C1B18"/>
                </a:solidFill>
                <a:latin typeface="Avenir Next"/>
              </a:rPr>
              <a:t>veri</a:t>
            </a:r>
            <a:r>
              <a:rPr lang="en-US" sz="1150" b="1" dirty="0">
                <a:solidFill>
                  <a:srgbClr val="1C1B18"/>
                </a:solidFill>
                <a:latin typeface="Avenir Next"/>
              </a:rPr>
              <a:t> </a:t>
            </a:r>
            <a:r>
              <a:rPr lang="en-US" sz="1150" b="1" dirty="0" err="1">
                <a:solidFill>
                  <a:srgbClr val="1C1B18"/>
                </a:solidFill>
                <a:latin typeface="Avenir Next"/>
              </a:rPr>
              <a:t>içeren</a:t>
            </a:r>
            <a:r>
              <a:rPr lang="en-US" sz="1150" b="1" dirty="0">
                <a:solidFill>
                  <a:srgbClr val="1C1B18"/>
                </a:solidFill>
                <a:latin typeface="Avenir Next"/>
              </a:rPr>
              <a:t> </a:t>
            </a:r>
            <a:r>
              <a:rPr lang="en-US" sz="1150" b="1" dirty="0" err="1">
                <a:solidFill>
                  <a:srgbClr val="1C1B18"/>
                </a:solidFill>
                <a:latin typeface="Avenir Next"/>
              </a:rPr>
              <a:t>belge</a:t>
            </a:r>
            <a:endParaRPr lang="en-US" sz="1150" b="1" dirty="0">
              <a:solidFill>
                <a:srgbClr val="1C1B18"/>
              </a:solidFill>
              <a:latin typeface="Avenir Next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834640" y="3767327"/>
            <a:ext cx="1371600" cy="0"/>
          </a:xfrm>
          <a:prstGeom prst="line">
            <a:avLst/>
          </a:prstGeom>
          <a:ln w="22225">
            <a:solidFill>
              <a:srgbClr val="6B67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06240" y="32461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9525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3429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4E28"/>
                </a:solidFill>
                <a:latin typeface="Avenir Next"/>
              </a:rPr>
              <a:t>B. Kurum içi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764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B18"/>
                </a:solidFill>
                <a:latin typeface="Avenir Next"/>
              </a:rPr>
              <a:t>Model kurum sınırları içinde tutulur</a:t>
            </a:r>
          </a:p>
        </p:txBody>
      </p:sp>
      <p:sp>
        <p:nvSpPr>
          <p:cNvPr id="29" name="&quot;No&quot; Symbol 28"/>
          <p:cNvSpPr/>
          <p:nvPr/>
        </p:nvSpPr>
        <p:spPr>
          <a:xfrm>
            <a:off x="7800747" y="3612794"/>
            <a:ext cx="309067" cy="309067"/>
          </a:xfrm>
          <a:prstGeom prst="noSmoking">
            <a:avLst/>
          </a:prstGeom>
          <a:noFill/>
          <a:ln w="38100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32520" y="3483864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4E28"/>
                </a:solidFill>
                <a:latin typeface="Avenir Next"/>
              </a:rPr>
              <a:t>Maliyet engeli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61772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82193" y="5045660"/>
            <a:ext cx="249631" cy="332841"/>
          </a:xfrm>
          <a:prstGeom prst="rect">
            <a:avLst/>
          </a:prstGeom>
          <a:noFill/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1132119" y="5138855"/>
            <a:ext cx="149779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32119" y="5205423"/>
            <a:ext cx="149779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32119" y="5271991"/>
            <a:ext cx="149779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36192" y="4928616"/>
            <a:ext cx="12344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b="1" dirty="0" err="1">
                <a:solidFill>
                  <a:srgbClr val="1C1B18"/>
                </a:solidFill>
                <a:latin typeface="Avenir Next"/>
              </a:rPr>
              <a:t>Kişisel</a:t>
            </a:r>
            <a:r>
              <a:rPr lang="en-US" sz="1150" b="1" dirty="0">
                <a:solidFill>
                  <a:srgbClr val="1C1B18"/>
                </a:solidFill>
                <a:latin typeface="Avenir Next"/>
              </a:rPr>
              <a:t> </a:t>
            </a:r>
            <a:r>
              <a:rPr lang="en-US" sz="1150" b="1" dirty="0" err="1">
                <a:solidFill>
                  <a:srgbClr val="1C1B18"/>
                </a:solidFill>
                <a:latin typeface="Avenir Next"/>
              </a:rPr>
              <a:t>veri</a:t>
            </a:r>
            <a:r>
              <a:rPr lang="en-US" sz="1150" b="1" dirty="0">
                <a:solidFill>
                  <a:srgbClr val="1C1B18"/>
                </a:solidFill>
                <a:latin typeface="Avenir Next"/>
              </a:rPr>
              <a:t> </a:t>
            </a:r>
            <a:r>
              <a:rPr lang="en-US" sz="1150" b="1" dirty="0" err="1">
                <a:solidFill>
                  <a:srgbClr val="1C1B18"/>
                </a:solidFill>
                <a:latin typeface="Avenir Next"/>
              </a:rPr>
              <a:t>içeren</a:t>
            </a:r>
            <a:r>
              <a:rPr lang="en-US" sz="1150" b="1" dirty="0">
                <a:solidFill>
                  <a:srgbClr val="1C1B18"/>
                </a:solidFill>
                <a:latin typeface="Avenir Next"/>
              </a:rPr>
              <a:t> </a:t>
            </a:r>
            <a:r>
              <a:rPr lang="en-US" sz="1150" b="1" dirty="0" err="1">
                <a:solidFill>
                  <a:srgbClr val="1C1B18"/>
                </a:solidFill>
                <a:latin typeface="Avenir Next"/>
              </a:rPr>
              <a:t>belge</a:t>
            </a:r>
            <a:endParaRPr lang="en-US" sz="1150" b="1" dirty="0">
              <a:solidFill>
                <a:srgbClr val="1C1B18"/>
              </a:solidFill>
              <a:latin typeface="Avenir Next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2834640" y="5212080"/>
            <a:ext cx="1371600" cy="0"/>
          </a:xfrm>
          <a:prstGeom prst="line">
            <a:avLst/>
          </a:prstGeom>
          <a:ln w="2857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206240" y="461772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34840" y="48188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F6E56"/>
                </a:solidFill>
                <a:latin typeface="Avenir Next"/>
              </a:rPr>
              <a:t>C. Screenwall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1846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B18"/>
                </a:solidFill>
                <a:latin typeface="Avenir Next"/>
              </a:rPr>
              <a:t>Kişisel veri belgeden ayrılır,
yerine anonim etiketler geçer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879386" y="5113325"/>
            <a:ext cx="87783" cy="98755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967169" y="5025543"/>
            <a:ext cx="142645" cy="186537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686800" y="461772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15400" y="487375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E56"/>
                </a:solidFill>
                <a:latin typeface="Avenir Next"/>
              </a:rPr>
              <a:t>Öncü AI modeli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23951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Tam kapasiteyle kullanılır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Nasıl çalışır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35201" y="1944015"/>
            <a:ext cx="307238" cy="409651"/>
          </a:xfrm>
          <a:prstGeom prst="rect">
            <a:avLst/>
          </a:prstGeom>
          <a:noFill/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1896648" y="2058717"/>
            <a:ext cx="184344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96648" y="2140647"/>
            <a:ext cx="184344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96648" y="2222577"/>
            <a:ext cx="184344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26060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B18"/>
                </a:solidFill>
                <a:latin typeface="Avenir Next"/>
              </a:rPr>
              <a:t>Yükleme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675C"/>
                </a:solidFill>
                <a:latin typeface="Avenir Next"/>
              </a:rPr>
              <a:t>PDF, DOCX, XLSX — olduğu gibi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50876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73211" y="1945479"/>
            <a:ext cx="336499" cy="336499"/>
          </a:xfrm>
          <a:prstGeom prst="ellipse">
            <a:avLst/>
          </a:prstGeom>
          <a:noFill/>
          <a:ln w="381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4650601" y="2222869"/>
            <a:ext cx="160934" cy="160934"/>
          </a:xfrm>
          <a:prstGeom prst="line">
            <a:avLst/>
          </a:prstGeom>
          <a:ln w="5080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47872" y="26060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B18"/>
                </a:solidFill>
                <a:latin typeface="Avenir Next"/>
              </a:rPr>
              <a:t>Çıkarım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8803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675C"/>
                </a:solidFill>
                <a:latin typeface="Avenir Next"/>
              </a:rPr>
              <a:t>Yapı korunarak metne çevrilir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508760"/>
            <a:ext cx="235000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entagon 17"/>
          <p:cNvSpPr/>
          <p:nvPr/>
        </p:nvSpPr>
        <p:spPr>
          <a:xfrm rot="10800000">
            <a:off x="6930238" y="1891346"/>
            <a:ext cx="468172" cy="514989"/>
          </a:xfrm>
          <a:prstGeom prst="homePlat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35624" y="26060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B18"/>
                </a:solidFill>
                <a:latin typeface="Avenir Next"/>
              </a:rPr>
              <a:t>Tespit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85632" y="1508760"/>
            <a:ext cx="2898648" cy="160020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45804" y="1645920"/>
            <a:ext cx="402336" cy="402336"/>
          </a:xfrm>
          <a:prstGeom prst="ellipse">
            <a:avLst/>
          </a:prstGeom>
          <a:noFill/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45804" y="1690178"/>
            <a:ext cx="402336" cy="40233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2000" b="1" dirty="0">
                <a:solidFill>
                  <a:srgbClr val="0F6E56"/>
                </a:solidFill>
              </a:rPr>
              <a:t>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6916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F6E56"/>
                </a:solidFill>
                <a:latin typeface="Avenir Next"/>
              </a:rPr>
              <a:t>Denetim</a:t>
            </a:r>
            <a:r>
              <a:rPr sz="1300" b="1" i="0" dirty="0">
                <a:solidFill>
                  <a:srgbClr val="0F6E56"/>
                </a:solidFill>
                <a:latin typeface="Avenir Next"/>
              </a:rPr>
              <a:t> </a:t>
            </a:r>
            <a:r>
              <a:rPr sz="1300" b="1" i="0" dirty="0" err="1">
                <a:solidFill>
                  <a:srgbClr val="0F6E56"/>
                </a:solidFill>
                <a:latin typeface="Avenir Next"/>
              </a:rPr>
              <a:t>döngüsü</a:t>
            </a:r>
            <a:endParaRPr sz="1300" b="1" i="0" dirty="0">
              <a:solidFill>
                <a:srgbClr val="0F6E56"/>
              </a:solidFill>
              <a:latin typeface="Avenir Nex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85632" y="2148840"/>
            <a:ext cx="27614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1C1B18"/>
                </a:solidFill>
                <a:latin typeface="Avenir Next"/>
              </a:rPr>
              <a:t>Yerel denetçi maskeli kopyayı okur: temiz mi? Değilse bir onarım turu yapar.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429000"/>
            <a:ext cx="10515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412383" y="3834994"/>
            <a:ext cx="192755" cy="192755"/>
          </a:xfrm>
          <a:prstGeom prst="ellipse">
            <a:avLst/>
          </a:prstGeom>
          <a:solidFill>
            <a:srgbClr val="C04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314450" y="4089929"/>
            <a:ext cx="388620" cy="264261"/>
          </a:xfrm>
          <a:prstGeom prst="roundRect">
            <a:avLst/>
          </a:prstGeom>
          <a:solidFill>
            <a:srgbClr val="C04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57400" y="36118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B18"/>
                </a:solidFill>
                <a:latin typeface="Avenir Next"/>
              </a:rPr>
              <a:t>Emin değilse, karar bir insana gider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3977639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Denetçi temiz demezse ya da hiç cevap vermezse, sistem kendi kendine onay vermez.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27939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Belge inceleme ekranında bir uzmanın önüne düşer — belirsizlikte son sözü her zaman insan söyler.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6B675C"/>
                </a:solidFill>
                <a:latin typeface="Avenir Next"/>
              </a:rPr>
              <a:t>Onaylanan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 </a:t>
            </a:r>
            <a:r>
              <a:rPr sz="1300" b="0" i="0" dirty="0" err="1">
                <a:solidFill>
                  <a:srgbClr val="6B675C"/>
                </a:solidFill>
                <a:latin typeface="Avenir Next"/>
              </a:rPr>
              <a:t>belge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, </a:t>
            </a:r>
            <a:r>
              <a:rPr sz="1300" b="0" i="0" dirty="0" err="1">
                <a:solidFill>
                  <a:srgbClr val="6B675C"/>
                </a:solidFill>
                <a:latin typeface="Avenir Next"/>
              </a:rPr>
              <a:t>sadece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 </a:t>
            </a:r>
            <a:r>
              <a:rPr sz="1300" b="0" i="0" dirty="0" err="1">
                <a:solidFill>
                  <a:srgbClr val="6B675C"/>
                </a:solidFill>
                <a:latin typeface="Avenir Next"/>
              </a:rPr>
              <a:t>maskelenmiş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 </a:t>
            </a:r>
            <a:r>
              <a:rPr sz="1300" b="0" i="0" dirty="0" err="1">
                <a:solidFill>
                  <a:srgbClr val="6B675C"/>
                </a:solidFill>
                <a:latin typeface="Avenir Next"/>
              </a:rPr>
              <a:t>içerikten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 </a:t>
            </a:r>
            <a:r>
              <a:rPr sz="1300" b="0" i="0" dirty="0" err="1">
                <a:solidFill>
                  <a:srgbClr val="6B675C"/>
                </a:solidFill>
                <a:latin typeface="Avenir Next"/>
              </a:rPr>
              <a:t>yeniden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 </a:t>
            </a:r>
            <a:r>
              <a:rPr sz="1300" b="0" i="0" dirty="0" err="1">
                <a:solidFill>
                  <a:srgbClr val="6B675C"/>
                </a:solidFill>
                <a:latin typeface="Avenir Next"/>
              </a:rPr>
              <a:t>üretilen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 </a:t>
            </a:r>
            <a:r>
              <a:rPr sz="1300" b="0" i="0" dirty="0" err="1">
                <a:solidFill>
                  <a:srgbClr val="6B675C"/>
                </a:solidFill>
                <a:latin typeface="Avenir Next"/>
              </a:rPr>
              <a:t>bir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 </a:t>
            </a:r>
            <a:r>
              <a:rPr sz="1300" b="0" i="0" dirty="0" err="1">
                <a:solidFill>
                  <a:srgbClr val="6B675C"/>
                </a:solidFill>
                <a:latin typeface="Avenir Next"/>
              </a:rPr>
              <a:t>dosya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 </a:t>
            </a:r>
            <a:r>
              <a:rPr sz="1300" b="0" i="0" dirty="0" err="1">
                <a:solidFill>
                  <a:srgbClr val="6B675C"/>
                </a:solidFill>
                <a:latin typeface="Avenir Next"/>
              </a:rPr>
              <a:t>olarak</a:t>
            </a:r>
            <a:r>
              <a:rPr sz="1300" b="0" i="0" dirty="0">
                <a:solidFill>
                  <a:srgbClr val="6B675C"/>
                </a:solidFill>
                <a:latin typeface="Avenir Next"/>
              </a:rPr>
              <a:t> size döner 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49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orijinal belge hiçbir zaman yeniden paylaşılmaz.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3 katmanlı koruma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Her katman farklı bir şeyi yakalar. Biri kaçırırsa diğeri devreye girer — üçü birbirinin yedeği değil, tamamlayıcısıdır.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50900" y="2165300"/>
            <a:ext cx="332841" cy="332841"/>
          </a:xfrm>
          <a:prstGeom prst="roundRect">
            <a:avLst/>
          </a:prstGeom>
          <a:noFill/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61847" y="2165303"/>
            <a:ext cx="0" cy="332834"/>
          </a:xfrm>
          <a:prstGeom prst="line">
            <a:avLst/>
          </a:prstGeom>
          <a:ln w="1905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50903" y="2276247"/>
            <a:ext cx="332834" cy="0"/>
          </a:xfrm>
          <a:prstGeom prst="line">
            <a:avLst/>
          </a:prstGeom>
          <a:ln w="1905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72794" y="2165303"/>
            <a:ext cx="0" cy="332834"/>
          </a:xfrm>
          <a:prstGeom prst="line">
            <a:avLst/>
          </a:prstGeom>
          <a:ln w="1905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50903" y="2387194"/>
            <a:ext cx="332834" cy="0"/>
          </a:xfrm>
          <a:prstGeom prst="line">
            <a:avLst/>
          </a:prstGeom>
          <a:ln w="19050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65960" y="19110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6E56"/>
                </a:solidFill>
                <a:latin typeface="Avenir Next"/>
              </a:rPr>
              <a:t>① Presidio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240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75C"/>
                </a:solidFill>
                <a:latin typeface="Avenir Next"/>
              </a:rPr>
              <a:t>Microsoft · açık kaynak (MIT)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9384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B18"/>
                </a:solidFill>
                <a:latin typeface="Avenir Next"/>
              </a:rPr>
              <a:t>Kişisel veri tarama motoru. Kural tabanlı kalıplar ile yapay zekâ tabanlı varlık tanımayı birlikte kullanır.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8658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TC kimlik (doğrulama algoritmasıyla), IBAN, GSM, plaka, pasaport için Türkiye'ye özgü tanıyıcıları biz ekledik.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74136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270102" y="3775558"/>
            <a:ext cx="294436" cy="294436"/>
          </a:xfrm>
          <a:prstGeom prst="roundRect">
            <a:avLst/>
          </a:prstGeom>
          <a:noFill/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1213775" y="383444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64538" y="383444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13775" y="392277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64538" y="392277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3775" y="401110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64538" y="4011106"/>
            <a:ext cx="56327" cy="0"/>
          </a:xfrm>
          <a:prstGeom prst="line">
            <a:avLst/>
          </a:prstGeom>
          <a:ln w="2222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965960" y="35021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6E56"/>
                </a:solidFill>
                <a:latin typeface="Avenir Next"/>
              </a:rPr>
              <a:t>② Yerel denetçi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83133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75C"/>
                </a:solidFill>
                <a:latin typeface="Avenir Next"/>
              </a:rPr>
              <a:t>Qwen 3.5 4B · açık ağırlıklı (Apache-2.0)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5204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B18"/>
                </a:solidFill>
                <a:latin typeface="Avenir Next"/>
              </a:rPr>
              <a:t>Maskelenmiş kopyayı ikinci bir göz olarak okur; kalıntı bulursa bir onarım turu başlatır.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7764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Ollama ile bu bilgisayarda çalışır, internete bağlanmaz. Denetçi çalışmadıysa ya da temiz demediyse belge kendiliğinden onaylanmaz — insana gider.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965192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&quot;No&quot; Symbol 28"/>
          <p:cNvSpPr/>
          <p:nvPr/>
        </p:nvSpPr>
        <p:spPr>
          <a:xfrm>
            <a:off x="1250900" y="5347412"/>
            <a:ext cx="332841" cy="332841"/>
          </a:xfrm>
          <a:prstGeom prst="noSmoking">
            <a:avLst/>
          </a:prstGeom>
          <a:noFill/>
          <a:ln w="381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65960" y="50932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6E56"/>
                </a:solidFill>
                <a:latin typeface="Avenir Next"/>
              </a:rPr>
              <a:t>③ Kurum listeleri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422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75C"/>
                </a:solidFill>
                <a:latin typeface="Avenir Next"/>
              </a:rPr>
              <a:t>Kurumun kendisi tanımlar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111496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B18"/>
                </a:solidFill>
                <a:latin typeface="Avenir Next"/>
              </a:rPr>
              <a:t>“Her zaman maskele” ve “asla maskeleme” listeleri. Ayarlar'dan ya da inceleme ekranından tek tıkla yönetilir.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568696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75C"/>
                </a:solidFill>
                <a:latin typeface="Avenir Next"/>
              </a:rPr>
              <a:t>Marka, fon veya proje kod adı gibi hiçbir genel modelin bilemeyeceği özel terimler — bu katman olmadan tespit edilemezler.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İki mod — ve kanundaki karşılığı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F3F1E9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26464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1B18"/>
                </a:solidFill>
                <a:latin typeface="Avenir Next"/>
              </a:rPr>
              <a:t>KVKK m.3/1-(b) — anonim hâle getirme:  kişisel verilerin, başka verilerle eşleştirilerek dahi hiçbir surette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73352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1B18"/>
                </a:solidFill>
                <a:latin typeface="Avenir Next"/>
              </a:rPr>
              <a:t>kimliği belirli veya belirlenebilir bir gerçek kişiyle ilişkilendirilemeyecek hâle getirilmesi.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60320"/>
            <a:ext cx="5029200" cy="342900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eft-Right Arrow 9"/>
          <p:cNvSpPr/>
          <p:nvPr/>
        </p:nvSpPr>
        <p:spPr>
          <a:xfrm>
            <a:off x="1212495" y="2894991"/>
            <a:ext cx="409651" cy="153619"/>
          </a:xfrm>
          <a:prstGeom prst="leftRightArrow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27432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6E56"/>
                </a:solidFill>
                <a:latin typeface="Avenir Next"/>
              </a:rPr>
              <a:t>Mapping modu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1B18"/>
                </a:solidFill>
                <a:latin typeface="Avenir Next"/>
              </a:rPr>
              <a:t>Orijinal belge ve eşleme tablosu saklanır.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1B18"/>
                </a:solidFill>
                <a:latin typeface="Avenir Next"/>
              </a:rPr>
              <a:t>Yetkili biri gerektiğinde geri açabilir.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70916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8280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6E56"/>
                </a:solidFill>
                <a:latin typeface="Avenir Next"/>
              </a:rPr>
              <a:t>Hukuki nitelik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0749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B18"/>
                </a:solidFill>
                <a:latin typeface="Avenir Next"/>
              </a:rPr>
              <a:t>Kişisel veri olmaya devam eder — KVKK yükümlülükleri sürer.
GDPR Res. 26 · m.4(5) ile aynı yönde.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60320"/>
            <a:ext cx="5029200" cy="342900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9525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6737300" y="2894991"/>
            <a:ext cx="332841" cy="153619"/>
          </a:xfrm>
          <a:prstGeom prst="rightArrow">
            <a:avLst/>
          </a:prstGeom>
          <a:solidFill>
            <a:srgbClr val="C04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57339" y="2830983"/>
            <a:ext cx="38404" cy="281635"/>
          </a:xfrm>
          <a:prstGeom prst="rect">
            <a:avLst/>
          </a:prstGeom>
          <a:solidFill>
            <a:srgbClr val="C04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27432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04E28"/>
                </a:solidFill>
                <a:latin typeface="Avenir Next"/>
              </a:rPr>
              <a:t>Destructive modu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033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1B18"/>
                </a:solidFill>
                <a:latin typeface="Avenir Next"/>
              </a:rPr>
              <a:t>Orijinal belge ve eşleme hiç diske yazılmaz.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1B18"/>
                </a:solidFill>
                <a:latin typeface="Avenir Next"/>
              </a:rPr>
              <a:t>Geri dönüş fiziksel olarak imkânsızdır.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70916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4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48280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4E28"/>
                </a:solidFill>
                <a:latin typeface="Avenir Next"/>
              </a:rPr>
              <a:t>Hukuki nitelik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0749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B18"/>
                </a:solidFill>
                <a:latin typeface="Avenir Next"/>
              </a:rPr>
              <a:t>Eksiksiz maskelenirse KVKK m.3 anlamında anonim veri.
m.7 uyarınca imha yükümlülüğünün karşılanma yolu.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0819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75C"/>
                </a:solidFill>
                <a:latin typeface="Avenir Next"/>
              </a:rPr>
              <a:t>Dayanak: 6698 sayılı KVKK m.3/1-(b), m.7, m.28/1-(b) · Silme, Yok Etme veya Anonim Hâle Getirme Yönetmeliği (RG 28.10.2017/30224)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Örnek belge — gerçek çıktı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317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675C"/>
                </a:solidFill>
                <a:latin typeface="Avenir Next"/>
              </a:rPr>
              <a:t>Girdi — orijinal belge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Sayın Ahmet Yılmaz, 15 Mart 2024 tarihli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başvurunuz değerlendirilmiştir.</a:t>
            </a:r>
          </a:p>
          <a:p>
            <a:pPr>
              <a:spcAft>
                <a:spcPts val="100"/>
              </a:spcAft>
            </a:pPr>
            <a:endParaRPr sz="1000" b="0">
              <a:solidFill>
                <a:srgbClr val="1C1B18"/>
              </a:solidFill>
              <a:latin typeface="Menlo"/>
            </a:endParaRP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Müşteri adı:    Ahmet Yılmaz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TC Kimlik No:   10203040550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Cep telefonu:   0532 764 21 09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E-posta:        ahmet.yilmaz@ornekposta.com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IBAN:           TR84 0009 1000 8765 4321 0987 65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Adres:          Bağdat Caddesi No 145 Kadıköy</a:t>
            </a:r>
          </a:p>
          <a:p>
            <a:pPr>
              <a:spcAft>
                <a:spcPts val="100"/>
              </a:spcAft>
            </a:pPr>
            <a:endParaRPr sz="1000" b="0">
              <a:solidFill>
                <a:srgbClr val="1C1B18"/>
              </a:solidFill>
              <a:latin typeface="Menlo"/>
            </a:endParaRP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İlgili sözleşme Ahmet Yılmaz tarafından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imzalanmıştır.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20640" cy="406908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9019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Avenir Next"/>
              </a:rPr>
              <a:t>Çıktı — maskelenmiş metin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Sayın &lt;PERSON_1&gt;, 15 Mart 2024 tarihli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başvurunuz değerlendirilmiştir.</a:t>
            </a:r>
          </a:p>
          <a:p>
            <a:pPr>
              <a:spcAft>
                <a:spcPts val="100"/>
              </a:spcAft>
            </a:pPr>
            <a:endParaRPr sz="1000" b="0">
              <a:solidFill>
                <a:srgbClr val="1C1B18"/>
              </a:solidFill>
              <a:latin typeface="Menlo"/>
            </a:endParaRP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Müşteri adı:    &lt;PERSON_1&gt;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TC Kimlik No:   &lt;TCKN_1&gt;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Cep telefonu:   &lt;PHONE_1&gt;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E-posta:        &lt;EMAIL_1&gt;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IBAN:           &lt;IBAN_1&gt;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Adres:          &lt;LOCATION_1&gt;</a:t>
            </a:r>
          </a:p>
          <a:p>
            <a:pPr>
              <a:spcAft>
                <a:spcPts val="100"/>
              </a:spcAft>
            </a:pPr>
            <a:endParaRPr sz="1000" b="0">
              <a:solidFill>
                <a:srgbClr val="1C1B18"/>
              </a:solidFill>
              <a:latin typeface="Menlo"/>
            </a:endParaRP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İlgili sözleşme &lt;PERSON_1&gt; tarafından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1C1B18"/>
                </a:solidFill>
                <a:latin typeface="Menlo"/>
              </a:rPr>
              <a:t>imzalanmıştır.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3794760"/>
            <a:ext cx="274320" cy="0"/>
          </a:xfrm>
          <a:prstGeom prst="line">
            <a:avLst/>
          </a:prstGeom>
          <a:ln w="28575">
            <a:solidFill>
              <a:srgbClr val="0F6E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9436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75C"/>
                </a:solidFill>
                <a:latin typeface="Avenir Next"/>
              </a:rPr>
              <a:t>Aynı kişi aynı etikete dönüşür (&lt;PERSON_1&gt;); hitap ve alan adları açık kalır — metin okunur, kişi tanınmaz.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İnceleme ekranı — her maskenin bir nedeni 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2743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1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6" name="TextBox 1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984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75C"/>
                </a:solidFill>
                <a:latin typeface="Avenir Next"/>
              </a:rPr>
              <a:t>Orijinal ve maskeli metin yan yana. Her kararın gerekçesi görünür, her karar tek tıkla geri alınır.</a:t>
            </a:r>
          </a:p>
        </p:txBody>
      </p:sp>
      <p:pic>
        <p:nvPicPr>
          <p:cNvPr id="8" name="Picture 7" descr="review-1440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6675120" cy="4171950"/>
          </a:xfrm>
          <a:prstGeom prst="rect">
            <a:avLst/>
          </a:prstGeom>
          <a:ln w="9525">
            <a:solidFill>
              <a:srgbClr val="E3DFD3"/>
            </a:solidFill>
          </a:ln>
        </p:spPr>
      </p:pic>
      <p:sp>
        <p:nvSpPr>
          <p:cNvPr id="9" name="Oval 8"/>
          <p:cNvSpPr/>
          <p:nvPr/>
        </p:nvSpPr>
        <p:spPr>
          <a:xfrm>
            <a:off x="7818120" y="1892807"/>
            <a:ext cx="329184" cy="32918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Yan yana karşılaştırma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Orijinal yalnız bu bilgisayarda; PDF'te işaretler sayfa görüntüsünün üzerinde.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944368"/>
            <a:ext cx="329184" cy="32918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926079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Her maskenin nedeni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“TCKN doğrulandı”, “Alan etiketi ve ad” — neden maskelendiği yazılı.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995927"/>
            <a:ext cx="329184" cy="32918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77639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Tek tıkla karar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Maskeyi kaldır ya da seçerek maskele: bu geçiş, bu belge veya tüm belgeler.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5047488"/>
            <a:ext cx="329184" cy="32918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029200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Onay kuralı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Bekleyen karar varken onay yok; belge değiştiyse yerel denetçi yeniden okur.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Verileriniz nerede kalır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2743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1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6" name="TextBox 1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984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75C"/>
                </a:solidFill>
                <a:latin typeface="Avenir Next"/>
              </a:rPr>
              <a:t>Ham belge bu bilgisayardan çıkmaz. Buluta yalnız onaylanmış, maskelenmiş metin gider — o da isteğe bağlı.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892807"/>
            <a:ext cx="329184" cy="32918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74519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Varsayılan: her şey bu bilgisayarda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Tespit, denetim ve sohbet yerelde çalışır; onaya kadar belge hiçbir yere gönderilmez.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44368"/>
            <a:ext cx="329184" cy="32918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26079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Ham belge hiçbir dil modeline gitmez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Yerel denetçi dahil, dil modelleri yalnız maskelenmiş kopyayı görür.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995927"/>
            <a:ext cx="329184" cy="32918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77639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İsteğe bağlı: Claude, Codex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Sizin CLI girişinizle çalışır; Screenwall API anahtarı saklamaz.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047488"/>
            <a:ext cx="329184" cy="329184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02920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Önce önizleme, sonra açık onay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Gidecek metnin tamamı gösterilir; onaysız gönderilmez, metin değişirse onay düşer. Her gönderim içeriksiz kaydedilir.</a:t>
            </a:r>
          </a:p>
        </p:txBody>
      </p:sp>
      <p:pic>
        <p:nvPicPr>
          <p:cNvPr id="16" name="Picture 15" descr="consent-1440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74519"/>
            <a:ext cx="6355080" cy="3971925"/>
          </a:xfrm>
          <a:prstGeom prst="rect">
            <a:avLst/>
          </a:prstGeom>
          <a:ln w="9525">
            <a:solidFill>
              <a:srgbClr val="E3DFD3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822960" y="4572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C1B18"/>
                </a:solidFill>
                <a:latin typeface="Georgia"/>
              </a:defRPr>
            </a:pPr>
            <a:r>
              <a:rPr sz="3000" b="1" lang="tr-TR">
                <a:solidFill>
                  <a:srgbClr val="1C1B18"/>
                </a:solidFill>
                <a:latin typeface="Georgia"/>
              </a:rPr>
              <a:t>Sayılarla kanıt — ölçüm altyapısı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75C"/>
                </a:solidFill>
                <a:latin typeface="Avenir Next"/>
              </a:defRPr>
            </a:pPr>
            <a:r>
              <a:rPr sz="1500" b="0" lang="tr-TR">
                <a:solidFill>
                  <a:srgbClr val="6B675C"/>
                </a:solidFill>
                <a:latin typeface="Avenir Next"/>
              </a:rPr>
              <a:t>Doğruluk cevap anahtarlı 240 sentetik belgede, dayanıklılık 72 tuzaklı dosyada ölçülür; 30 gerçek BIST belgesinde yalnız maskeleme oranına bakılır. Listeler kapalı; kıyas korpusu repoda yok.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rPr sz="1900" b="0" lang="tr-TR">
                <a:solidFill>
                  <a:srgbClr val="1C1B18"/>
                </a:solidFill>
                <a:latin typeface="Avenir Next"/>
              </a:rPr>
              <a:t>72 tuzaklı belgede kritik sızıntı (canlı denetçi)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9202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rPr sz="2000" b="1" lang="tr-TR">
                <a:solidFill>
                  <a:srgbClr val="2F6B4F"/>
                </a:solidFill>
                <a:latin typeface="Avenir Next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70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rPr sz="1900" b="0" lang="tr-TR">
                <a:solidFill>
                  <a:srgbClr val="1C1B18"/>
                </a:solidFill>
                <a:latin typeface="Avenir Next"/>
              </a:rPr>
              <a:t>Kritik veri yakalama — 60 belge, listeler kapalı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6700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rPr sz="2000" b="1" lang="tr-TR">
                <a:solidFill>
                  <a:srgbClr val="2F6B4F"/>
                </a:solidFill>
                <a:latin typeface="Avenir Next"/>
              </a:rPr>
              <a:t>1555/1555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19856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rPr sz="1900" b="0" lang="tr-TR">
                <a:solidFill>
                  <a:srgbClr val="1C1B18"/>
                </a:solidFill>
                <a:latin typeface="Avenir Next"/>
              </a:rPr>
              <a:t>Güvenli belgenin otomatik teslimi (stres)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41985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rPr sz="2000" b="1" lang="tr-TR">
                <a:solidFill>
                  <a:srgbClr val="2F6B4F"/>
                </a:solidFill>
                <a:latin typeface="Avenir Next"/>
              </a:rPr>
              <a:t>59/62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9664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rPr sz="1900" b="0" lang="tr-TR">
                <a:solidFill>
                  <a:srgbClr val="1C1B18"/>
                </a:solidFill>
                <a:latin typeface="Avenir Next"/>
              </a:rPr>
              <a:t>Sahte kimlik kaçağı (32 prob)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16966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rPr sz="2000" b="1" lang="tr-TR">
                <a:solidFill>
                  <a:srgbClr val="2F6B4F"/>
                </a:solidFill>
                <a:latin typeface="Avenir Next"/>
              </a:rPr>
              <a:t>0/32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1947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C1B18"/>
                </a:solidFill>
                <a:latin typeface="Avenir Next"/>
              </a:defRPr>
            </a:pPr>
            <a:r>
              <a:rPr sz="1900" b="0" lang="tr-TR">
                <a:solidFill>
                  <a:srgbClr val="1C1B18"/>
                </a:solidFill>
                <a:latin typeface="Avenir Next"/>
              </a:rPr>
              <a:t>Otomatik test (backend + arayüz)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91947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6B4F"/>
                </a:solidFill>
                <a:latin typeface="Avenir Next"/>
              </a:defRPr>
            </a:pPr>
            <a:r>
              <a:rPr sz="2000" b="1" lang="tr-TR">
                <a:solidFill>
                  <a:srgbClr val="2F6B4F"/>
                </a:solidFill>
                <a:latin typeface="Avenir Next"/>
              </a:rPr>
              <a:t>879 + 79 yeşil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75C"/>
                </a:solidFill>
                <a:latin typeface="Avenir Next"/>
              </a:defRPr>
            </a:pPr>
            <a:r>
              <a:rPr sz="1400" b="0" lang="tr-TR">
                <a:solidFill>
                  <a:srgbClr val="6B675C"/>
                </a:solidFill>
                <a:latin typeface="Avenir Next"/>
              </a:rPr>
              <a:t>Şüphede sistem onaylamaz, belge insana düşer — güvenlik ayar değil, varsayılan.</a:t>
            </a:r>
          </a:p>
        </p:txBody>
      </p:sp>
      <p:sp>
        <p:nvSpPr>
          <p:cNvPr id="16" name="Rectangle 3"/>
          <p:cNvSpPr/>
          <p:nvPr/>
        </p:nvSpPr>
        <p:spPr>
          <a:xfrm>
            <a:off x="822960" y="1115568"/>
            <a:ext cx="822960" cy="2743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1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822960" y="4572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C1B18"/>
                </a:solidFill>
                <a:latin typeface="Georgia"/>
              </a:defRPr>
            </a:pPr>
            <a:r>
              <a:rPr sz="3000" b="1" lang="tr-TR">
                <a:solidFill>
                  <a:srgbClr val="1C1B18"/>
                </a:solidFill>
                <a:latin typeface="Georgia"/>
              </a:rPr>
              <a:t>Aynı sınav, iki sürüm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75C"/>
                </a:solidFill>
                <a:latin typeface="Avenir Next"/>
              </a:defRPr>
            </a:pPr>
            <a:r>
              <a:rPr sz="1400" b="0" lang="tr-TR">
                <a:solidFill>
                  <a:srgbClr val="6B675C"/>
                </a:solidFill>
                <a:latin typeface="Avenir Next"/>
              </a:rPr>
              <a:t>İki sistem de aynı puanlayıcıyla (Sol'un kendi puanlayıcısı), aynı korpusla ve hiçbir terim listesi olmadan koşuldu.</a:t>
            </a:r>
          </a:p>
          <a:p>
            <a:pPr algn="l">
              <a:defRPr sz="1400" b="0">
                <a:solidFill>
                  <a:srgbClr val="6B675C"/>
                </a:solidFill>
                <a:latin typeface="Avenir Next"/>
              </a:defRPr>
            </a:pPr>
            <a:r>
              <a:rPr sz="1400" b="0" lang="tr-TR">
                <a:solidFill>
                  <a:srgbClr val="6B675C"/>
                </a:solidFill>
                <a:latin typeface="Avenir Next"/>
              </a:rPr>
              <a:t>Sol, Fable'ın bir kopyasıyla başladı ve motorunu değiştirdi. Kıyas korpusu repoda yok.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75C"/>
                </a:solidFill>
                <a:latin typeface="Avenir Next"/>
              </a:defRPr>
            </a:pPr>
            <a:r>
              <a:rPr sz="1700" b="1" lang="tr-TR">
                <a:solidFill>
                  <a:srgbClr val="6B675C"/>
                </a:solidFill>
                <a:latin typeface="Avenir Next"/>
              </a:rP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057400"/>
            <a:ext cx="23774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75C"/>
                </a:solidFill>
                <a:latin typeface="Avenir Next"/>
              </a:defRPr>
            </a:pPr>
            <a:r>
              <a:rPr lang="en-US" dirty="0"/>
              <a:t>Fable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046720" y="2057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75C"/>
                </a:solidFill>
                <a:latin typeface="Avenir Next"/>
              </a:defRPr>
            </a:pPr>
            <a:r>
              <a:rPr dirty="0"/>
              <a:t>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Kritik veri yakalama (katı puanlayıcı)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rPr sz="1700" b="1" lang="tr-TR">
                <a:solidFill>
                  <a:srgbClr val="0F6E56"/>
                </a:solidFill>
                <a:latin typeface="Avenir Next"/>
              </a:rPr>
              <a:t>472/489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24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438/489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9125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Sahte kimlik kaçağı (düşük iyi)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19125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rPr sz="1700" b="1" lang="tr-TR">
                <a:solidFill>
                  <a:srgbClr val="0F6E56"/>
                </a:solidFill>
                <a:latin typeface="Avenir Next"/>
              </a:rPr>
              <a:t>0/32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912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7/32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5818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Güvenli belge teslimi (canlı denetçi)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7581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rPr sz="1700" b="1" lang="tr-TR">
                <a:solidFill>
                  <a:srgbClr val="0F6E56"/>
                </a:solidFill>
                <a:latin typeface="Avenir Next"/>
              </a:rPr>
              <a:t>59/62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75818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28/62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251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Korunan iş terimi (yüksek iyi)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251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10/90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251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rPr sz="1700" b="1" lang="tr-TR">
                <a:solidFill>
                  <a:srgbClr val="0F6E56"/>
                </a:solidFill>
                <a:latin typeface="Avenir Next"/>
              </a:rPr>
              <a:t>38/90 — Sol önde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1B18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Gereksiz karartma (düşük iyi)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892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rPr sz="1700" b="1" lang="tr-TR">
                <a:solidFill>
                  <a:srgbClr val="0F6E56"/>
                </a:solidFill>
                <a:latin typeface="Avenir Next"/>
              </a:rPr>
              <a:t>11/40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F6B4F"/>
                </a:solidFill>
                <a:latin typeface="Avenir Next"/>
              </a:defRPr>
            </a:pPr>
            <a:r>
              <a:rPr sz="1700" b="0" lang="tr-TR">
                <a:solidFill>
                  <a:srgbClr val="1C1B18"/>
                </a:solidFill>
                <a:latin typeface="Avenir Next"/>
              </a:rPr>
              <a:t>21/40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543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75C"/>
                </a:solidFill>
                <a:latin typeface="Avenir Next"/>
              </a:defRPr>
            </a:pPr>
            <a:r>
              <a:rPr sz="1300" b="0" lang="tr-TR">
                <a:solidFill>
                  <a:srgbClr val="6B675C"/>
                </a:solidFill>
                <a:latin typeface="Avenir Next"/>
              </a:rPr>
              <a:t>Dürüstlük notu: önceki sürümdeki “0/90” bir test sızıntısıydı (liste, ölçülen 90 terimin hepsini içeriyordu); dürüst sayı 10/90.</a:t>
            </a:r>
          </a:p>
          <a:p>
            <a:pPr algn="l">
              <a:defRPr sz="1300" b="0">
                <a:solidFill>
                  <a:srgbClr val="6B675C"/>
                </a:solidFill>
                <a:latin typeface="Avenir Next"/>
              </a:defRPr>
            </a:pPr>
            <a:r>
              <a:rPr sz="1300" b="0" lang="tr-TR">
                <a:solidFill>
                  <a:srgbClr val="6B675C"/>
                </a:solidFill>
                <a:latin typeface="Avenir Next"/>
              </a:rPr>
              <a:t>İş terimlerini korumada Sol önde; sıradaki hedefimiz bu. Stres testinde ikisi de 0/72 sızıntı.</a:t>
            </a:r>
          </a:p>
          <a:p>
            <a:pPr algn="l">
              <a:defRPr sz="1300" b="0">
                <a:solidFill>
                  <a:srgbClr val="6B675C"/>
                </a:solidFill>
                <a:latin typeface="Avenir Next"/>
              </a:defRPr>
            </a:pPr>
            <a:r>
              <a:rPr sz="1300" b="0" lang="tr-TR">
                <a:solidFill>
                  <a:srgbClr val="6B675C"/>
                </a:solidFill>
                <a:latin typeface="Avenir Next"/>
              </a:rPr>
              <a:t>Kod adı: Fable — github.com/EminKolac/screenwall</a:t>
            </a:r>
          </a:p>
        </p:txBody>
      </p:sp>
      <p:sp>
        <p:nvSpPr>
          <p:cNvPr id="24" name="Rectangle 3"/>
          <p:cNvSpPr/>
          <p:nvPr/>
        </p:nvSpPr>
        <p:spPr>
          <a:xfrm>
            <a:off x="822960" y="1115568"/>
            <a:ext cx="822960" cy="2743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26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1B18"/>
                </a:solidFill>
                <a:latin typeface="Georgia"/>
              </a:rPr>
              <a:t>Sıradaki adım — daha az karartma, dürüst ölçümle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15568"/>
            <a:ext cx="822960" cy="2743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1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6" name="TextBox 1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984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75C"/>
                </a:solidFill>
                <a:latin typeface="Avenir Next"/>
              </a:rPr>
              <a:t>Kritik veriyi kaçırmadan kişisel olmayan iş terimlerine dokunmamak. Her değişiklik tek başına ölçülür; kapıyı geçmeyen geri alınır.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291840" cy="1600200"/>
          </a:xfrm>
          <a:prstGeom prst="roundRect">
            <a:avLst>
              <a:gd name="adj" fmla="val 7885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Korunan iş terimi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675C"/>
                </a:solidFill>
                <a:latin typeface="Georgia"/>
              </a:rPr>
              <a:t>10/90</a:t>
            </a:r>
            <a:r>
              <a:rPr sz="1800" b="0">
                <a:solidFill>
                  <a:srgbClr val="6B675C"/>
                </a:solidFill>
                <a:latin typeface="Georgia"/>
              </a:rPr>
              <a:t>  →  </a:t>
            </a:r>
            <a:r>
              <a:rPr sz="2200" b="1">
                <a:solidFill>
                  <a:srgbClr val="0F6E56"/>
                </a:solidFill>
                <a:latin typeface="Georgia"/>
              </a:rPr>
              <a:t>≥80/90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75C"/>
                </a:solidFill>
                <a:latin typeface="Avenir Next"/>
              </a:rPr>
              <a:t>listesiz, yüksek iyi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291840" cy="1600200"/>
          </a:xfrm>
          <a:prstGeom prst="roundRect">
            <a:avLst>
              <a:gd name="adj" fmla="val 7885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299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Gereksiz karartma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9572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675C"/>
                </a:solidFill>
                <a:latin typeface="Georgia"/>
              </a:rPr>
              <a:t>11/40</a:t>
            </a:r>
            <a:r>
              <a:rPr sz="1800" b="0">
                <a:solidFill>
                  <a:srgbClr val="6B675C"/>
                </a:solidFill>
                <a:latin typeface="Georgia"/>
              </a:rPr>
              <a:t>  →  </a:t>
            </a:r>
            <a:r>
              <a:rPr sz="2200" b="1">
                <a:solidFill>
                  <a:srgbClr val="0F6E56"/>
                </a:solidFill>
                <a:latin typeface="Georgia"/>
              </a:rPr>
              <a:t>≤2/40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17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75C"/>
                </a:solidFill>
                <a:latin typeface="Avenir Next"/>
              </a:rPr>
              <a:t>40 nötr cümlede, düşük iyi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74519"/>
            <a:ext cx="3291840" cy="1600200"/>
          </a:xfrm>
          <a:prstGeom prst="roundRect">
            <a:avLst>
              <a:gd name="adj" fmla="val 7885"/>
            </a:avLst>
          </a:prstGeom>
          <a:solidFill>
            <a:srgbClr val="FFFFFF"/>
          </a:solidFill>
          <a:ln w="9525">
            <a:solidFill>
              <a:srgbClr val="E3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299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Avenir Next"/>
              </a:rPr>
              <a:t>Gerçek belgede yoğunluk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9572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675C"/>
                </a:solidFill>
                <a:latin typeface="Georgia"/>
              </a:rPr>
              <a:t>12,2</a:t>
            </a:r>
            <a:r>
              <a:rPr sz="1800" b="0">
                <a:solidFill>
                  <a:srgbClr val="6B675C"/>
                </a:solidFill>
                <a:latin typeface="Georgia"/>
              </a:rPr>
              <a:t>  →  </a:t>
            </a:r>
            <a:r>
              <a:rPr sz="2200" b="1">
                <a:solidFill>
                  <a:srgbClr val="0F6E56"/>
                </a:solidFill>
                <a:latin typeface="Georgia"/>
              </a:rPr>
              <a:t>≤6,1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75C"/>
                </a:solidFill>
                <a:latin typeface="Avenir Next"/>
              </a:rPr>
              <a:t>etiket / 1000 karakter, 30 BIST belgesi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6E56"/>
                </a:solidFill>
                <a:latin typeface="Avenir Next"/>
              </a:rPr>
              <a:t>Kanıt tabanlı politika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Her aday için maskele, öner ya da bırak; zayıf türlerde tek başına NER yetmez.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49039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6E56"/>
                </a:solidFill>
                <a:latin typeface="Avenir Next"/>
              </a:rPr>
              <a:t>Kişi kanıtı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İsim sözlüğü, hitap ve alan bağlamı — “Fatura Dönemi” bir kişi değildir.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749039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6E56"/>
                </a:solidFill>
                <a:latin typeface="Avenir Next"/>
              </a:rPr>
              <a:t>Yeni mühürlü test seti</a:t>
            </a:r>
          </a:p>
          <a:p>
            <a:pPr algn="l"/>
            <a:r>
              <a:rPr sz="1100" b="0">
                <a:solidFill>
                  <a:srgbClr val="6B675C"/>
                </a:solidFill>
                <a:latin typeface="Avenir Next"/>
              </a:rPr>
              <a:t>Kuralları yazan modelden bağımsız hazırlanır; yalnız faz sonunda açılır.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46320"/>
            <a:ext cx="10424160" cy="777240"/>
          </a:xfrm>
          <a:prstGeom prst="roundRect">
            <a:avLst>
              <a:gd name="adj" fmla="val 12000"/>
            </a:avLst>
          </a:prstGeom>
          <a:solidFill>
            <a:srgbClr val="E8F1EC"/>
          </a:solidFill>
          <a:ln w="9525">
            <a:solidFill>
              <a:srgbClr val="C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919472"/>
            <a:ext cx="9966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56"/>
                </a:solidFill>
                <a:latin typeface="Avenir Next"/>
              </a:rPr>
              <a:t>İlk adım atıldı: </a:t>
            </a:r>
            <a:r>
              <a:rPr sz="1200" b="0">
                <a:solidFill>
                  <a:srgbClr val="1C1B18"/>
                </a:solidFill>
                <a:latin typeface="Avenir Next"/>
              </a:rPr>
              <a:t>birden fazla etiket alan kişi 16/179 → 6/179; karakter hassasiyeti 0,79 → 0,84, kritik recall değişmedi.</a:t>
            </a:r>
          </a:p>
          <a:p>
            <a:pPr algn="l"/>
            <a:r>
              <a:rPr sz="1050" b="0">
                <a:solidFill>
                  <a:srgbClr val="6B675C"/>
                </a:solidFill>
                <a:latin typeface="Avenir Next"/>
              </a:rPr>
              <a:t>Sert kapılar: kritik recall ≥ 472/489 · sahte kimlik kaçağı 0/32 · stres sızıntısı 0/72 · güvenli teslim ≥ 59/62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188720" cy="381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C1B18"/>
                </a:solidFill>
                <a:latin typeface="Georgia"/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6E56"/>
                </a:solidFill>
                <a:latin typeface="Avenir Next"/>
              </a:rPr>
              <a:t>Screenwall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75C"/>
                </a:solidFill>
                <a:latin typeface="Avenir Next"/>
              </a:rPr>
              <a:t>Hassas belgelerinizle, en güçlü yapay zekâ modellerini güvenle kullanmanın yolu.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75C"/>
                </a:solidFill>
                <a:latin typeface="Avenir Next"/>
              </a:rPr>
              <a:t>Screenwall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75C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1100</Words>
  <Application>Microsoft Office PowerPoint</Application>
  <PresentationFormat>Widescreen</PresentationFormat>
  <Paragraphs>197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Avenir Next</vt:lpstr>
      <vt:lpstr>Calibri</vt:lpstr>
      <vt:lpstr>Georgia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2026-09-23T05:59:10Z</dcterms:modified>
  <cp:category/>
</cp:coreProperties>
</file>