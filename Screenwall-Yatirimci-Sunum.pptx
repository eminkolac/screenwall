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2"/>
  </p:sldMasterIdLst>
  <p:notesMasterIdLst>
    <p:notesMasterId r:id="rId16"/>
  </p:notesMasterIdLst>
  <p:sldIdLst>
    <p:sldId id="256" r:id="rId3"/>
    <p:sldId id="257" r:id="rId4"/>
    <p:sldId id="258" r:id="rId5"/>
    <p:sldId id="259" r:id="rId6"/>
    <p:sldId id="260" r:id="rId7"/>
    <p:sldId id="261" r:id="rId8"/>
    <p:sldId id="269" r:id="rId21"/>
    <p:sldId id="270" r:id="rId22"/>
    <p:sldId id="267" r:id="rId13"/>
    <p:sldId id="268" r:id="rId14"/>
    <p:sldId id="271" r:id="rId23"/>
    <p:sldId id="266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548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6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7.xml"/><Relationship Id="rId22" Type="http://schemas.openxmlformats.org/officeDocument/2006/relationships/slide" Target="slides/slide10.xml"/><Relationship Id="rId23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12FA4F-7793-4CA4-BC58-585FF308389D}" type="datetimeFigureOut">
              <a:rPr lang="tr-TR" smtClean="0"/>
              <a:t>23.09.2026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85987E-2F64-4066-8511-372709329AD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703433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85987E-2F64-4066-8511-372709329ADC}" type="slidenum">
              <a:rPr lang="tr-TR" smtClean="0"/>
              <a:t>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163260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85987E-2F64-4066-8511-372709329ADC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320892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85987E-2F64-4066-8511-372709329ADC}" type="slidenum">
              <a:rPr lang="tr-TR" smtClean="0"/>
              <a:t>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978947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85987E-2F64-4066-8511-372709329ADC}" type="slidenum">
              <a:rPr lang="tr-TR" smtClean="0"/>
              <a:t>4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0778370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85987E-2F64-4066-8511-372709329ADC}" type="slidenum">
              <a:rPr lang="tr-TR" smtClean="0"/>
              <a:t>5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948640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85987E-2F64-4066-8511-372709329ADC}" type="slidenum">
              <a:rPr lang="tr-TR" smtClean="0"/>
              <a:t>6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681589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85987E-2F64-4066-8511-372709329ADC}" type="slidenum">
              <a:rPr lang="tr-TR" smtClean="0"/>
              <a:t>11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0188198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85987E-2F64-4066-8511-372709329ADC}" type="slidenum">
              <a:rPr lang="tr-TR" smtClean="0"/>
              <a:t>12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273521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85987E-2F64-4066-8511-372709329ADC}" type="slidenum">
              <a:rPr lang="tr-TR" smtClean="0"/>
              <a:t>13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60361990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331720"/>
            <a:ext cx="1188720" cy="3810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246888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1C1B18"/>
                </a:solidFill>
                <a:latin typeface="Georgia"/>
              </a:rPr>
              <a:t>Screenwall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6B675C"/>
                </a:solidFill>
                <a:latin typeface="Avenir Next"/>
              </a:rPr>
              <a:t>Şirket dokümanlarınızla Claude'u ve ChatGPT'yi güvenle kullanmanın yolu.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675C"/>
                </a:solidFill>
                <a:latin typeface="Avenir Next"/>
              </a:rPr>
              <a:t>Screenwall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675C"/>
                </a:solidFill>
                <a:latin typeface="Avenir Nex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C1B18"/>
                </a:solidFill>
                <a:latin typeface="Georgia"/>
              </a:rPr>
              <a:t>Çözülen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70432"/>
            <a:ext cx="822960" cy="3175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82193" y="2229306"/>
            <a:ext cx="249631" cy="332841"/>
          </a:xfrm>
          <a:prstGeom prst="rect">
            <a:avLst/>
          </a:prstGeom>
          <a:noFill/>
          <a:ln w="28575">
            <a:solidFill>
              <a:srgbClr val="6B67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" name="Connector 7"/>
          <p:cNvCxnSpPr/>
          <p:nvPr/>
        </p:nvCxnSpPr>
        <p:spPr>
          <a:xfrm>
            <a:off x="1132119" y="2322501"/>
            <a:ext cx="149779" cy="0"/>
          </a:xfrm>
          <a:prstGeom prst="line">
            <a:avLst/>
          </a:prstGeom>
          <a:ln w="22225">
            <a:solidFill>
              <a:srgbClr val="6B67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32119" y="2389069"/>
            <a:ext cx="149779" cy="0"/>
          </a:xfrm>
          <a:prstGeom prst="line">
            <a:avLst/>
          </a:prstGeom>
          <a:ln w="22225">
            <a:solidFill>
              <a:srgbClr val="6B67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32119" y="2455637"/>
            <a:ext cx="149779" cy="0"/>
          </a:xfrm>
          <a:prstGeom prst="line">
            <a:avLst/>
          </a:prstGeom>
          <a:ln w="22225">
            <a:solidFill>
              <a:srgbClr val="6B67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536192" y="2112263"/>
            <a:ext cx="123444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50" b="1" i="0" dirty="0" err="1">
                <a:solidFill>
                  <a:srgbClr val="1C1B18"/>
                </a:solidFill>
                <a:latin typeface="Avenir Next"/>
              </a:rPr>
              <a:t>Hassas</a:t>
            </a:r>
            <a:r>
              <a:rPr lang="en-US" sz="1150" b="1" i="0" dirty="0">
                <a:solidFill>
                  <a:srgbClr val="1C1B18"/>
                </a:solidFill>
                <a:latin typeface="Avenir Next"/>
              </a:rPr>
              <a:t> </a:t>
            </a:r>
            <a:r>
              <a:rPr lang="en-US" sz="1150" b="1" i="0" dirty="0" err="1">
                <a:solidFill>
                  <a:srgbClr val="1C1B18"/>
                </a:solidFill>
                <a:latin typeface="Avenir Next"/>
              </a:rPr>
              <a:t>bilgi</a:t>
            </a:r>
            <a:r>
              <a:rPr lang="en-US" sz="1150" b="1" i="0" dirty="0">
                <a:solidFill>
                  <a:srgbClr val="1C1B18"/>
                </a:solidFill>
                <a:latin typeface="Avenir Next"/>
              </a:rPr>
              <a:t> </a:t>
            </a:r>
            <a:r>
              <a:rPr lang="en-US" sz="1150" b="1" i="0" dirty="0" err="1">
                <a:solidFill>
                  <a:srgbClr val="1C1B18"/>
                </a:solidFill>
                <a:latin typeface="Avenir Next"/>
              </a:rPr>
              <a:t>içeren</a:t>
            </a:r>
            <a:r>
              <a:rPr lang="en-US" sz="1150" b="1" i="0" dirty="0">
                <a:solidFill>
                  <a:srgbClr val="1C1B18"/>
                </a:solidFill>
                <a:latin typeface="Avenir Next"/>
              </a:rPr>
              <a:t> </a:t>
            </a:r>
            <a:r>
              <a:rPr lang="en-US" sz="1150" b="1" i="0" dirty="0" err="1">
                <a:solidFill>
                  <a:srgbClr val="1C1B18"/>
                </a:solidFill>
                <a:latin typeface="Avenir Next"/>
              </a:rPr>
              <a:t>doküman</a:t>
            </a:r>
            <a:endParaRPr sz="1150" b="1" i="0" dirty="0">
              <a:solidFill>
                <a:srgbClr val="1C1B18"/>
              </a:solidFill>
              <a:latin typeface="Avenir Next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2395726"/>
            <a:ext cx="1371600" cy="0"/>
          </a:xfrm>
          <a:prstGeom prst="line">
            <a:avLst/>
          </a:prstGeom>
          <a:ln w="22225">
            <a:solidFill>
              <a:srgbClr val="6B67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206240" y="1874519"/>
            <a:ext cx="3291840" cy="1051560"/>
          </a:xfrm>
          <a:prstGeom prst="roundRect">
            <a:avLst>
              <a:gd name="adj" fmla="val 6000"/>
            </a:avLst>
          </a:prstGeom>
          <a:solidFill>
            <a:srgbClr val="FAECE7"/>
          </a:solidFill>
          <a:ln w="9525">
            <a:solidFill>
              <a:srgbClr val="C04E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34840" y="2057399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C04E28"/>
                </a:solidFill>
                <a:latin typeface="Avenir Next"/>
              </a:rPr>
              <a:t>A. Doğrudan gönderim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404871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B18"/>
                </a:solidFill>
                <a:latin typeface="Avenir Next"/>
              </a:rPr>
              <a:t>Hassas bilgi kurum dışına çıkar</a:t>
            </a:r>
          </a:p>
        </p:txBody>
      </p:sp>
      <p:sp>
        <p:nvSpPr>
          <p:cNvPr id="16" name="&quot;No&quot; Symbol 15"/>
          <p:cNvSpPr/>
          <p:nvPr/>
        </p:nvSpPr>
        <p:spPr>
          <a:xfrm>
            <a:off x="7800747" y="2241193"/>
            <a:ext cx="309067" cy="309067"/>
          </a:xfrm>
          <a:prstGeom prst="noSmoking">
            <a:avLst/>
          </a:prstGeom>
          <a:noFill/>
          <a:ln w="38100">
            <a:solidFill>
              <a:srgbClr val="C04E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732520" y="2112263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C04E28"/>
                </a:solidFill>
                <a:latin typeface="Avenir Next"/>
              </a:rPr>
              <a:t>Mevzuat riski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246120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082193" y="3600907"/>
            <a:ext cx="249631" cy="332841"/>
          </a:xfrm>
          <a:prstGeom prst="rect">
            <a:avLst/>
          </a:prstGeom>
          <a:noFill/>
          <a:ln w="28575">
            <a:solidFill>
              <a:srgbClr val="6B67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>
            <a:off x="1132119" y="3694102"/>
            <a:ext cx="149779" cy="0"/>
          </a:xfrm>
          <a:prstGeom prst="line">
            <a:avLst/>
          </a:prstGeom>
          <a:ln w="22225">
            <a:solidFill>
              <a:srgbClr val="6B67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132119" y="3760670"/>
            <a:ext cx="149779" cy="0"/>
          </a:xfrm>
          <a:prstGeom prst="line">
            <a:avLst/>
          </a:prstGeom>
          <a:ln w="22225">
            <a:solidFill>
              <a:srgbClr val="6B67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32119" y="3827238"/>
            <a:ext cx="149779" cy="0"/>
          </a:xfrm>
          <a:prstGeom prst="line">
            <a:avLst/>
          </a:prstGeom>
          <a:ln w="22225">
            <a:solidFill>
              <a:srgbClr val="6B67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536192" y="3483864"/>
            <a:ext cx="123444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50" b="1" dirty="0" err="1">
                <a:solidFill>
                  <a:srgbClr val="1C1B18"/>
                </a:solidFill>
                <a:latin typeface="Avenir Next"/>
              </a:rPr>
              <a:t>Hassas</a:t>
            </a:r>
            <a:r>
              <a:rPr lang="en-US" sz="1150" b="1" dirty="0">
                <a:solidFill>
                  <a:srgbClr val="1C1B18"/>
                </a:solidFill>
                <a:latin typeface="Avenir Next"/>
              </a:rPr>
              <a:t> </a:t>
            </a:r>
            <a:r>
              <a:rPr lang="en-US" sz="1150" b="1" dirty="0" err="1">
                <a:solidFill>
                  <a:srgbClr val="1C1B18"/>
                </a:solidFill>
                <a:latin typeface="Avenir Next"/>
              </a:rPr>
              <a:t>bilgi</a:t>
            </a:r>
            <a:r>
              <a:rPr lang="en-US" sz="1150" b="1" dirty="0">
                <a:solidFill>
                  <a:srgbClr val="1C1B18"/>
                </a:solidFill>
                <a:latin typeface="Avenir Next"/>
              </a:rPr>
              <a:t> </a:t>
            </a:r>
            <a:r>
              <a:rPr lang="en-US" sz="1150" b="1" dirty="0" err="1">
                <a:solidFill>
                  <a:srgbClr val="1C1B18"/>
                </a:solidFill>
                <a:latin typeface="Avenir Next"/>
              </a:rPr>
              <a:t>içeren</a:t>
            </a:r>
            <a:r>
              <a:rPr lang="en-US" sz="1150" b="1" dirty="0">
                <a:solidFill>
                  <a:srgbClr val="1C1B18"/>
                </a:solidFill>
                <a:latin typeface="Avenir Next"/>
              </a:rPr>
              <a:t> </a:t>
            </a:r>
            <a:r>
              <a:rPr lang="en-US" sz="1150" b="1" dirty="0" err="1">
                <a:solidFill>
                  <a:srgbClr val="1C1B18"/>
                </a:solidFill>
                <a:latin typeface="Avenir Next"/>
              </a:rPr>
              <a:t>doküman</a:t>
            </a:r>
            <a:endParaRPr lang="en-US" sz="1150" b="1" dirty="0">
              <a:solidFill>
                <a:srgbClr val="1C1B18"/>
              </a:solidFill>
              <a:latin typeface="Avenir Next"/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2834640" y="3767327"/>
            <a:ext cx="1371600" cy="0"/>
          </a:xfrm>
          <a:prstGeom prst="line">
            <a:avLst/>
          </a:prstGeom>
          <a:ln w="22225">
            <a:solidFill>
              <a:srgbClr val="6B67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206240" y="3246120"/>
            <a:ext cx="3291840" cy="1051560"/>
          </a:xfrm>
          <a:prstGeom prst="roundRect">
            <a:avLst>
              <a:gd name="adj" fmla="val 6000"/>
            </a:avLst>
          </a:prstGeom>
          <a:solidFill>
            <a:srgbClr val="FAECE7"/>
          </a:solidFill>
          <a:ln w="9525">
            <a:solidFill>
              <a:srgbClr val="C04E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434840" y="34290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C04E28"/>
                </a:solidFill>
                <a:latin typeface="Avenir Next"/>
              </a:rPr>
              <a:t>B. Kurum içi model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3776472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C1B18"/>
                </a:solidFill>
                <a:latin typeface="Avenir Next"/>
              </a:rPr>
              <a:t>Model kurum sınırları içinde tutulur</a:t>
            </a:r>
          </a:p>
        </p:txBody>
      </p:sp>
      <p:sp>
        <p:nvSpPr>
          <p:cNvPr id="29" name="&quot;No&quot; Symbol 28"/>
          <p:cNvSpPr/>
          <p:nvPr/>
        </p:nvSpPr>
        <p:spPr>
          <a:xfrm>
            <a:off x="7800747" y="3612794"/>
            <a:ext cx="309067" cy="309067"/>
          </a:xfrm>
          <a:prstGeom prst="noSmoking">
            <a:avLst/>
          </a:prstGeom>
          <a:noFill/>
          <a:ln w="38100">
            <a:solidFill>
              <a:srgbClr val="C04E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732520" y="3483864"/>
            <a:ext cx="2606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C04E28"/>
                </a:solidFill>
                <a:latin typeface="Avenir Next"/>
              </a:rPr>
              <a:t>Maliyet engeli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617720"/>
            <a:ext cx="2011680" cy="1188720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 w="9525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1082193" y="5045660"/>
            <a:ext cx="249631" cy="332841"/>
          </a:xfrm>
          <a:prstGeom prst="rect">
            <a:avLst/>
          </a:prstGeom>
          <a:noFill/>
          <a:ln w="28575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" name="Connector 33"/>
          <p:cNvCxnSpPr/>
          <p:nvPr/>
        </p:nvCxnSpPr>
        <p:spPr>
          <a:xfrm>
            <a:off x="1132119" y="5138855"/>
            <a:ext cx="149779" cy="0"/>
          </a:xfrm>
          <a:prstGeom prst="line">
            <a:avLst/>
          </a:prstGeom>
          <a:ln w="22225">
            <a:solidFill>
              <a:srgbClr val="0F6E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32119" y="5205423"/>
            <a:ext cx="149779" cy="0"/>
          </a:xfrm>
          <a:prstGeom prst="line">
            <a:avLst/>
          </a:prstGeom>
          <a:ln w="22225">
            <a:solidFill>
              <a:srgbClr val="0F6E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132119" y="5271991"/>
            <a:ext cx="149779" cy="0"/>
          </a:xfrm>
          <a:prstGeom prst="line">
            <a:avLst/>
          </a:prstGeom>
          <a:ln w="22225">
            <a:solidFill>
              <a:srgbClr val="0F6E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536192" y="4928616"/>
            <a:ext cx="123444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50" b="1" dirty="0" err="1">
                <a:solidFill>
                  <a:srgbClr val="1C1B18"/>
                </a:solidFill>
                <a:latin typeface="Avenir Next"/>
              </a:rPr>
              <a:t>Hassas</a:t>
            </a:r>
            <a:r>
              <a:rPr lang="en-US" sz="1150" b="1" dirty="0">
                <a:solidFill>
                  <a:srgbClr val="1C1B18"/>
                </a:solidFill>
                <a:latin typeface="Avenir Next"/>
              </a:rPr>
              <a:t> </a:t>
            </a:r>
            <a:r>
              <a:rPr lang="en-US" sz="1150" b="1" dirty="0" err="1">
                <a:solidFill>
                  <a:srgbClr val="1C1B18"/>
                </a:solidFill>
                <a:latin typeface="Avenir Next"/>
              </a:rPr>
              <a:t>bilgi</a:t>
            </a:r>
            <a:r>
              <a:rPr lang="en-US" sz="1150" b="1" dirty="0">
                <a:solidFill>
                  <a:srgbClr val="1C1B18"/>
                </a:solidFill>
                <a:latin typeface="Avenir Next"/>
              </a:rPr>
              <a:t> </a:t>
            </a:r>
            <a:r>
              <a:rPr lang="en-US" sz="1150" b="1" dirty="0" err="1">
                <a:solidFill>
                  <a:srgbClr val="1C1B18"/>
                </a:solidFill>
                <a:latin typeface="Avenir Next"/>
              </a:rPr>
              <a:t>içeren</a:t>
            </a:r>
            <a:r>
              <a:rPr lang="en-US" sz="1150" b="1" dirty="0">
                <a:solidFill>
                  <a:srgbClr val="1C1B18"/>
                </a:solidFill>
                <a:latin typeface="Avenir Next"/>
              </a:rPr>
              <a:t> </a:t>
            </a:r>
            <a:r>
              <a:rPr lang="en-US" sz="1150" b="1" dirty="0" err="1">
                <a:solidFill>
                  <a:srgbClr val="1C1B18"/>
                </a:solidFill>
                <a:latin typeface="Avenir Next"/>
              </a:rPr>
              <a:t>doküman</a:t>
            </a:r>
            <a:endParaRPr lang="en-US" sz="1150" b="1" dirty="0">
              <a:solidFill>
                <a:srgbClr val="1C1B18"/>
              </a:solidFill>
              <a:latin typeface="Avenir Next"/>
            </a:endParaRPr>
          </a:p>
        </p:txBody>
      </p:sp>
      <p:cxnSp>
        <p:nvCxnSpPr>
          <p:cNvPr id="38" name="Connector 37"/>
          <p:cNvCxnSpPr/>
          <p:nvPr/>
        </p:nvCxnSpPr>
        <p:spPr>
          <a:xfrm>
            <a:off x="2834640" y="5212080"/>
            <a:ext cx="1371600" cy="0"/>
          </a:xfrm>
          <a:prstGeom prst="line">
            <a:avLst/>
          </a:prstGeom>
          <a:ln w="28575">
            <a:solidFill>
              <a:srgbClr val="0F6E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4206240" y="4617720"/>
            <a:ext cx="3291840" cy="1188720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 w="9525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434840" y="4818888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F6E56"/>
                </a:solidFill>
                <a:latin typeface="Avenir Next"/>
              </a:rPr>
              <a:t>C. Screenwall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4840" y="5184648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B18"/>
                </a:solidFill>
                <a:latin typeface="Avenir Next"/>
              </a:rPr>
              <a:t>Hassas bilgi dokümandan ayrılır,
yerine anonim etiketler geçer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879386" y="5113325"/>
            <a:ext cx="87783" cy="98755"/>
          </a:xfrm>
          <a:prstGeom prst="line">
            <a:avLst/>
          </a:prstGeom>
          <a:ln w="50800">
            <a:solidFill>
              <a:srgbClr val="0F6E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7967169" y="5025543"/>
            <a:ext cx="142645" cy="186537"/>
          </a:xfrm>
          <a:prstGeom prst="line">
            <a:avLst/>
          </a:prstGeom>
          <a:ln w="50800">
            <a:solidFill>
              <a:srgbClr val="0F6E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8686800" y="4617720"/>
            <a:ext cx="2606040" cy="1188720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 w="9525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915400" y="4873752"/>
            <a:ext cx="2240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6E56"/>
                </a:solidFill>
                <a:latin typeface="Avenir Next"/>
              </a:rPr>
              <a:t>Claude · ChatGPT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15400" y="523951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75C"/>
                </a:solidFill>
                <a:latin typeface="Avenir Next"/>
              </a:rPr>
              <a:t>Tam kapasiteyle kullanılır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675C"/>
                </a:solidFill>
                <a:latin typeface="Avenir Next"/>
              </a:rPr>
              <a:t>Screenwall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5568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675C"/>
                </a:solidFill>
                <a:latin typeface="Avenir Next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C1B18"/>
                </a:solidFill>
                <a:latin typeface="Georgia"/>
              </a:rPr>
              <a:t>Nasıl çalışır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88720"/>
            <a:ext cx="822960" cy="3175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1508760"/>
            <a:ext cx="233172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835201" y="1944015"/>
            <a:ext cx="307238" cy="409651"/>
          </a:xfrm>
          <a:prstGeom prst="rect">
            <a:avLst/>
          </a:prstGeom>
          <a:noFill/>
          <a:ln w="28575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1896648" y="2058717"/>
            <a:ext cx="184344" cy="0"/>
          </a:xfrm>
          <a:prstGeom prst="line">
            <a:avLst/>
          </a:prstGeom>
          <a:ln w="22225">
            <a:solidFill>
              <a:srgbClr val="0F6E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896648" y="2140647"/>
            <a:ext cx="184344" cy="0"/>
          </a:xfrm>
          <a:prstGeom prst="line">
            <a:avLst/>
          </a:prstGeom>
          <a:ln w="22225">
            <a:solidFill>
              <a:srgbClr val="0F6E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96648" y="2222577"/>
            <a:ext cx="184344" cy="0"/>
          </a:xfrm>
          <a:prstGeom prst="line">
            <a:avLst/>
          </a:prstGeom>
          <a:ln w="22225">
            <a:solidFill>
              <a:srgbClr val="0F6E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60120" y="260604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C1B18"/>
                </a:solidFill>
                <a:latin typeface="Avenir Next"/>
              </a:rPr>
              <a:t>Yükleme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880360"/>
            <a:ext cx="2057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B675C"/>
                </a:solidFill>
                <a:latin typeface="Avenir Next"/>
              </a:rPr>
              <a:t>PDF, DOCX, XLSX — olduğu gibi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1508760"/>
            <a:ext cx="233172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373211" y="1945479"/>
            <a:ext cx="336499" cy="336499"/>
          </a:xfrm>
          <a:prstGeom prst="ellipse">
            <a:avLst/>
          </a:prstGeom>
          <a:noFill/>
          <a:ln w="381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4" name="Connector 13"/>
          <p:cNvCxnSpPr/>
          <p:nvPr/>
        </p:nvCxnSpPr>
        <p:spPr>
          <a:xfrm>
            <a:off x="4650601" y="2222869"/>
            <a:ext cx="160934" cy="160934"/>
          </a:xfrm>
          <a:prstGeom prst="line">
            <a:avLst/>
          </a:prstGeom>
          <a:ln w="50800">
            <a:solidFill>
              <a:srgbClr val="0F6E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547872" y="260604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C1B18"/>
                </a:solidFill>
                <a:latin typeface="Avenir Next"/>
              </a:rPr>
              <a:t>Çıkarım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2880360"/>
            <a:ext cx="2057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6B675C"/>
                </a:solidFill>
                <a:latin typeface="Avenir Next"/>
              </a:rPr>
              <a:t>Yapı korunarak metne çevrilir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98464" y="1508760"/>
            <a:ext cx="2350008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Pentagon 17"/>
          <p:cNvSpPr/>
          <p:nvPr/>
        </p:nvSpPr>
        <p:spPr>
          <a:xfrm rot="10800000">
            <a:off x="6930238" y="1891346"/>
            <a:ext cx="468172" cy="514989"/>
          </a:xfrm>
          <a:prstGeom prst="homePlate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35624" y="260604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C1B18"/>
                </a:solidFill>
                <a:latin typeface="Avenir Next"/>
              </a:rPr>
              <a:t>Tespit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85632" y="1508760"/>
            <a:ext cx="2898648" cy="1600200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 w="9525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545804" y="1645920"/>
            <a:ext cx="402336" cy="402336"/>
          </a:xfrm>
          <a:prstGeom prst="ellipse">
            <a:avLst/>
          </a:prstGeom>
          <a:noFill/>
          <a:ln w="1905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45804" y="1690178"/>
            <a:ext cx="402336" cy="402336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ctr"/>
            <a:r>
              <a:rPr sz="2000" b="1" dirty="0">
                <a:solidFill>
                  <a:srgbClr val="0F6E56"/>
                </a:solidFill>
              </a:rPr>
              <a:t>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169164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err="1">
                <a:solidFill>
                  <a:srgbClr val="0F6E56"/>
                </a:solidFill>
                <a:latin typeface="Avenir Next"/>
              </a:rPr>
              <a:t>Denetim</a:t>
            </a:r>
            <a:r>
              <a:rPr sz="1300" b="1" i="0" dirty="0">
                <a:solidFill>
                  <a:srgbClr val="0F6E56"/>
                </a:solidFill>
                <a:latin typeface="Avenir Next"/>
              </a:rPr>
              <a:t> </a:t>
            </a:r>
            <a:r>
              <a:rPr sz="1300" b="1" i="0" dirty="0" err="1">
                <a:solidFill>
                  <a:srgbClr val="0F6E56"/>
                </a:solidFill>
                <a:latin typeface="Avenir Next"/>
              </a:rPr>
              <a:t>döngüsü</a:t>
            </a:r>
            <a:endParaRPr sz="1300" b="1" i="0" dirty="0">
              <a:solidFill>
                <a:srgbClr val="0F6E56"/>
              </a:solidFill>
              <a:latin typeface="Avenir Next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485632" y="2148840"/>
            <a:ext cx="276148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 err="1">
                <a:solidFill>
                  <a:srgbClr val="1C1B18"/>
                </a:solidFill>
                <a:latin typeface="Avenir Next"/>
              </a:rPr>
              <a:t>Lokal LLM maskelenmiş kopyayı okur: temiz mi? Değilse bir onarım turu yapar.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3429000"/>
            <a:ext cx="105156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1412383" y="3834994"/>
            <a:ext cx="192755" cy="192755"/>
          </a:xfrm>
          <a:prstGeom prst="ellipse">
            <a:avLst/>
          </a:prstGeom>
          <a:solidFill>
            <a:srgbClr val="C04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1314450" y="4089929"/>
            <a:ext cx="388620" cy="264261"/>
          </a:xfrm>
          <a:prstGeom prst="roundRect">
            <a:avLst/>
          </a:prstGeom>
          <a:solidFill>
            <a:srgbClr val="C04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057400" y="3611880"/>
            <a:ext cx="8961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C1B18"/>
                </a:solidFill>
                <a:latin typeface="Avenir Next"/>
              </a:rPr>
              <a:t>Emin değilse, karar kullanıcının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3977639"/>
            <a:ext cx="9052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675C"/>
                </a:solidFill>
                <a:latin typeface="Avenir Next"/>
              </a:rPr>
              <a:t>Denetçi temiz demezse ya da hiç cevap vermezse, sistem kendi kendine onay vermez.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4279392"/>
            <a:ext cx="9052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675C"/>
                </a:solidFill>
                <a:latin typeface="Avenir Next"/>
              </a:rPr>
              <a:t>Belge inceleme ekranına düşer — belirsizlikte son söz her zaman kullanıcının.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074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 err="1">
                <a:solidFill>
                  <a:srgbClr val="6B675C"/>
                </a:solidFill>
                <a:latin typeface="Avenir Next"/>
              </a:rPr>
              <a:t>Onaylanan</a:t>
            </a:r>
            <a:r>
              <a:rPr sz="1300" b="0" i="0" dirty="0">
                <a:solidFill>
                  <a:srgbClr val="6B675C"/>
                </a:solidFill>
                <a:latin typeface="Avenir Next"/>
              </a:rPr>
              <a:t> </a:t>
            </a:r>
            <a:r>
              <a:rPr sz="1300" b="0" i="0" dirty="0" err="1">
                <a:solidFill>
                  <a:srgbClr val="6B675C"/>
                </a:solidFill>
                <a:latin typeface="Avenir Next"/>
              </a:rPr>
              <a:t>belge</a:t>
            </a:r>
            <a:r>
              <a:rPr sz="1300" b="0" i="0" dirty="0">
                <a:solidFill>
                  <a:srgbClr val="6B675C"/>
                </a:solidFill>
                <a:latin typeface="Avenir Next"/>
              </a:rPr>
              <a:t>, </a:t>
            </a:r>
            <a:r>
              <a:rPr sz="1300" b="0" i="0" dirty="0" err="1">
                <a:solidFill>
                  <a:srgbClr val="6B675C"/>
                </a:solidFill>
                <a:latin typeface="Avenir Next"/>
              </a:rPr>
              <a:t>sadece</a:t>
            </a:r>
            <a:r>
              <a:rPr sz="1300" b="0" i="0" dirty="0">
                <a:solidFill>
                  <a:srgbClr val="6B675C"/>
                </a:solidFill>
                <a:latin typeface="Avenir Next"/>
              </a:rPr>
              <a:t> </a:t>
            </a:r>
            <a:r>
              <a:rPr sz="1300" b="0" i="0" dirty="0" err="1">
                <a:solidFill>
                  <a:srgbClr val="6B675C"/>
                </a:solidFill>
                <a:latin typeface="Avenir Next"/>
              </a:rPr>
              <a:t>maskelenmiş</a:t>
            </a:r>
            <a:r>
              <a:rPr sz="1300" b="0" i="0" dirty="0">
                <a:solidFill>
                  <a:srgbClr val="6B675C"/>
                </a:solidFill>
                <a:latin typeface="Avenir Next"/>
              </a:rPr>
              <a:t> </a:t>
            </a:r>
            <a:r>
              <a:rPr sz="1300" b="0" i="0" dirty="0" err="1">
                <a:solidFill>
                  <a:srgbClr val="6B675C"/>
                </a:solidFill>
                <a:latin typeface="Avenir Next"/>
              </a:rPr>
              <a:t>içerikten</a:t>
            </a:r>
            <a:r>
              <a:rPr sz="1300" b="0" i="0" dirty="0">
                <a:solidFill>
                  <a:srgbClr val="6B675C"/>
                </a:solidFill>
                <a:latin typeface="Avenir Next"/>
              </a:rPr>
              <a:t> </a:t>
            </a:r>
            <a:r>
              <a:rPr sz="1300" b="0" i="0" dirty="0" err="1">
                <a:solidFill>
                  <a:srgbClr val="6B675C"/>
                </a:solidFill>
                <a:latin typeface="Avenir Next"/>
              </a:rPr>
              <a:t>yeniden</a:t>
            </a:r>
            <a:r>
              <a:rPr sz="1300" b="0" i="0" dirty="0">
                <a:solidFill>
                  <a:srgbClr val="6B675C"/>
                </a:solidFill>
                <a:latin typeface="Avenir Next"/>
              </a:rPr>
              <a:t> </a:t>
            </a:r>
            <a:r>
              <a:rPr sz="1300" b="0" i="0" dirty="0" err="1">
                <a:solidFill>
                  <a:srgbClr val="6B675C"/>
                </a:solidFill>
                <a:latin typeface="Avenir Next"/>
              </a:rPr>
              <a:t>üretilen</a:t>
            </a:r>
            <a:r>
              <a:rPr sz="1300" b="0" i="0" dirty="0">
                <a:solidFill>
                  <a:srgbClr val="6B675C"/>
                </a:solidFill>
                <a:latin typeface="Avenir Next"/>
              </a:rPr>
              <a:t> </a:t>
            </a:r>
            <a:r>
              <a:rPr sz="1300" b="0" i="0" dirty="0" err="1">
                <a:solidFill>
                  <a:srgbClr val="6B675C"/>
                </a:solidFill>
                <a:latin typeface="Avenir Next"/>
              </a:rPr>
              <a:t>bir</a:t>
            </a:r>
            <a:r>
              <a:rPr sz="1300" b="0" i="0" dirty="0">
                <a:solidFill>
                  <a:srgbClr val="6B675C"/>
                </a:solidFill>
                <a:latin typeface="Avenir Next"/>
              </a:rPr>
              <a:t> </a:t>
            </a:r>
            <a:r>
              <a:rPr sz="1300" b="0" i="0" dirty="0" err="1">
                <a:solidFill>
                  <a:srgbClr val="6B675C"/>
                </a:solidFill>
                <a:latin typeface="Avenir Next"/>
              </a:rPr>
              <a:t>dosya</a:t>
            </a:r>
            <a:r>
              <a:rPr sz="1300" b="0" i="0" dirty="0">
                <a:solidFill>
                  <a:srgbClr val="6B675C"/>
                </a:solidFill>
                <a:latin typeface="Avenir Next"/>
              </a:rPr>
              <a:t> </a:t>
            </a:r>
            <a:r>
              <a:rPr sz="1300" b="0" i="0" dirty="0" err="1">
                <a:solidFill>
                  <a:srgbClr val="6B675C"/>
                </a:solidFill>
                <a:latin typeface="Avenir Next"/>
              </a:rPr>
              <a:t>olarak</a:t>
            </a:r>
            <a:r>
              <a:rPr sz="1300" b="0" i="0" dirty="0">
                <a:solidFill>
                  <a:srgbClr val="6B675C"/>
                </a:solidFill>
                <a:latin typeface="Avenir Next"/>
              </a:rPr>
              <a:t> size döner 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3492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675C"/>
                </a:solidFill>
                <a:latin typeface="Avenir Next"/>
              </a:rPr>
              <a:t>orijinal belge hiçbir zaman yeniden paylaşılmaz.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675C"/>
                </a:solidFill>
                <a:latin typeface="Avenir Next"/>
              </a:rPr>
              <a:t>Screenwall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675C"/>
                </a:solidFill>
                <a:latin typeface="Avenir Next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C1B18"/>
                </a:solidFill>
                <a:latin typeface="Georgia"/>
              </a:rPr>
              <a:t>3 katmanlı koruma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15568"/>
            <a:ext cx="822960" cy="3175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298448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675C"/>
                </a:solidFill>
                <a:latin typeface="Avenir Next"/>
              </a:rPr>
              <a:t>Her katman farklı bir şeyi yakalar. Biri kaçırırsa diğeri devreye girer — üçü birbirinin yedeği değil, tamamlayıcısıdır.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105156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250900" y="2165300"/>
            <a:ext cx="332841" cy="332841"/>
          </a:xfrm>
          <a:prstGeom prst="roundRect">
            <a:avLst/>
          </a:prstGeom>
          <a:noFill/>
          <a:ln w="28575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" name="Connector 7"/>
          <p:cNvCxnSpPr/>
          <p:nvPr/>
        </p:nvCxnSpPr>
        <p:spPr>
          <a:xfrm>
            <a:off x="1361847" y="2165303"/>
            <a:ext cx="0" cy="332834"/>
          </a:xfrm>
          <a:prstGeom prst="line">
            <a:avLst/>
          </a:prstGeom>
          <a:ln w="19050">
            <a:solidFill>
              <a:srgbClr val="0F6E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250903" y="2276247"/>
            <a:ext cx="332834" cy="0"/>
          </a:xfrm>
          <a:prstGeom prst="line">
            <a:avLst/>
          </a:prstGeom>
          <a:ln w="19050">
            <a:solidFill>
              <a:srgbClr val="0F6E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472794" y="2165303"/>
            <a:ext cx="0" cy="332834"/>
          </a:xfrm>
          <a:prstGeom prst="line">
            <a:avLst/>
          </a:prstGeom>
          <a:ln w="19050">
            <a:solidFill>
              <a:srgbClr val="0F6E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250903" y="2387194"/>
            <a:ext cx="332834" cy="0"/>
          </a:xfrm>
          <a:prstGeom prst="line">
            <a:avLst/>
          </a:prstGeom>
          <a:ln w="19050">
            <a:solidFill>
              <a:srgbClr val="0F6E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965960" y="1911096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6E56"/>
                </a:solidFill>
                <a:latin typeface="Avenir Next"/>
              </a:rPr>
              <a:t>① Presidio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240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B675C"/>
                </a:solidFill>
                <a:latin typeface="Avenir Next"/>
              </a:rPr>
              <a:t>Microsoft · açık kaynak (MIT)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929384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B18"/>
                </a:solidFill>
                <a:latin typeface="Avenir Next"/>
              </a:rPr>
              <a:t>Hassas bilgi tarama motoru. Kural tabanlı kalıplar ile yapay zekâ tabanlı varlık tanımayı birlikte kullanır.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386584"/>
            <a:ext cx="6583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75C"/>
                </a:solidFill>
                <a:latin typeface="Avenir Next"/>
              </a:rPr>
              <a:t>TC kimlik (doğrulama algoritmasıyla), VKN, IBAN, GSM, plaka, pasaport için Türkiye'ye özgü tanıyıcıları biz ekledik.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374136"/>
            <a:ext cx="105156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270102" y="3775558"/>
            <a:ext cx="294436" cy="294436"/>
          </a:xfrm>
          <a:prstGeom prst="roundRect">
            <a:avLst/>
          </a:prstGeom>
          <a:noFill/>
          <a:ln w="28575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8" name="Connector 17"/>
          <p:cNvCxnSpPr/>
          <p:nvPr/>
        </p:nvCxnSpPr>
        <p:spPr>
          <a:xfrm>
            <a:off x="1213775" y="3834446"/>
            <a:ext cx="56327" cy="0"/>
          </a:xfrm>
          <a:prstGeom prst="line">
            <a:avLst/>
          </a:prstGeom>
          <a:ln w="22225">
            <a:solidFill>
              <a:srgbClr val="0F6E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564538" y="3834446"/>
            <a:ext cx="56327" cy="0"/>
          </a:xfrm>
          <a:prstGeom prst="line">
            <a:avLst/>
          </a:prstGeom>
          <a:ln w="22225">
            <a:solidFill>
              <a:srgbClr val="0F6E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213775" y="3922776"/>
            <a:ext cx="56327" cy="0"/>
          </a:xfrm>
          <a:prstGeom prst="line">
            <a:avLst/>
          </a:prstGeom>
          <a:ln w="22225">
            <a:solidFill>
              <a:srgbClr val="0F6E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564538" y="3922776"/>
            <a:ext cx="56327" cy="0"/>
          </a:xfrm>
          <a:prstGeom prst="line">
            <a:avLst/>
          </a:prstGeom>
          <a:ln w="22225">
            <a:solidFill>
              <a:srgbClr val="0F6E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213775" y="4011106"/>
            <a:ext cx="56327" cy="0"/>
          </a:xfrm>
          <a:prstGeom prst="line">
            <a:avLst/>
          </a:prstGeom>
          <a:ln w="22225">
            <a:solidFill>
              <a:srgbClr val="0F6E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564538" y="4011106"/>
            <a:ext cx="56327" cy="0"/>
          </a:xfrm>
          <a:prstGeom prst="line">
            <a:avLst/>
          </a:prstGeom>
          <a:ln w="22225">
            <a:solidFill>
              <a:srgbClr val="0F6E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965960" y="3502152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6E56"/>
                </a:solidFill>
                <a:latin typeface="Avenir Next"/>
              </a:rPr>
              <a:t>② Lokal LLM denetçisi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383133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B675C"/>
                </a:solidFill>
                <a:latin typeface="Avenir Next"/>
              </a:rPr>
              <a:t>Qwen 3.5 4B · açık ağırlıklı (Apache-2.0)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52044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B18"/>
                </a:solidFill>
                <a:latin typeface="Avenir Next"/>
              </a:rPr>
              <a:t>Maskelenmiş kopyayı ikinci bir göz olarak okur; kalıntı bulursa bir onarım turu başlatır.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3977640"/>
            <a:ext cx="6583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75C"/>
                </a:solidFill>
                <a:latin typeface="Avenir Next"/>
              </a:rPr>
              <a:t>Ollama ile bu bilgisayarda çalışır, internete bağlanmaz. Denetçi çalışmadıysa ya da temiz demediyse belge kendiliğinden onaylanmaz — karar kullanıcıya kalır.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4965192"/>
            <a:ext cx="105156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&quot;No&quot; Symbol 28"/>
          <p:cNvSpPr/>
          <p:nvPr/>
        </p:nvSpPr>
        <p:spPr>
          <a:xfrm>
            <a:off x="1250900" y="5347412"/>
            <a:ext cx="332841" cy="332841"/>
          </a:xfrm>
          <a:prstGeom prst="noSmoking">
            <a:avLst/>
          </a:prstGeom>
          <a:noFill/>
          <a:ln w="38100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965960" y="509320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F6E56"/>
                </a:solidFill>
                <a:latin typeface="Avenir Next"/>
              </a:rPr>
              <a:t>③ Kurum listeleri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65960" y="54223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B675C"/>
                </a:solidFill>
                <a:latin typeface="Avenir Next"/>
              </a:rPr>
              <a:t>Kurumun kendisi tanımlar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5111496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C1B18"/>
                </a:solidFill>
                <a:latin typeface="Avenir Next"/>
              </a:rPr>
              <a:t>“Her zaman maskele” ve “asla maskeleme” listeleri. Ayarlar'dan ya da inceleme ekranından tek tıkla yönetilir.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5568696"/>
            <a:ext cx="6583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75C"/>
                </a:solidFill>
                <a:latin typeface="Avenir Next"/>
              </a:rPr>
              <a:t>Marka, fon veya proje kod adı gibi hiçbir genel modelin bilemeyeceği özel terimler — bu katman olmadan tespit edilemezler.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675C"/>
                </a:solidFill>
                <a:latin typeface="Avenir Next"/>
              </a:rPr>
              <a:t>Screenwall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675C"/>
                </a:solidFill>
                <a:latin typeface="Avenir Next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C1B18"/>
                </a:solidFill>
                <a:latin typeface="Georgia"/>
              </a:rPr>
              <a:t>İki mod — ve kanundaki karşılığı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15568"/>
            <a:ext cx="822960" cy="3175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1325880"/>
            <a:ext cx="10515600" cy="1051560"/>
          </a:xfrm>
          <a:prstGeom prst="roundRect">
            <a:avLst>
              <a:gd name="adj" fmla="val 6000"/>
            </a:avLst>
          </a:prstGeom>
          <a:solidFill>
            <a:srgbClr val="F3F1E9"/>
          </a:solidFill>
          <a:ln w="9525">
            <a:solidFill>
              <a:srgbClr val="E3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426464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C1B18"/>
                </a:solidFill>
                <a:latin typeface="Avenir Next"/>
              </a:rPr>
              <a:t>KVKK m.3/1-(b) — anonim hâle getirme:  kişisel verilerin, başka verilerle eşleştirilerek dahi hiçbir surette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673352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C1B18"/>
                </a:solidFill>
                <a:latin typeface="Avenir Next"/>
              </a:rPr>
              <a:t>kimliği belirli veya belirlenebilir bir gerçek kişiyle ilişkilendirilemeyecek hâle getirilmesi.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560320"/>
            <a:ext cx="5029200" cy="3429000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 w="9525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Left-Right Arrow 9"/>
          <p:cNvSpPr/>
          <p:nvPr/>
        </p:nvSpPr>
        <p:spPr>
          <a:xfrm>
            <a:off x="1212495" y="2894991"/>
            <a:ext cx="409651" cy="153619"/>
          </a:xfrm>
          <a:prstGeom prst="leftRightArrow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783080" y="27432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F6E56"/>
                </a:solidFill>
                <a:latin typeface="Avenir Next"/>
              </a:rPr>
              <a:t>Takma ad modu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703320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1C1B18"/>
                </a:solidFill>
                <a:latin typeface="Avenir Next"/>
              </a:rPr>
              <a:t>Orijinal belge ve eşleme tablosu saklanır.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1C1B18"/>
                </a:solidFill>
                <a:latin typeface="Avenir Next"/>
              </a:rPr>
              <a:t>Yetkili biri gerektiğinde geri açabilir.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4709160"/>
            <a:ext cx="448056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25880" y="48280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F6E56"/>
                </a:solidFill>
                <a:latin typeface="Avenir Next"/>
              </a:rPr>
              <a:t>Hukuki nitelik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507492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B18"/>
                </a:solidFill>
                <a:latin typeface="Avenir Next"/>
              </a:rPr>
              <a:t>Kişisel veri olmaya devam eder — KVKK yükümlülükleri sürer.
GDPR Res. 26 · m.4(5) ile aynı yönde.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560320"/>
            <a:ext cx="5029200" cy="3429000"/>
          </a:xfrm>
          <a:prstGeom prst="roundRect">
            <a:avLst>
              <a:gd name="adj" fmla="val 6000"/>
            </a:avLst>
          </a:prstGeom>
          <a:solidFill>
            <a:srgbClr val="FAECE7"/>
          </a:solidFill>
          <a:ln w="9525">
            <a:solidFill>
              <a:srgbClr val="C04E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ight Arrow 17"/>
          <p:cNvSpPr/>
          <p:nvPr/>
        </p:nvSpPr>
        <p:spPr>
          <a:xfrm>
            <a:off x="6737300" y="2894991"/>
            <a:ext cx="332841" cy="153619"/>
          </a:xfrm>
          <a:prstGeom prst="rightArrow">
            <a:avLst/>
          </a:prstGeom>
          <a:solidFill>
            <a:srgbClr val="C04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057339" y="2830983"/>
            <a:ext cx="38404" cy="281635"/>
          </a:xfrm>
          <a:prstGeom prst="rect">
            <a:avLst/>
          </a:prstGeom>
          <a:solidFill>
            <a:srgbClr val="C04E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269480" y="27432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C04E28"/>
                </a:solidFill>
                <a:latin typeface="Avenir Next"/>
              </a:rPr>
              <a:t>Geri döndürülemez mod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703320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1C1B18"/>
                </a:solidFill>
                <a:latin typeface="Avenir Next"/>
              </a:rPr>
              <a:t>Orijinal belge ve eşleme hiç diske yazılmaz.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1C1B18"/>
                </a:solidFill>
                <a:latin typeface="Avenir Next"/>
              </a:rPr>
              <a:t>Geri dönüş fiziksel olarak imkânsızdır.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4709160"/>
            <a:ext cx="448056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04E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12280" y="48280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C04E28"/>
                </a:solidFill>
                <a:latin typeface="Avenir Next"/>
              </a:rPr>
              <a:t>Hukuki nitelik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5074920"/>
            <a:ext cx="4023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C1B18"/>
                </a:solidFill>
                <a:latin typeface="Avenir Next"/>
              </a:rPr>
              <a:t>Eksiksiz maskelenirse KVKK m.3 anlamında anonim veri.
m.7 uyarınca imha yükümlülüğünün karşılanma yolu.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108192"/>
            <a:ext cx="10424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B675C"/>
                </a:solidFill>
                <a:latin typeface="Avenir Next"/>
              </a:rPr>
              <a:t>Dayanak: 6698 sayılı KVKK m.3/1-(b), m.7, m.28/1-(b) · Silme, Yok Etme veya Anonim Hâle Getirme Yönetmeliği (RG 28.10.2017/30224)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675C"/>
                </a:solidFill>
                <a:latin typeface="Avenir Next"/>
              </a:rPr>
              <a:t>Screenwall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675C"/>
                </a:solidFill>
                <a:latin typeface="Avenir Next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C1B18"/>
                </a:solidFill>
                <a:latin typeface="Georgia"/>
              </a:rPr>
              <a:t>Örnek belge — gerçek çıktı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15568"/>
            <a:ext cx="822960" cy="3175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5120640" cy="4069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9019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675C"/>
                </a:solidFill>
                <a:latin typeface="Avenir Next"/>
              </a:rPr>
              <a:t>Girdi — orijinal belge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286000"/>
            <a:ext cx="4663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 b="0">
                <a:solidFill>
                  <a:srgbClr val="1C1B18"/>
                </a:solidFill>
                <a:latin typeface="Menlo"/>
              </a:rPr>
              <a:t>Tedarik sözleşmesi</a:t>
            </a:r>
          </a:p>
          <a:p>
            <a:pPr>
              <a:spcAft>
                <a:spcPts val="100"/>
              </a:spcAft>
            </a:pPr>
            <a:endParaRPr sz="1000" b="0">
              <a:solidFill>
                <a:srgbClr val="1C1B18"/>
              </a:solidFill>
              <a:latin typeface="Menlo"/>
            </a:endParaRPr>
          </a:p>
          <a:p>
            <a:pPr>
              <a:spcAft>
                <a:spcPts val="100"/>
              </a:spcAft>
            </a:pPr>
            <a:r>
              <a:rPr sz="1000" b="0">
                <a:solidFill>
                  <a:srgbClr val="1C1B18"/>
                </a:solidFill>
                <a:latin typeface="Menlo"/>
              </a:rPr>
              <a:t>Müşteri:   Örnek Lojistik A.Ş.</a:t>
            </a:r>
          </a:p>
          <a:p>
            <a:pPr>
              <a:spcAft>
                <a:spcPts val="100"/>
              </a:spcAft>
            </a:pPr>
            <a:r>
              <a:rPr sz="1000" b="0">
                <a:solidFill>
                  <a:srgbClr val="1C1B18"/>
                </a:solidFill>
                <a:latin typeface="Menlo"/>
              </a:rPr>
              <a:t>Yetkili:   Ahmet Yılmaz</a:t>
            </a:r>
          </a:p>
          <a:p>
            <a:pPr>
              <a:spcAft>
                <a:spcPts val="100"/>
              </a:spcAft>
            </a:pPr>
            <a:r>
              <a:rPr sz="1000" b="0">
                <a:solidFill>
                  <a:srgbClr val="1C1B18"/>
                </a:solidFill>
                <a:latin typeface="Menlo"/>
              </a:rPr>
              <a:t>E-posta:   a.yilmaz@ornek.com.tr</a:t>
            </a:r>
          </a:p>
          <a:p>
            <a:pPr>
              <a:spcAft>
                <a:spcPts val="100"/>
              </a:spcAft>
            </a:pPr>
            <a:r>
              <a:rPr sz="1000" b="0">
                <a:solidFill>
                  <a:srgbClr val="1C1B18"/>
                </a:solidFill>
                <a:latin typeface="Menlo"/>
              </a:rPr>
              <a:t>IBAN:      TR33 0006 1005 1978 6457 8413 26</a:t>
            </a:r>
          </a:p>
          <a:p>
            <a:pPr>
              <a:spcAft>
                <a:spcPts val="100"/>
              </a:spcAft>
            </a:pPr>
            <a:r>
              <a:rPr sz="1000" b="0">
                <a:solidFill>
                  <a:srgbClr val="1C1B18"/>
                </a:solidFill>
                <a:latin typeface="Menlo"/>
              </a:rPr>
              <a:t>VKN:       1234567890</a:t>
            </a:r>
          </a:p>
          <a:p>
            <a:pPr>
              <a:spcAft>
                <a:spcPts val="100"/>
              </a:spcAft>
            </a:pPr>
            <a:r>
              <a:rPr sz="1000" b="0">
                <a:solidFill>
                  <a:srgbClr val="1C1B18"/>
                </a:solidFill>
                <a:latin typeface="Menlo"/>
              </a:rPr>
              <a:t>Tutar:     2.400.000 TL</a:t>
            </a:r>
          </a:p>
          <a:p>
            <a:pPr>
              <a:spcAft>
                <a:spcPts val="100"/>
              </a:spcAft>
            </a:pPr>
            <a:endParaRPr sz="1000" b="0">
              <a:solidFill>
                <a:srgbClr val="1C1B18"/>
              </a:solidFill>
              <a:latin typeface="Menlo"/>
            </a:endParaRPr>
          </a:p>
          <a:p>
            <a:pPr>
              <a:spcAft>
                <a:spcPts val="100"/>
              </a:spcAft>
            </a:pPr>
            <a:r>
              <a:rPr sz="1000" b="0">
                <a:solidFill>
                  <a:srgbClr val="1C1B18"/>
                </a:solidFill>
                <a:latin typeface="Menlo"/>
              </a:rPr>
              <a:t>Onaylayan: A. Yılmaz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83080"/>
            <a:ext cx="5120640" cy="4069080"/>
          </a:xfrm>
          <a:prstGeom prst="roundRect">
            <a:avLst>
              <a:gd name="adj" fmla="val 6000"/>
            </a:avLst>
          </a:prstGeom>
          <a:solidFill>
            <a:srgbClr val="EAF3EE"/>
          </a:solidFill>
          <a:ln w="9525">
            <a:solidFill>
              <a:srgbClr val="0F6E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90195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6E56"/>
                </a:solidFill>
                <a:latin typeface="Avenir Next"/>
              </a:rPr>
              <a:t>Çıktı — maskelenmiş metin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286000"/>
            <a:ext cx="4663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 b="0">
                <a:solidFill>
                  <a:srgbClr val="1C1B18"/>
                </a:solidFill>
                <a:latin typeface="Menlo"/>
              </a:rPr>
              <a:t>Tedarik sözleşmesi</a:t>
            </a:r>
          </a:p>
          <a:p>
            <a:pPr>
              <a:spcAft>
                <a:spcPts val="100"/>
              </a:spcAft>
            </a:pPr>
            <a:endParaRPr sz="1000" b="0">
              <a:solidFill>
                <a:srgbClr val="1C1B18"/>
              </a:solidFill>
              <a:latin typeface="Menlo"/>
            </a:endParaRPr>
          </a:p>
          <a:p>
            <a:pPr>
              <a:spcAft>
                <a:spcPts val="100"/>
              </a:spcAft>
            </a:pPr>
            <a:r>
              <a:rPr sz="1000" b="0">
                <a:solidFill>
                  <a:srgbClr val="1C1B18"/>
                </a:solidFill>
                <a:latin typeface="Menlo"/>
              </a:rPr>
              <a:t>Müşteri:   &lt;ORG_1&gt;</a:t>
            </a:r>
          </a:p>
          <a:p>
            <a:pPr>
              <a:spcAft>
                <a:spcPts val="100"/>
              </a:spcAft>
            </a:pPr>
            <a:r>
              <a:rPr sz="1000" b="0">
                <a:solidFill>
                  <a:srgbClr val="1C1B18"/>
                </a:solidFill>
                <a:latin typeface="Menlo"/>
              </a:rPr>
              <a:t>Yetkili:   &lt;PERSON_1&gt;</a:t>
            </a:r>
          </a:p>
          <a:p>
            <a:pPr>
              <a:spcAft>
                <a:spcPts val="100"/>
              </a:spcAft>
            </a:pPr>
            <a:r>
              <a:rPr sz="1000" b="0">
                <a:solidFill>
                  <a:srgbClr val="1C1B18"/>
                </a:solidFill>
                <a:latin typeface="Menlo"/>
              </a:rPr>
              <a:t>E-posta:   &lt;EMAIL_1&gt;</a:t>
            </a:r>
          </a:p>
          <a:p>
            <a:pPr>
              <a:spcAft>
                <a:spcPts val="100"/>
              </a:spcAft>
            </a:pPr>
            <a:r>
              <a:rPr sz="1000" b="0">
                <a:solidFill>
                  <a:srgbClr val="1C1B18"/>
                </a:solidFill>
                <a:latin typeface="Menlo"/>
              </a:rPr>
              <a:t>IBAN:      &lt;IBAN_1&gt;</a:t>
            </a:r>
          </a:p>
          <a:p>
            <a:pPr>
              <a:spcAft>
                <a:spcPts val="100"/>
              </a:spcAft>
            </a:pPr>
            <a:r>
              <a:rPr sz="1000" b="0">
                <a:solidFill>
                  <a:srgbClr val="1C1B18"/>
                </a:solidFill>
                <a:latin typeface="Menlo"/>
              </a:rPr>
              <a:t>VKN:       &lt;VKN_1&gt;</a:t>
            </a:r>
          </a:p>
          <a:p>
            <a:pPr>
              <a:spcAft>
                <a:spcPts val="100"/>
              </a:spcAft>
            </a:pPr>
            <a:r>
              <a:rPr sz="1000" b="0">
                <a:solidFill>
                  <a:srgbClr val="1C1B18"/>
                </a:solidFill>
                <a:latin typeface="Menlo"/>
              </a:rPr>
              <a:t>Tutar:     2.400.000 TL</a:t>
            </a:r>
          </a:p>
          <a:p>
            <a:pPr>
              <a:spcAft>
                <a:spcPts val="100"/>
              </a:spcAft>
            </a:pPr>
            <a:endParaRPr sz="1000" b="0">
              <a:solidFill>
                <a:srgbClr val="1C1B18"/>
              </a:solidFill>
              <a:latin typeface="Menlo"/>
            </a:endParaRPr>
          </a:p>
          <a:p>
            <a:pPr>
              <a:spcAft>
                <a:spcPts val="100"/>
              </a:spcAft>
            </a:pPr>
            <a:r>
              <a:rPr sz="1000" b="0">
                <a:solidFill>
                  <a:srgbClr val="1C1B18"/>
                </a:solidFill>
                <a:latin typeface="Menlo"/>
              </a:rPr>
              <a:t>Onaylayan: &lt;PERSON_2&gt;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43600" y="3794760"/>
            <a:ext cx="274320" cy="0"/>
          </a:xfrm>
          <a:prstGeom prst="line">
            <a:avLst/>
          </a:prstGeom>
          <a:ln w="28575">
            <a:solidFill>
              <a:srgbClr val="0F6E5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594360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675C"/>
                </a:solidFill>
                <a:latin typeface="Avenir Next"/>
              </a:rPr>
              <a:t>Müşteri, yetkili, e-posta, IBAN ve VKN etikete dönüşür; alan adları ve tutar açık kalır — metin okunur, taraflar tanınmaz.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675C"/>
                </a:solidFill>
                <a:latin typeface="Avenir Next"/>
              </a:rPr>
              <a:t>Screenwall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675C"/>
                </a:solidFill>
                <a:latin typeface="Avenir Next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C1B18"/>
                </a:solidFill>
                <a:latin typeface="Georgia"/>
              </a:rPr>
              <a:t>İnceleme ekranı — her maskenin bir nedeni var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15568"/>
            <a:ext cx="822960" cy="2743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14"/>
          <p:cNvSpPr txBox="1"/>
          <p:nvPr/>
        </p:nvSpPr>
        <p:spPr>
          <a:xfrm>
            <a:off x="54864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675C"/>
                </a:solidFill>
                <a:latin typeface="Avenir Next"/>
              </a:rPr>
              <a:t>Screenwall</a:t>
            </a:r>
          </a:p>
        </p:txBody>
      </p:sp>
      <p:sp>
        <p:nvSpPr>
          <p:cNvPr id="6" name="TextBox 15"/>
          <p:cNvSpPr txBox="1"/>
          <p:nvPr/>
        </p:nvSpPr>
        <p:spPr>
          <a:xfrm>
            <a:off x="1115568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675C"/>
                </a:solidFill>
                <a:latin typeface="Avenir Next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98448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675C"/>
                </a:solidFill>
                <a:latin typeface="Avenir Next"/>
              </a:rPr>
              <a:t>Orijinal ve maskeli metin yan yana. Her kararın gerekçesi görünür, her karar tek tıkla geri alınır.</a:t>
            </a:r>
          </a:p>
        </p:txBody>
      </p:sp>
      <p:pic>
        <p:nvPicPr>
          <p:cNvPr id="8" name="Picture 7" descr="review-1440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74519"/>
            <a:ext cx="6675120" cy="4171950"/>
          </a:xfrm>
          <a:prstGeom prst="rect">
            <a:avLst/>
          </a:prstGeom>
          <a:ln w="9525">
            <a:solidFill>
              <a:srgbClr val="E3DFD3"/>
            </a:solidFill>
          </a:ln>
        </p:spPr>
      </p:pic>
      <p:sp>
        <p:nvSpPr>
          <p:cNvPr id="9" name="Oval 8"/>
          <p:cNvSpPr/>
          <p:nvPr/>
        </p:nvSpPr>
        <p:spPr>
          <a:xfrm>
            <a:off x="7818120" y="1892807"/>
            <a:ext cx="329184" cy="329184"/>
          </a:xfrm>
          <a:prstGeom prst="ellipse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1874519"/>
            <a:ext cx="3017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B18"/>
                </a:solidFill>
                <a:latin typeface="Avenir Next"/>
              </a:rPr>
              <a:t>Yan yana karşılaştırma</a:t>
            </a:r>
          </a:p>
          <a:p>
            <a:pPr algn="l"/>
            <a:r>
              <a:rPr sz="1100" b="0">
                <a:solidFill>
                  <a:srgbClr val="6B675C"/>
                </a:solidFill>
                <a:latin typeface="Avenir Next"/>
              </a:rPr>
              <a:t>Orijinal yalnız bu bilgisayarda; PDF'te işaretler sayfa görüntüsünün üzerinde.</a:t>
            </a:r>
          </a:p>
        </p:txBody>
      </p:sp>
      <p:sp>
        <p:nvSpPr>
          <p:cNvPr id="11" name="Oval 10"/>
          <p:cNvSpPr/>
          <p:nvPr/>
        </p:nvSpPr>
        <p:spPr>
          <a:xfrm>
            <a:off x="7818120" y="2944368"/>
            <a:ext cx="329184" cy="329184"/>
          </a:xfrm>
          <a:prstGeom prst="ellipse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926079"/>
            <a:ext cx="3017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B18"/>
                </a:solidFill>
                <a:latin typeface="Avenir Next"/>
              </a:rPr>
              <a:t>Her maskenin nedeni</a:t>
            </a:r>
          </a:p>
          <a:p>
            <a:pPr algn="l"/>
            <a:r>
              <a:rPr sz="1100" b="0">
                <a:solidFill>
                  <a:srgbClr val="6B675C"/>
                </a:solidFill>
                <a:latin typeface="Avenir Next"/>
              </a:rPr>
              <a:t>“TCKN doğrulandı”, “Alan etiketi ve ad” — neden maskelendiği yazılı.</a:t>
            </a:r>
          </a:p>
        </p:txBody>
      </p:sp>
      <p:sp>
        <p:nvSpPr>
          <p:cNvPr id="13" name="Oval 12"/>
          <p:cNvSpPr/>
          <p:nvPr/>
        </p:nvSpPr>
        <p:spPr>
          <a:xfrm>
            <a:off x="7818120" y="3995927"/>
            <a:ext cx="329184" cy="329184"/>
          </a:xfrm>
          <a:prstGeom prst="ellipse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977639"/>
            <a:ext cx="3017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B18"/>
                </a:solidFill>
                <a:latin typeface="Avenir Next"/>
              </a:rPr>
              <a:t>Tek tıkla karar</a:t>
            </a:r>
          </a:p>
          <a:p>
            <a:pPr algn="l"/>
            <a:r>
              <a:rPr sz="1100" b="0">
                <a:solidFill>
                  <a:srgbClr val="6B675C"/>
                </a:solidFill>
                <a:latin typeface="Avenir Next"/>
              </a:rPr>
              <a:t>Maskeyi kaldır ya da seçerek maskele: bu geçiş, bu belge veya tüm belgeler.</a:t>
            </a:r>
          </a:p>
        </p:txBody>
      </p:sp>
      <p:sp>
        <p:nvSpPr>
          <p:cNvPr id="15" name="Oval 14"/>
          <p:cNvSpPr/>
          <p:nvPr/>
        </p:nvSpPr>
        <p:spPr>
          <a:xfrm>
            <a:off x="7818120" y="5047488"/>
            <a:ext cx="329184" cy="329184"/>
          </a:xfrm>
          <a:prstGeom prst="ellipse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5029200"/>
            <a:ext cx="3017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B18"/>
                </a:solidFill>
                <a:latin typeface="Avenir Next"/>
              </a:rPr>
              <a:t>Onay kuralı</a:t>
            </a:r>
          </a:p>
          <a:p>
            <a:pPr algn="l"/>
            <a:r>
              <a:rPr sz="1100" b="0">
                <a:solidFill>
                  <a:srgbClr val="6B675C"/>
                </a:solidFill>
                <a:latin typeface="Avenir Next"/>
              </a:rPr>
              <a:t>Bekleyen karar varken onay yok; belge değiştiyse lokal LLM yeniden okur.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C1B18"/>
                </a:solidFill>
                <a:latin typeface="Georgia"/>
              </a:rPr>
              <a:t>Verileriniz nerede kalır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15568"/>
            <a:ext cx="822960" cy="2743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14"/>
          <p:cNvSpPr txBox="1"/>
          <p:nvPr/>
        </p:nvSpPr>
        <p:spPr>
          <a:xfrm>
            <a:off x="54864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675C"/>
                </a:solidFill>
                <a:latin typeface="Avenir Next"/>
              </a:rPr>
              <a:t>Screenwall</a:t>
            </a:r>
          </a:p>
        </p:txBody>
      </p:sp>
      <p:sp>
        <p:nvSpPr>
          <p:cNvPr id="6" name="TextBox 15"/>
          <p:cNvSpPr txBox="1"/>
          <p:nvPr/>
        </p:nvSpPr>
        <p:spPr>
          <a:xfrm>
            <a:off x="1115568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675C"/>
                </a:solidFill>
                <a:latin typeface="Avenir Next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98448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675C"/>
                </a:solidFill>
                <a:latin typeface="Avenir Next"/>
              </a:rPr>
              <a:t>Ham belge bu bilgisayardan çıkmaz. Buluta yalnız onaylanmış, maskelenmiş metin gider — o da isteğe bağlı.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1892807"/>
            <a:ext cx="329184" cy="329184"/>
          </a:xfrm>
          <a:prstGeom prst="ellipse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874519"/>
            <a:ext cx="34290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B18"/>
                </a:solidFill>
                <a:latin typeface="Avenir Next"/>
              </a:rPr>
              <a:t>Varsayılan: her şey bu bilgisayarda</a:t>
            </a:r>
          </a:p>
          <a:p>
            <a:pPr algn="l"/>
            <a:r>
              <a:rPr sz="1100" b="0">
                <a:solidFill>
                  <a:srgbClr val="6B675C"/>
                </a:solidFill>
                <a:latin typeface="Avenir Next"/>
              </a:rPr>
              <a:t>Tespit, denetim ve sohbet yerelde çalışır; onaya kadar belge hiçbir yere gönderilmez.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2944368"/>
            <a:ext cx="329184" cy="329184"/>
          </a:xfrm>
          <a:prstGeom prst="ellipse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26079"/>
            <a:ext cx="34290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B18"/>
                </a:solidFill>
                <a:latin typeface="Avenir Next"/>
              </a:rPr>
              <a:t>Ham belge hiçbir dil modeline gitmez</a:t>
            </a:r>
          </a:p>
          <a:p>
            <a:pPr algn="l"/>
            <a:r>
              <a:rPr sz="1100" b="0">
                <a:solidFill>
                  <a:srgbClr val="6B675C"/>
                </a:solidFill>
                <a:latin typeface="Avenir Next"/>
              </a:rPr>
              <a:t>Lokal LLM dahil, dil modelleri yalnız maskelenmiş kopyayı görür.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995927"/>
            <a:ext cx="329184" cy="329184"/>
          </a:xfrm>
          <a:prstGeom prst="ellipse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977639"/>
            <a:ext cx="34290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B18"/>
                </a:solidFill>
                <a:latin typeface="Avenir Next"/>
              </a:rPr>
              <a:t>İsteğe bağlı: Claude, ChatGPT</a:t>
            </a:r>
          </a:p>
          <a:p>
            <a:pPr algn="l"/>
            <a:r>
              <a:rPr sz="1100" b="0">
                <a:solidFill>
                  <a:srgbClr val="6B675C"/>
                </a:solidFill>
                <a:latin typeface="Avenir Next"/>
              </a:rPr>
              <a:t>Kendi Claude Code / Codex CLI girişinizle çalışır; Screenwall API anahtarı saklamaz.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5047488"/>
            <a:ext cx="329184" cy="329184"/>
          </a:xfrm>
          <a:prstGeom prst="ellipse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venir Nex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5029200"/>
            <a:ext cx="34290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B18"/>
                </a:solidFill>
                <a:latin typeface="Avenir Next"/>
              </a:rPr>
              <a:t>Önce önizleme, sonra açık onay</a:t>
            </a:r>
          </a:p>
          <a:p>
            <a:pPr algn="l"/>
            <a:r>
              <a:rPr sz="1100" b="0">
                <a:solidFill>
                  <a:srgbClr val="6B675C"/>
                </a:solidFill>
                <a:latin typeface="Avenir Next"/>
              </a:rPr>
              <a:t>Gidecek metnin tamamı gösterilir; onaysız gönderilmez, metin değişirse onay düşer. Her gönderim içeriksiz kaydedilir.</a:t>
            </a:r>
          </a:p>
        </p:txBody>
      </p:sp>
      <p:pic>
        <p:nvPicPr>
          <p:cNvPr id="16" name="Picture 15" descr="consent-1440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874519"/>
            <a:ext cx="6355080" cy="3971925"/>
          </a:xfrm>
          <a:prstGeom prst="rect">
            <a:avLst/>
          </a:prstGeom>
          <a:ln w="9525">
            <a:solidFill>
              <a:srgbClr val="E3DFD3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822960" y="45720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C1B18"/>
                </a:solidFill>
                <a:latin typeface="Georgia"/>
              </a:defRPr>
            </a:pPr>
            <a:r>
              <a:rPr sz="3000" b="1" lang="tr-TR">
                <a:solidFill>
                  <a:srgbClr val="1C1B18"/>
                </a:solidFill>
                <a:latin typeface="Georgia"/>
              </a:rPr>
              <a:t>Sayılarla kanıt — ölçüm altyapısı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B675C"/>
                </a:solidFill>
                <a:latin typeface="Avenir Next"/>
              </a:defRPr>
            </a:pPr>
            <a:r>
              <a:rPr sz="1500" b="0" lang="tr-TR">
                <a:solidFill>
                  <a:srgbClr val="6B675C"/>
                </a:solidFill>
                <a:latin typeface="Avenir Next"/>
              </a:rPr>
              <a:t>Doğruluk cevap anahtarlı 240 sentetik belgede, dayanıklılık 72 tuzaklı dosyada ölçülür; listeler kapalı, kıyas korpusu repoda yok. 60 belgelik geliştirme seti kural ayarında da kullanıldı; mühürlü test seti henüz yok.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C1B18"/>
                </a:solidFill>
                <a:latin typeface="Avenir Next"/>
              </a:defRPr>
            </a:pPr>
            <a:r>
              <a:rPr sz="1900" b="0" lang="tr-TR">
                <a:solidFill>
                  <a:srgbClr val="1C1B18"/>
                </a:solidFill>
                <a:latin typeface="Avenir Next"/>
              </a:rPr>
              <a:t>72 tuzaklı belgede kritik sızıntı (canlı denetçi)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92024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F6B4F"/>
                </a:solidFill>
                <a:latin typeface="Avenir Next"/>
              </a:defRPr>
            </a:pPr>
            <a:r>
              <a:rPr sz="2000" b="1" lang="tr-TR">
                <a:solidFill>
                  <a:srgbClr val="2F6B4F"/>
                </a:solidFill>
                <a:latin typeface="Avenir Next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70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C1B18"/>
                </a:solidFill>
                <a:latin typeface="Avenir Next"/>
              </a:defRPr>
            </a:pPr>
            <a:r>
              <a:rPr sz="1900" b="0" lang="tr-TR">
                <a:solidFill>
                  <a:srgbClr val="1C1B18"/>
                </a:solidFill>
                <a:latin typeface="Avenir Next"/>
              </a:rPr>
              <a:t>Kritik veri yakalama — 60 belgelik geliştirme seti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2670048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F6B4F"/>
                </a:solidFill>
                <a:latin typeface="Avenir Next"/>
              </a:defRPr>
            </a:pPr>
            <a:r>
              <a:rPr sz="2000" b="1" lang="tr-TR">
                <a:solidFill>
                  <a:srgbClr val="2F6B4F"/>
                </a:solidFill>
                <a:latin typeface="Avenir Next"/>
              </a:rPr>
              <a:t>1555/1555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19856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C1B18"/>
                </a:solidFill>
                <a:latin typeface="Avenir Next"/>
              </a:defRPr>
            </a:pPr>
            <a:r>
              <a:rPr sz="1900" b="0" lang="tr-TR">
                <a:solidFill>
                  <a:srgbClr val="1C1B18"/>
                </a:solidFill>
                <a:latin typeface="Avenir Next"/>
              </a:rPr>
              <a:t>Güvenli belgenin otomatik teslimi (stres)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3419856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F6B4F"/>
                </a:solidFill>
                <a:latin typeface="Avenir Next"/>
              </a:defRPr>
            </a:pPr>
            <a:r>
              <a:rPr sz="2000" b="1" lang="tr-TR">
                <a:solidFill>
                  <a:srgbClr val="2F6B4F"/>
                </a:solidFill>
                <a:latin typeface="Avenir Next"/>
              </a:rPr>
              <a:t>59/62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69664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C1B18"/>
                </a:solidFill>
                <a:latin typeface="Avenir Next"/>
              </a:defRPr>
            </a:pPr>
            <a:r>
              <a:rPr sz="1900" b="0" lang="tr-TR">
                <a:solidFill>
                  <a:srgbClr val="1C1B18"/>
                </a:solidFill>
                <a:latin typeface="Avenir Next"/>
              </a:rPr>
              <a:t>Sahte kimlik kaçağı (32 prob)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416966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F6B4F"/>
                </a:solidFill>
                <a:latin typeface="Avenir Next"/>
              </a:defRPr>
            </a:pPr>
            <a:r>
              <a:rPr sz="2000" b="1" lang="tr-TR">
                <a:solidFill>
                  <a:srgbClr val="2F6B4F"/>
                </a:solidFill>
                <a:latin typeface="Avenir Next"/>
              </a:rPr>
              <a:t>0/32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19472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1C1B18"/>
                </a:solidFill>
                <a:latin typeface="Avenir Next"/>
              </a:defRPr>
            </a:pPr>
            <a:r>
              <a:rPr sz="1900" b="0" lang="tr-TR">
                <a:solidFill>
                  <a:srgbClr val="1C1B18"/>
                </a:solidFill>
                <a:latin typeface="Avenir Next"/>
              </a:rPr>
              <a:t>Otomatik test (backend + arayüz)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4919472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F6B4F"/>
                </a:solidFill>
                <a:latin typeface="Avenir Next"/>
              </a:defRPr>
            </a:pPr>
            <a:r>
              <a:rPr sz="2000" b="1" lang="tr-TR">
                <a:solidFill>
                  <a:srgbClr val="2F6B4F"/>
                </a:solidFill>
                <a:latin typeface="Avenir Next"/>
              </a:rPr>
              <a:t>877 + 79 yeşil (CI)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1500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675C"/>
                </a:solidFill>
                <a:latin typeface="Avenir Next"/>
              </a:defRPr>
            </a:pPr>
            <a:r>
              <a:rPr sz="1400" b="0" lang="tr-TR">
                <a:solidFill>
                  <a:srgbClr val="6B675C"/>
                </a:solidFill>
                <a:latin typeface="Avenir Next"/>
              </a:rPr>
              <a:t>Şüphede sistem onaylamaz, karar kullanıcıya kalır — güvenlik ayar değil, varsayılan.</a:t>
            </a:r>
          </a:p>
        </p:txBody>
      </p:sp>
      <p:sp>
        <p:nvSpPr>
          <p:cNvPr id="16" name="Rectangle 3"/>
          <p:cNvSpPr/>
          <p:nvPr/>
        </p:nvSpPr>
        <p:spPr>
          <a:xfrm>
            <a:off x="822960" y="1115568"/>
            <a:ext cx="822960" cy="2743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6"/>
          <p:cNvSpPr txBox="1"/>
          <p:nvPr/>
        </p:nvSpPr>
        <p:spPr>
          <a:xfrm>
            <a:off x="54864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675C"/>
                </a:solidFill>
                <a:latin typeface="Avenir Next"/>
              </a:rPr>
              <a:t>Screenwall</a:t>
            </a:r>
          </a:p>
        </p:txBody>
      </p:sp>
      <p:sp>
        <p:nvSpPr>
          <p:cNvPr id="18" name="TextBox 7"/>
          <p:cNvSpPr txBox="1"/>
          <p:nvPr/>
        </p:nvSpPr>
        <p:spPr>
          <a:xfrm>
            <a:off x="1115568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675C"/>
                </a:solidFill>
                <a:latin typeface="Avenir Next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822960" y="45720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C1B18"/>
                </a:solidFill>
                <a:latin typeface="Georgia"/>
              </a:defRPr>
            </a:pPr>
            <a:r>
              <a:rPr sz="3000" b="1" lang="tr-TR">
                <a:solidFill>
                  <a:srgbClr val="1C1B18"/>
                </a:solidFill>
                <a:latin typeface="Georgia"/>
              </a:rPr>
              <a:t>Aynı sınav, iki sürüm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675C"/>
                </a:solidFill>
                <a:latin typeface="Avenir Next"/>
              </a:defRPr>
            </a:pPr>
            <a:r>
              <a:rPr sz="1400" b="0" lang="tr-TR">
                <a:solidFill>
                  <a:srgbClr val="6B675C"/>
                </a:solidFill>
                <a:latin typeface="Avenir Next"/>
              </a:rPr>
              <a:t>Biri Claude ile, diğeri ChatGPT (Codex) ile geliştirilen iki sürüm; aynı puanlayıcı (ChatGPT sürümününki), aynı korpus, listesiz.</a:t>
            </a:r>
          </a:p>
          <a:p>
            <a:pPr algn="l">
              <a:defRPr sz="1400" b="0">
                <a:solidFill>
                  <a:srgbClr val="6B675C"/>
                </a:solidFill>
                <a:latin typeface="Avenir Next"/>
              </a:defRPr>
            </a:pPr>
            <a:r>
              <a:rPr sz="1400" b="0" lang="tr-TR">
                <a:solidFill>
                  <a:srgbClr val="6B675C"/>
                </a:solidFill>
                <a:latin typeface="Avenir Next"/>
              </a:rPr>
              <a:t>ChatGPT sürümü, Claude sürümünün bir kopyasıyla başladı ve tespit motorunu değiştirdi. Kıyas korpusu repoda yok.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5740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6B675C"/>
                </a:solidFill>
                <a:latin typeface="Avenir Next"/>
              </a:defRPr>
            </a:pPr>
            <a:r>
              <a:rPr sz="1700" b="1" lang="tr-TR">
                <a:solidFill>
                  <a:srgbClr val="6B675C"/>
                </a:solidFill>
                <a:latin typeface="Avenir Next"/>
              </a:rPr>
              <a:t>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2057400"/>
            <a:ext cx="237744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6B675C"/>
                </a:solidFill>
                <a:latin typeface="Avenir Next"/>
              </a:defRPr>
            </a:pPr>
            <a:r>
              <a:rPr lang="en-US" dirty="0"/>
              <a:t>Screenwall Claude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8046720" y="20574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6B675C"/>
                </a:solidFill>
                <a:latin typeface="Avenir Next"/>
              </a:defRPr>
            </a:pPr>
            <a:r>
              <a:rPr dirty="0"/>
              <a:t>Screenwall ChatGPT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24328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C1B18"/>
                </a:solidFill>
                <a:latin typeface="Avenir Next"/>
              </a:defRPr>
            </a:pPr>
            <a:r>
              <a:rPr sz="1700" b="0" lang="tr-TR">
                <a:solidFill>
                  <a:srgbClr val="1C1B18"/>
                </a:solidFill>
                <a:latin typeface="Avenir Next"/>
              </a:rPr>
              <a:t>Kritik veri yakalama (katı puanlayıcı)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62432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F6B4F"/>
                </a:solidFill>
                <a:latin typeface="Avenir Next"/>
              </a:defRPr>
            </a:pPr>
            <a:r>
              <a:rPr sz="1700" b="1" lang="tr-TR">
                <a:solidFill>
                  <a:srgbClr val="0F6E56"/>
                </a:solidFill>
                <a:latin typeface="Avenir Next"/>
              </a:rPr>
              <a:t>472/489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6243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C1B18"/>
                </a:solidFill>
                <a:latin typeface="Avenir Next"/>
              </a:defRPr>
            </a:pPr>
            <a:r>
              <a:rPr sz="1700" b="0" lang="tr-TR">
                <a:solidFill>
                  <a:srgbClr val="1C1B18"/>
                </a:solidFill>
                <a:latin typeface="Avenir Next"/>
              </a:rPr>
              <a:t>438/489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91256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C1B18"/>
                </a:solidFill>
                <a:latin typeface="Avenir Next"/>
              </a:defRPr>
            </a:pPr>
            <a:r>
              <a:rPr sz="1700" b="0" lang="tr-TR">
                <a:solidFill>
                  <a:srgbClr val="1C1B18"/>
                </a:solidFill>
                <a:latin typeface="Avenir Next"/>
              </a:rPr>
              <a:t>Sahte kimlik kaçağı (düşük iyi)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319125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F6B4F"/>
                </a:solidFill>
                <a:latin typeface="Avenir Next"/>
              </a:defRPr>
            </a:pPr>
            <a:r>
              <a:rPr sz="1700" b="1" lang="tr-TR">
                <a:solidFill>
                  <a:srgbClr val="0F6E56"/>
                </a:solidFill>
                <a:latin typeface="Avenir Next"/>
              </a:rPr>
              <a:t>0/32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19125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C1B18"/>
                </a:solidFill>
                <a:latin typeface="Avenir Next"/>
              </a:defRPr>
            </a:pPr>
            <a:r>
              <a:rPr sz="1700" b="0" lang="tr-TR">
                <a:solidFill>
                  <a:srgbClr val="1C1B18"/>
                </a:solidFill>
                <a:latin typeface="Avenir Next"/>
              </a:rPr>
              <a:t>7/32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58184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C1B18"/>
                </a:solidFill>
                <a:latin typeface="Avenir Next"/>
              </a:defRPr>
            </a:pPr>
            <a:r>
              <a:rPr sz="1700" b="0" lang="tr-TR">
                <a:solidFill>
                  <a:srgbClr val="1C1B18"/>
                </a:solidFill>
                <a:latin typeface="Avenir Next"/>
              </a:rPr>
              <a:t>Güvenli belge teslimi (canlı denetçi)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758184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F6B4F"/>
                </a:solidFill>
                <a:latin typeface="Avenir Next"/>
              </a:defRPr>
            </a:pPr>
            <a:r>
              <a:rPr sz="1700" b="1" lang="tr-TR">
                <a:solidFill>
                  <a:srgbClr val="0F6E56"/>
                </a:solidFill>
                <a:latin typeface="Avenir Next"/>
              </a:rPr>
              <a:t>59/62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3758184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C1B18"/>
                </a:solidFill>
                <a:latin typeface="Avenir Next"/>
              </a:defRPr>
            </a:pPr>
            <a:r>
              <a:rPr sz="1700" b="0" lang="tr-TR">
                <a:solidFill>
                  <a:srgbClr val="1C1B18"/>
                </a:solidFill>
                <a:latin typeface="Avenir Next"/>
              </a:rPr>
              <a:t>28/62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32511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C1B18"/>
                </a:solidFill>
                <a:latin typeface="Avenir Next"/>
              </a:defRPr>
            </a:pPr>
            <a:r>
              <a:rPr sz="1700" b="0" lang="tr-TR">
                <a:solidFill>
                  <a:srgbClr val="1C1B18"/>
                </a:solidFill>
                <a:latin typeface="Avenir Next"/>
              </a:rPr>
              <a:t>Korunan iş terimi (8 terim, 90 geçiş)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432511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F6B4F"/>
                </a:solidFill>
                <a:latin typeface="Avenir Next"/>
              </a:defRPr>
            </a:pPr>
            <a:r>
              <a:rPr sz="1700" b="0" lang="tr-TR">
                <a:solidFill>
                  <a:srgbClr val="1C1B18"/>
                </a:solidFill>
                <a:latin typeface="Avenir Next"/>
              </a:rPr>
              <a:t>10/90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432511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C1B18"/>
                </a:solidFill>
                <a:latin typeface="Avenir Next"/>
              </a:defRPr>
            </a:pPr>
            <a:r>
              <a:rPr sz="1700" b="1" lang="tr-TR">
                <a:solidFill>
                  <a:srgbClr val="0F6E56"/>
                </a:solidFill>
                <a:latin typeface="Avenir Next"/>
              </a:rPr>
              <a:t>38/90 — ChatGPT sürümü önde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892040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C1B18"/>
                </a:solidFill>
                <a:latin typeface="Avenir Next"/>
              </a:defRPr>
            </a:pPr>
            <a:r>
              <a:rPr sz="1700" b="0" lang="tr-TR">
                <a:solidFill>
                  <a:srgbClr val="1C1B18"/>
                </a:solidFill>
                <a:latin typeface="Avenir Next"/>
              </a:rPr>
              <a:t>Gereksiz karartma (düşük iyi)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8920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F6B4F"/>
                </a:solidFill>
                <a:latin typeface="Avenir Next"/>
              </a:defRPr>
            </a:pPr>
            <a:r>
              <a:rPr sz="1700" b="1" lang="tr-TR">
                <a:solidFill>
                  <a:srgbClr val="0F6E56"/>
                </a:solidFill>
                <a:latin typeface="Avenir Next"/>
              </a:rPr>
              <a:t>11/40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8920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F6B4F"/>
                </a:solidFill>
                <a:latin typeface="Avenir Next"/>
              </a:defRPr>
            </a:pPr>
            <a:r>
              <a:rPr sz="1700" b="0" lang="tr-TR">
                <a:solidFill>
                  <a:srgbClr val="1C1B18"/>
                </a:solidFill>
                <a:latin typeface="Avenir Next"/>
              </a:rPr>
              <a:t>21/40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675C"/>
                </a:solidFill>
                <a:latin typeface="Avenir Next"/>
              </a:defRPr>
            </a:pPr>
            <a:r>
              <a:rPr sz="1300" b="0" lang="tr-TR">
                <a:solidFill>
                  <a:srgbClr val="6B675C"/>
                </a:solidFill>
                <a:latin typeface="Avenir Next"/>
              </a:rPr>
              <a:t>Dürüstlük notu: önceki sürümdeki “0/90” bir test sızıntısıydı (liste, ölçülen 8 terimin hepsini içeriyordu); dürüst sayı 10/90.</a:t>
            </a:r>
          </a:p>
          <a:p>
            <a:pPr algn="l">
              <a:defRPr sz="1300" b="0">
                <a:solidFill>
                  <a:srgbClr val="6B675C"/>
                </a:solidFill>
                <a:latin typeface="Avenir Next"/>
              </a:defRPr>
            </a:pPr>
            <a:r>
              <a:rPr sz="1300" b="0" lang="tr-TR">
                <a:solidFill>
                  <a:srgbClr val="6B675C"/>
                </a:solidFill>
                <a:latin typeface="Avenir Next"/>
              </a:rPr>
              <a:t>İş terimlerini korumada ChatGPT sürümü önde; sıradaki hedefimiz bu. Stres testinde ikisi de 0/72 sızıntı.</a:t>
            </a:r>
          </a:p>
          <a:p>
            <a:pPr algn="l">
              <a:defRPr sz="1300" b="0">
                <a:solidFill>
                  <a:srgbClr val="6B675C"/>
                </a:solidFill>
                <a:latin typeface="Avenir Next"/>
              </a:defRPr>
            </a:pPr>
            <a:r>
              <a:rPr sz="1300" b="0" lang="tr-TR">
                <a:solidFill>
                  <a:srgbClr val="6B675C"/>
                </a:solidFill>
                <a:latin typeface="Avenir Next"/>
              </a:rPr>
              <a:t>Screenwall Claude kaynak kodu: github.com/EminKolac/screenwall</a:t>
            </a:r>
          </a:p>
        </p:txBody>
      </p:sp>
      <p:sp>
        <p:nvSpPr>
          <p:cNvPr id="24" name="Rectangle 3"/>
          <p:cNvSpPr/>
          <p:nvPr/>
        </p:nvSpPr>
        <p:spPr>
          <a:xfrm>
            <a:off x="822960" y="1115568"/>
            <a:ext cx="822960" cy="2743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6"/>
          <p:cNvSpPr txBox="1"/>
          <p:nvPr/>
        </p:nvSpPr>
        <p:spPr>
          <a:xfrm>
            <a:off x="54864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675C"/>
                </a:solidFill>
                <a:latin typeface="Avenir Next"/>
              </a:rPr>
              <a:t>Screenwall</a:t>
            </a:r>
          </a:p>
        </p:txBody>
      </p:sp>
      <p:sp>
        <p:nvSpPr>
          <p:cNvPr id="26" name="TextBox 7"/>
          <p:cNvSpPr txBox="1"/>
          <p:nvPr/>
        </p:nvSpPr>
        <p:spPr>
          <a:xfrm>
            <a:off x="1115568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675C"/>
                </a:solidFill>
                <a:latin typeface="Avenir Next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C1B18"/>
                </a:solidFill>
                <a:latin typeface="Georgia"/>
              </a:rPr>
              <a:t>Sıradaki adım — daha az karartma, dürüst ölçümle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15568"/>
            <a:ext cx="822960" cy="27432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14"/>
          <p:cNvSpPr txBox="1"/>
          <p:nvPr/>
        </p:nvSpPr>
        <p:spPr>
          <a:xfrm>
            <a:off x="54864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675C"/>
                </a:solidFill>
                <a:latin typeface="Avenir Next"/>
              </a:rPr>
              <a:t>Screenwall</a:t>
            </a:r>
          </a:p>
        </p:txBody>
      </p:sp>
      <p:sp>
        <p:nvSpPr>
          <p:cNvPr id="6" name="TextBox 15"/>
          <p:cNvSpPr txBox="1"/>
          <p:nvPr/>
        </p:nvSpPr>
        <p:spPr>
          <a:xfrm>
            <a:off x="1115568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675C"/>
                </a:solidFill>
                <a:latin typeface="Avenir Next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98448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675C"/>
                </a:solidFill>
                <a:latin typeface="Avenir Next"/>
              </a:rPr>
              <a:t>Kritik veriyi kaçırmadan kişisel olmayan iş terimlerine dokunmamak. Her değişiklik tek başına ölçülür; kapıyı geçmeyen geri alınır.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74519"/>
            <a:ext cx="3291840" cy="1600200"/>
          </a:xfrm>
          <a:prstGeom prst="roundRect">
            <a:avLst>
              <a:gd name="adj" fmla="val 7885"/>
            </a:avLst>
          </a:prstGeom>
          <a:solidFill>
            <a:srgbClr val="FFFFFF"/>
          </a:solidFill>
          <a:ln w="9525">
            <a:solidFill>
              <a:srgbClr val="E3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29968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B18"/>
                </a:solidFill>
                <a:latin typeface="Avenir Next"/>
              </a:rPr>
              <a:t>Korunan iş terimi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6B675C"/>
                </a:solidFill>
                <a:latin typeface="Georgia"/>
              </a:rPr>
              <a:t>10/90</a:t>
            </a:r>
            <a:r>
              <a:rPr sz="1800" b="0">
                <a:solidFill>
                  <a:srgbClr val="6B675C"/>
                </a:solidFill>
                <a:latin typeface="Georgia"/>
              </a:rPr>
              <a:t>  →  </a:t>
            </a:r>
            <a:r>
              <a:rPr sz="2200" b="1">
                <a:solidFill>
                  <a:srgbClr val="0F6E56"/>
                </a:solidFill>
                <a:latin typeface="Georgia"/>
              </a:rPr>
              <a:t>≥80/90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0175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75C"/>
                </a:solidFill>
                <a:latin typeface="Avenir Next"/>
              </a:rPr>
              <a:t>8 terim, 90 geçiş; listesiz, yüksek iyi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874519"/>
            <a:ext cx="3291840" cy="1600200"/>
          </a:xfrm>
          <a:prstGeom prst="roundRect">
            <a:avLst>
              <a:gd name="adj" fmla="val 7885"/>
            </a:avLst>
          </a:prstGeom>
          <a:solidFill>
            <a:srgbClr val="FFFFFF"/>
          </a:solidFill>
          <a:ln w="9525">
            <a:solidFill>
              <a:srgbClr val="E3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029968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B18"/>
                </a:solidFill>
                <a:latin typeface="Avenir Next"/>
              </a:rPr>
              <a:t>Gereksiz karartma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395728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6B675C"/>
                </a:solidFill>
                <a:latin typeface="Georgia"/>
              </a:rPr>
              <a:t>11/40</a:t>
            </a:r>
            <a:r>
              <a:rPr sz="1800" b="0">
                <a:solidFill>
                  <a:srgbClr val="6B675C"/>
                </a:solidFill>
                <a:latin typeface="Georgia"/>
              </a:rPr>
              <a:t>  →  </a:t>
            </a:r>
            <a:r>
              <a:rPr sz="2200" b="1">
                <a:solidFill>
                  <a:srgbClr val="0F6E56"/>
                </a:solidFill>
                <a:latin typeface="Georgia"/>
              </a:rPr>
              <a:t>≤2/40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0175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75C"/>
                </a:solidFill>
                <a:latin typeface="Avenir Next"/>
              </a:rPr>
              <a:t>40 nötr cümlede, düşük iyi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1874519"/>
            <a:ext cx="3291840" cy="1600200"/>
          </a:xfrm>
          <a:prstGeom prst="roundRect">
            <a:avLst>
              <a:gd name="adj" fmla="val 7885"/>
            </a:avLst>
          </a:prstGeom>
          <a:solidFill>
            <a:srgbClr val="FFFFFF"/>
          </a:solidFill>
          <a:ln w="9525">
            <a:solidFill>
              <a:srgbClr val="E3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2029968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C1B18"/>
                </a:solidFill>
                <a:latin typeface="Avenir Next"/>
              </a:rPr>
              <a:t>Gerçek belgede yoğunluk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395728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6B675C"/>
                </a:solidFill>
                <a:latin typeface="Georgia"/>
              </a:rPr>
              <a:t>12,2</a:t>
            </a:r>
            <a:r>
              <a:rPr sz="1800" b="0">
                <a:solidFill>
                  <a:srgbClr val="6B675C"/>
                </a:solidFill>
                <a:latin typeface="Georgia"/>
              </a:rPr>
              <a:t>  →  </a:t>
            </a:r>
            <a:r>
              <a:rPr sz="2200" b="1">
                <a:solidFill>
                  <a:srgbClr val="0F6E56"/>
                </a:solidFill>
                <a:latin typeface="Georgia"/>
              </a:rPr>
              <a:t>≤6,1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01752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6B675C"/>
                </a:solidFill>
                <a:latin typeface="Avenir Next"/>
              </a:rPr>
              <a:t>etiket / 1000 karakter, 30 BIST belgesi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749039"/>
            <a:ext cx="3291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6E56"/>
                </a:solidFill>
                <a:latin typeface="Avenir Next"/>
              </a:rPr>
              <a:t>Kanıt tabanlı politika</a:t>
            </a:r>
          </a:p>
          <a:p>
            <a:pPr algn="l"/>
            <a:r>
              <a:rPr sz="1100" b="0">
                <a:solidFill>
                  <a:srgbClr val="6B675C"/>
                </a:solidFill>
                <a:latin typeface="Avenir Next"/>
              </a:rPr>
              <a:t>Her aday için maskele, öner ya da bırak; zayıf türlerde tek başına NER yetmez.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3749039"/>
            <a:ext cx="3291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6E56"/>
                </a:solidFill>
                <a:latin typeface="Avenir Next"/>
              </a:rPr>
              <a:t>Kişi kanıtı</a:t>
            </a:r>
          </a:p>
          <a:p>
            <a:pPr algn="l"/>
            <a:r>
              <a:rPr sz="1100" b="0">
                <a:solidFill>
                  <a:srgbClr val="6B675C"/>
                </a:solidFill>
                <a:latin typeface="Avenir Next"/>
              </a:rPr>
              <a:t>İsim sözlüğü, hitap ve alan bağlamı — “Fatura Dönemi” bir kişi değildir.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3749039"/>
            <a:ext cx="3291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6E56"/>
                </a:solidFill>
                <a:latin typeface="Avenir Next"/>
              </a:rPr>
              <a:t>Yeni mühürlü test seti</a:t>
            </a:r>
          </a:p>
          <a:p>
            <a:pPr algn="l"/>
            <a:r>
              <a:rPr sz="1100" b="0">
                <a:solidFill>
                  <a:srgbClr val="6B675C"/>
                </a:solidFill>
                <a:latin typeface="Avenir Next"/>
              </a:rPr>
              <a:t>Kuralları yazan modelden bağımsız hazırlanır; yalnız faz sonunda açılır.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846320"/>
            <a:ext cx="10424160" cy="777240"/>
          </a:xfrm>
          <a:prstGeom prst="roundRect">
            <a:avLst>
              <a:gd name="adj" fmla="val 12000"/>
            </a:avLst>
          </a:prstGeom>
          <a:solidFill>
            <a:srgbClr val="E8F1EC"/>
          </a:solidFill>
          <a:ln w="9525">
            <a:solidFill>
              <a:srgbClr val="C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919472"/>
            <a:ext cx="99669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6E56"/>
                </a:solidFill>
                <a:latin typeface="Avenir Next"/>
              </a:rPr>
              <a:t>İlk adım atıldı: </a:t>
            </a:r>
            <a:r>
              <a:rPr sz="1200" b="0">
                <a:solidFill>
                  <a:srgbClr val="1C1B18"/>
                </a:solidFill>
                <a:latin typeface="Avenir Next"/>
              </a:rPr>
              <a:t>birden fazla etiket alan kişi 16/179 → 6/179; karakter hassasiyeti 0,79 → 0,84, kritik recall değişmedi.</a:t>
            </a:r>
          </a:p>
          <a:p>
            <a:pPr algn="l"/>
            <a:r>
              <a:rPr sz="1050" b="0">
                <a:solidFill>
                  <a:srgbClr val="6B675C"/>
                </a:solidFill>
                <a:latin typeface="Avenir Next"/>
              </a:rPr>
              <a:t>Sert kapılar: kritik recall ≥ 472/489 · sahte kimlik kaçağı 0/32 · stres sızıntısı 0/72 · güvenli teslim ≥ 59/62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788920"/>
            <a:ext cx="1188720" cy="38100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29260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C1B18"/>
                </a:solidFill>
                <a:latin typeface="Georgia"/>
              </a:rPr>
              <a:t>Teşekkürler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F6E56"/>
                </a:solidFill>
                <a:latin typeface="Avenir Next"/>
              </a:rPr>
              <a:t>Screenwall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675C"/>
                </a:solidFill>
                <a:latin typeface="Avenir Next"/>
              </a:rPr>
              <a:t>Şirket dokümanlarınızla Claude'u ve ChatGPT'yi güvenle kullanmanın yolu.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675C"/>
                </a:solidFill>
                <a:latin typeface="Avenir Next"/>
              </a:rPr>
              <a:t>Screenwall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675C"/>
                </a:solidFill>
                <a:latin typeface="Avenir Next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1100</Words>
  <Application>Microsoft Office PowerPoint</Application>
  <PresentationFormat>Widescreen</PresentationFormat>
  <Paragraphs>197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Arial</vt:lpstr>
      <vt:lpstr>Avenir Next</vt:lpstr>
      <vt:lpstr>Calibri</vt:lpstr>
      <vt:lpstr>Georgia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2026-09-23T05:59:10Z</dcterms:modified>
  <cp:category/>
</cp:coreProperties>
</file>