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86000"/>
            <a:ext cx="121916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E8EDF2"/>
                </a:solidFill>
              </a:defRPr>
            </a:pPr>
            <a:r>
              <a:t>Fable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56616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4AE3B5"/>
                </a:solidFill>
              </a:defRPr>
            </a:pPr>
            <a:r>
              <a:t>Belgeyi ver, veriyi verme.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29768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A96A3"/>
                </a:solidFill>
              </a:defRPr>
            </a:pPr>
            <a:r>
              <a:t>Ölçüm Raporu · v5 · Ağustos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EDF2"/>
                </a:solidFill>
              </a:defRPr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86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8EDF2"/>
                </a:solidFill>
              </a:defRPr>
            </a:pPr>
            <a:r>
              <a:t>Kurumlar belgelerini frontier LLM'lere veremiyor: TCKN, IBAN, ad-soyad, sağlık bilgisi dışarı çıkar (KVKK m.6).</a:t>
            </a:r>
          </a:p>
          <a:p>
            <a:pPr algn="l">
              <a:defRPr sz="2200" b="0">
                <a:solidFill>
                  <a:srgbClr val="E8EDF2"/>
                </a:solidFill>
              </a:defRPr>
            </a:pPr>
          </a:p>
          <a:p>
            <a:pPr algn="l">
              <a:defRPr sz="2200" b="0">
                <a:solidFill>
                  <a:srgbClr val="E8EDF2"/>
                </a:solidFill>
              </a:defRPr>
            </a:pPr>
            <a:r>
              <a:t>Elle karartma ölçeklenmez; naif otomatik maskeleme ya sızdırır ya belgeyi okunmaz hâle getirir.</a:t>
            </a:r>
          </a:p>
          <a:p>
            <a:pPr algn="l">
              <a:defRPr sz="2200" b="0">
                <a:solidFill>
                  <a:srgbClr val="E8EDF2"/>
                </a:solidFill>
              </a:defRPr>
            </a:pPr>
          </a:p>
          <a:p>
            <a:pPr algn="l">
              <a:defRPr sz="2200" b="0">
                <a:solidFill>
                  <a:srgbClr val="E8EDF2"/>
                </a:solidFill>
              </a:defRPr>
            </a:pPr>
            <a:r>
              <a:t>Piyasadaki araçların çoğu doğruluk SAYISI vermez — "güven bize" 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EDF2"/>
                </a:solidFill>
              </a:defRPr>
            </a:pPr>
            <a:r>
              <a:t>Fable nasıl çalışır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AE3B5"/>
                </a:solidFill>
              </a:defRPr>
            </a:pPr>
            <a:r>
              <a:t>① 3 aşamalı tespit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371600"/>
            <a:ext cx="6613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DF2"/>
                </a:solidFill>
              </a:defRPr>
            </a:pPr>
            <a:r>
              <a:t>Presidio TR+EN + 15 özel tanıyıcı · Privacy Filter (yerel model) · deterministik &lt;TYPE_n&gt;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3172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AE3B5"/>
                </a:solidFill>
              </a:defRPr>
            </a:pPr>
            <a:r>
              <a:t>② Denetim döngüsü (max 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331720"/>
            <a:ext cx="6613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DF2"/>
                </a:solidFill>
              </a:defRPr>
            </a:pPr>
            <a:r>
              <a:t>Kalıntı bulunursa geri beslenir; şüphede belge İNSANA düşer (fail-closed)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AE3B5"/>
                </a:solidFill>
              </a:defRPr>
            </a:pPr>
            <a:r>
              <a:t>③ İnsan onayı + unmask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291840"/>
            <a:ext cx="6613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DF2"/>
                </a:solidFill>
              </a:defRPr>
            </a:pPr>
            <a:r>
              <a:t>Yanlış maskeleme tek tıkla geri alınır; eşleme tablosu asla dışarı çıkmaz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5196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AE3B5"/>
                </a:solidFill>
              </a:defRPr>
            </a:pPr>
            <a:r>
              <a:t>④ 5 katmanlı depo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251960"/>
            <a:ext cx="6613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DF2"/>
                </a:solidFill>
              </a:defRPr>
            </a:pPr>
            <a:r>
              <a:t>Yalnız onaylı anonim katman paylaşılabilir; destructive modda orijinal hiç yazılmaz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21208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AE3B5"/>
                </a:solidFill>
              </a:defRPr>
            </a:pPr>
            <a:r>
              <a:t>⑤ %100 yerel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5212080"/>
            <a:ext cx="6613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DF2"/>
                </a:solidFill>
              </a:defRPr>
            </a:pPr>
            <a:r>
              <a:t>Onaydan önce tek bir dış çağrı yok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EDF2"/>
                </a:solidFill>
              </a:defRPr>
            </a:pPr>
            <a:r>
              <a:t>Ölçüm altyapısı — iddia değil, sayı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AE3B5"/>
                </a:solidFill>
              </a:defRPr>
            </a:pPr>
            <a:r>
              <a:t>GoldBench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1463040"/>
            <a:ext cx="77111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DF2"/>
                </a:solidFill>
              </a:defRPr>
            </a:pPr>
            <a:r>
              <a:t>240 sentetik gold belge · 3.000 etiketli mention · MÜHÜRLÜ holdout (60)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146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AE3B5"/>
                </a:solidFill>
              </a:defRPr>
            </a:pPr>
            <a:r>
              <a:t>Stres korpusu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2514600"/>
            <a:ext cx="77111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DF2"/>
                </a:solidFill>
              </a:defRPr>
            </a:pPr>
            <a:r>
              <a:t>72 tuzaklı dosya: satıra bölünmüş PII, gizli sayfa, taranmış PDF, bozuk OOXML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AE3B5"/>
                </a:solidFill>
              </a:defRPr>
            </a:pPr>
            <a:r>
              <a:t>Bağımsız problar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3566160"/>
            <a:ext cx="77111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DF2"/>
                </a:solidFill>
              </a:defRPr>
            </a:pPr>
            <a:r>
              <a:t>16 kanarya (bağlamlı/bağlamsız) + 40 cümlelik aşırı-maskeleme probu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AE3B5"/>
                </a:solidFill>
              </a:defRPr>
            </a:pPr>
            <a:r>
              <a:t>Dış doğrulama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4617720"/>
            <a:ext cx="77111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DF2"/>
                </a:solidFill>
              </a:defRPr>
            </a:pPr>
            <a:r>
              <a:t>TAB (1.268 AİHM kararı, EN) — kendi şablonumuzdan bağımsız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EDF2"/>
                </a:solidFill>
              </a:defRPr>
            </a:pPr>
            <a:r>
              <a:t>Sonuçlar — v5 kapanışı (26 Ağustos 2026)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A96A3"/>
                </a:solidFill>
              </a:defRPr>
            </a:pPr>
            <a:r>
              <a:t>Metrik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1371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A96A3"/>
                </a:solidFill>
              </a:defRPr>
            </a:pPr>
            <a:r>
              <a:t>Döngü başı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371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A96A3"/>
                </a:solidFill>
              </a:defRPr>
            </a:pPr>
            <a:r>
              <a:t>Şimdi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2996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8EDF2"/>
                </a:solidFill>
              </a:defRPr>
            </a:pPr>
            <a:r>
              <a:t>Stres: kritik sızıntı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202996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A96A3"/>
                </a:solidFill>
              </a:defRPr>
            </a:pPr>
            <a:r>
              <a:t>2-4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02996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E3B5"/>
                </a:solidFill>
              </a:defRPr>
            </a:pPr>
            <a:r>
              <a:t>0 / 72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88336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8EDF2"/>
                </a:solidFill>
              </a:defRPr>
            </a:pPr>
            <a:r>
              <a:t>Holdout kritik recall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2688336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A96A3"/>
                </a:solidFill>
              </a:defRPr>
            </a:pPr>
            <a:r>
              <a:t>0.9845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2688336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E3B5"/>
                </a:solidFill>
              </a:defRPr>
            </a:pPr>
            <a:r>
              <a:t>1.00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346704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8EDF2"/>
                </a:solidFill>
              </a:defRPr>
            </a:pPr>
            <a:r>
              <a:t>Fayda (utility retention)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3346704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A96A3"/>
                </a:solidFill>
              </a:defRPr>
            </a:pPr>
            <a:r>
              <a:t>%91,8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3346704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E3B5"/>
                </a:solidFill>
              </a:defRPr>
            </a:pPr>
            <a:r>
              <a:t>%98,9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00507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8EDF2"/>
                </a:solidFill>
              </a:defRPr>
            </a:pPr>
            <a:r>
              <a:t>Kanarya (bağlamsız dahil)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400507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A96A3"/>
                </a:solidFill>
              </a:defRPr>
            </a:pPr>
            <a:r>
              <a:t>15/16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400507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E3B5"/>
                </a:solidFill>
              </a:defRPr>
            </a:pPr>
            <a:r>
              <a:t>16/16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6634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8EDF2"/>
                </a:solidFill>
              </a:defRPr>
            </a:pPr>
            <a:r>
              <a:t>Aşırı-maskeleme probu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46634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A96A3"/>
                </a:solidFill>
              </a:defRPr>
            </a:pPr>
            <a:r>
              <a:t>21/40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4663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E3B5"/>
                </a:solidFill>
              </a:defRPr>
            </a:pPr>
            <a:r>
              <a:t>11/40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32180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8EDF2"/>
                </a:solidFill>
              </a:defRPr>
            </a:pPr>
            <a:r>
              <a:t>Otomatik test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532180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A96A3"/>
                </a:solidFill>
              </a:defRPr>
            </a:pPr>
            <a:r>
              <a:t>332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532180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E3B5"/>
                </a:solidFill>
              </a:defRPr>
            </a:pPr>
            <a:r>
              <a:t>337 yeşil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6071616"/>
            <a:ext cx="105457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E3B5"/>
                </a:solidFill>
              </a:defRPr>
            </a:pPr>
            <a:r>
              <a:t>Release gate (kritik sızıntı=0 · recall≥0.95 · fayda≥%90) İLK KEZ tamamı yeşil.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EDF2"/>
                </a:solidFill>
              </a:defRPr>
            </a:pPr>
            <a:r>
              <a:t>Release gate — 4 aile, kompozit puan YOK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AE3B5"/>
                </a:solidFill>
              </a:defRPr>
            </a:pPr>
            <a:r>
              <a:t>✓ Tespit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463040"/>
            <a:ext cx="6888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DF2"/>
                </a:solidFill>
              </a:defRPr>
            </a:pPr>
            <a:r>
              <a:t>Holdout kritik recall 1.00 (kapı ≥0.95)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1460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AE3B5"/>
                </a:solidFill>
              </a:defRPr>
            </a:pPr>
            <a:r>
              <a:t>✓ Yayın güvenliği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2514600"/>
            <a:ext cx="6888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DF2"/>
                </a:solidFill>
              </a:defRPr>
            </a:pPr>
            <a:r>
              <a:t>Stres 0/72 kritik yanlış onay (kapı 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AE3B5"/>
                </a:solidFill>
              </a:defRPr>
            </a:pPr>
            <a:r>
              <a:t>✓ Fayda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3566160"/>
            <a:ext cx="6888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DF2"/>
                </a:solidFill>
              </a:defRPr>
            </a:pPr>
            <a:r>
              <a:t>%98,9 soru cevaplanabilir kaldı (kapı ≥%90)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59E0B"/>
                </a:solidFill>
              </a:defRPr>
            </a:pPr>
            <a:r>
              <a:t>◌ Saldırı direnci (TRIR)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4617720"/>
            <a:ext cx="6888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DF2"/>
                </a:solidFill>
              </a:defRPr>
            </a:pPr>
            <a:r>
              <a:t>ÖLÇÜLMEDİ — paket hazır, yerel model bekliyor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EDF2"/>
                </a:solidFill>
              </a:defRPr>
            </a:pPr>
            <a:r>
              <a:t>v5'te kapanan boşluklar (hepsi ölçümle)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E8EDF2"/>
                </a:solidFill>
              </a:defRPr>
            </a:pPr>
            <a:r>
              <a:t>• Satıra bölünmüş URL/anahtar (blok içi \n) — satır-kaydırma tespiti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21408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E8EDF2"/>
                </a:solidFill>
              </a:defRPr>
            </a:pPr>
            <a:r>
              <a:t>• Boşluksuz / BÜYÜK-küçük adres varyantları — normalize-izdüşüm yayılımı (Türkçe I/ı dahil)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71216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E8EDF2"/>
                </a:solidFill>
              </a:defRPr>
            </a:pPr>
            <a:r>
              <a:t>• Boşlukla bölünmüş API anahtarı — rakam-şartlı ikinci parça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21024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E8EDF2"/>
                </a:solidFill>
              </a:defRPr>
            </a:pPr>
            <a:r>
              <a:t>• Hücre sonunda kesilen değer — aynı-tip kesik-uç uzatması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70832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E8EDF2"/>
                </a:solidFill>
              </a:defRPr>
            </a:pPr>
            <a:r>
              <a:t>• Bağlamsız hesap no + etiketli adlar ("Hesap sahibi: X") + tek başına soyad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120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E8EDF2"/>
                </a:solidFill>
              </a:defRPr>
            </a:pPr>
            <a:r>
              <a:t>• Tek kelimelik NER yanlış pozitifleri — PERSON ortografik kuralları (fayda +%7'nin kaynağı)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EDF2"/>
                </a:solidFill>
              </a:defRPr>
            </a:pPr>
            <a:r>
              <a:t>Dürüstlük notları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E8EDF2"/>
                </a:solidFill>
              </a:defRPr>
            </a:pPr>
            <a:r>
              <a:t>• Holdout 1.00 skoru 20 belgelik alt-kümede ölçüldü (2× determinist doğrulama); tam 60 belge koşusu sürüm notunda.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2316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E8EDF2"/>
                </a:solidFill>
              </a:defRPr>
            </a:pPr>
            <a:r>
              <a:t>• GoldBench'i de biz yazdık — "ev sahibi avantajı" var. Dış korpusta (TAB, EN) skor %67: fark şablon aşinalığının ölçüsü.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E8EDF2"/>
                </a:solidFill>
              </a:defRPr>
            </a:pPr>
            <a:r>
              <a:t>• Aşırı-maskeleme probunda 11/40 açık — fast yolun yapısal sınırı; kalite (PF) yolunda kayboluyor.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E8EDF2"/>
                </a:solidFill>
              </a:defRPr>
            </a:pPr>
            <a:r>
              <a:t>• TRIR henüz koşulmadı; "ölçülmedi" PASS DEĞİLDİR ve öyle raporlanır.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8EDF2"/>
                </a:solidFill>
              </a:defRPr>
            </a:pPr>
            <a:r>
              <a:t>Fable'ı izleyin — 42 saniyede</a:t>
            </a:r>
          </a:p>
        </p:txBody>
      </p:sp>
      <p:pic>
        <p:nvPicPr>
          <p:cNvPr id="3" name="fable-promo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97280" y="1051560"/>
            <a:ext cx="9997135" cy="562338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8EDF2"/>
                </a:solidFill>
              </a:defRPr>
            </a:pPr>
            <a:r>
              <a:t>Proje GitHub'da</a:t>
            </a:r>
          </a:p>
        </p:txBody>
      </p:sp>
      <p:sp>
        <p:nvSpPr>
          <p:cNvPr id="3" name="Rectangle 2"/>
          <p:cNvSpPr/>
          <p:nvPr/>
        </p:nvSpPr>
        <p:spPr>
          <a:xfrm>
            <a:off x="4495647" y="1417320"/>
            <a:ext cx="320040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h-qr-proj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2807" y="1554480"/>
            <a:ext cx="2926080" cy="2926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475488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4AE3B5"/>
                </a:solidFill>
              </a:defRPr>
            </a:pPr>
            <a:r>
              <a:t>github.com/EminKolac/fable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30352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A96A3"/>
                </a:solidFill>
              </a:defRPr>
            </a:pPr>
            <a:r>
              <a:t>kod · benchmark altyapısı · deney günlüğü · bu sunum (özel repo)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