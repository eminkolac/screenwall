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6766560" cy="6766560"/>
          </a:xfrm>
          <a:prstGeom prst="ellipse">
            <a:avLst/>
          </a:prstGeom>
          <a:solidFill>
            <a:srgbClr val="16305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097280"/>
            <a:ext cx="4206240" cy="4206240"/>
          </a:xfrm>
          <a:prstGeom prst="ellipse">
            <a:avLst/>
          </a:prstGeom>
          <a:solidFill>
            <a:srgbClr val="1FA6A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66928"/>
            <a:ext cx="640080" cy="64008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746" y="707746"/>
            <a:ext cx="358445" cy="3584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0848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GİZLİLİK ÖNCELİKLİ KURUMSAL TEKNOLOJİ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395728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 Anonimleştirme</a:t>
            </a:r>
            <a:endParaRPr lang="en-US" sz="5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Platformu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66928" y="4343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+ İngilizce kurumsal belgelerde kişisel veriyi tespit eden, maskeleyen ve denetleyen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(local-first) yapay zekâ hattı — ham belge kurumun makinesini asla terk etmez.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928" y="5532120"/>
            <a:ext cx="5120640" cy="566928"/>
          </a:xfrm>
          <a:prstGeom prst="roundRect">
            <a:avLst>
              <a:gd name="adj" fmla="val 50000"/>
            </a:avLst>
          </a:prstGeom>
          <a:solidFill>
            <a:srgbClr val="16305E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55321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</a:t>
            </a:r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GDPR/EDPB uyumlu tasarım ·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 yerel işleme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Tanıtım Sunumu · Temmuz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YÖNETİCİ ÖZETİ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cümlede: veri dışarı çıkmadan paylaşılabilir hale gelir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Kurumlar; data-room, denetim, dava dosyası veya yapay zekâ kullanımında belgelerini paylaşmak zorunda — ama içindeki kişisel veriyle değil. Platform, belgeleri kurum içinde anonimleştirir, her çıktıyı denetimden geçirir ve yalnızca temiz katmanı dışarı verir.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EEF2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78892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847" y="2893527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429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22960" y="4526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test — tamamı geçiyor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2424" y="251460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EEF2F8"/>
          </a:solidFill>
          <a:ln/>
        </p:spPr>
      </p:sp>
      <p:sp>
        <p:nvSpPr>
          <p:cNvPr id="12" name="Shape 9"/>
          <p:cNvSpPr/>
          <p:nvPr/>
        </p:nvSpPr>
        <p:spPr>
          <a:xfrm>
            <a:off x="3621024" y="278892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631" y="2893527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83864" y="3429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123/123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3666744" y="4526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data-room dosyasında sıfır sızıntı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36208" y="251460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EEF2F8"/>
          </a:solidFill>
          <a:ln/>
        </p:spPr>
      </p:sp>
      <p:sp>
        <p:nvSpPr>
          <p:cNvPr id="17" name="Shape 13"/>
          <p:cNvSpPr/>
          <p:nvPr/>
        </p:nvSpPr>
        <p:spPr>
          <a:xfrm>
            <a:off x="6464808" y="278892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415" y="2893527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7648" y="3429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28/28</a:t>
            </a:r>
            <a:endParaRPr lang="en-US" sz="4000" dirty="0"/>
          </a:p>
        </p:txBody>
      </p:sp>
      <p:sp>
        <p:nvSpPr>
          <p:cNvPr id="20" name="Text 15"/>
          <p:cNvSpPr/>
          <p:nvPr/>
        </p:nvSpPr>
        <p:spPr>
          <a:xfrm>
            <a:off x="6510528" y="4526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BIST 30 benchmark'ında ilk belgeler tam onay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079992" y="251460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EEF2F8"/>
          </a:solidFill>
          <a:ln/>
        </p:spPr>
      </p:sp>
      <p:sp>
        <p:nvSpPr>
          <p:cNvPr id="22" name="Shape 17"/>
          <p:cNvSpPr/>
          <p:nvPr/>
        </p:nvSpPr>
        <p:spPr>
          <a:xfrm>
            <a:off x="9308592" y="278892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199" y="2893527"/>
            <a:ext cx="266273" cy="2662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71432" y="3429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0" dirty="0"/>
          </a:p>
        </p:txBody>
      </p:sp>
      <p:sp>
        <p:nvSpPr>
          <p:cNvPr id="25" name="Text 19"/>
          <p:cNvSpPr/>
          <p:nvPr/>
        </p:nvSpPr>
        <p:spPr>
          <a:xfrm>
            <a:off x="9354312" y="4526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öncesi dış ağ çağrısı — ölçülerek kanıtlı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Konum: </a:t>
            </a:r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tabanlı rakiplerin (Private AI, Nightfall, Microsoft Purview) yapısal olarak veremediği söz — </a:t>
            </a:r>
            <a:pPr indent="0" marL="0">
              <a:buNone/>
            </a:pPr>
            <a:r>
              <a:rPr lang="en-US" sz="14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belge ve kimlik eşlemesi makineyi terk etmez.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SAHADAN KANIT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BIST 30 belgeleri: kim, ne, sonuç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Devam eden benchmark'tan canlı örnekler — şirketlerin resmî yatırımcı ilişkileri sitelerinden indirilen halka açık belgeler, değiştirilmeden işlendi: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949440" cy="457200"/>
          </a:xfrm>
          <a:prstGeom prst="rect">
            <a:avLst/>
          </a:prstGeom>
          <a:solidFill>
            <a:srgbClr val="0A1F44"/>
          </a:solidFill>
          <a:ln w="6350">
            <a:solidFill>
              <a:srgbClr val="D5D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146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23560" y="19659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 (adet)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76656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441448"/>
            <a:ext cx="69494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5D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41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 BBVA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441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konsolide finansal rapor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4414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23560" y="24414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8.199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4414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16936"/>
            <a:ext cx="6949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9169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Astor Enerji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14600" y="29169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faaliyet raporu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9169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29169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8.547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9169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392424"/>
            <a:ext cx="69494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5DE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39242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Tüpraş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33924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SPK finansal tabloları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3924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23560" y="33924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5.496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33924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867912"/>
            <a:ext cx="6949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867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 Hava Yolları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14600" y="3867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2022–2026 finansal veri seti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867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23560" y="38679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1.897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0" y="38679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343400"/>
            <a:ext cx="694944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5DE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343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Pegasus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14600" y="4343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faaliyet raporu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23560" y="4343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3.635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66560" y="4343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818888"/>
            <a:ext cx="6949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8188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 Havalimanları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514600" y="4818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1H2025 yatırımcı sunumu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0" y="4818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23560" y="481888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66560" y="4818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53949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 (adet) nedir? 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Belgede takma adla değiştirilen metin aralığı sayısı — tekrar eden değerlerin her geçişi ayrı sayılır; aynı değer her geçişte AYNI takma adı alır. Dosya türleri: PDF, XLSX/XLS, DOCX; taranmış sayfada OCR. İlk 28 belgenin 28'i insan müdahalesiz onay aldı.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772400" y="1965960"/>
            <a:ext cx="3867912" cy="4251960"/>
          </a:xfrm>
          <a:prstGeom prst="roundRect">
            <a:avLst>
              <a:gd name="adj" fmla="val 2837"/>
            </a:avLst>
          </a:prstGeom>
          <a:solidFill>
            <a:srgbClr val="EEF2F8"/>
          </a:solidFill>
          <a:ln/>
        </p:spPr>
      </p:sp>
      <p:sp>
        <p:nvSpPr>
          <p:cNvPr id="50" name="Shape 48"/>
          <p:cNvSpPr/>
          <p:nvPr/>
        </p:nvSpPr>
        <p:spPr>
          <a:xfrm>
            <a:off x="8028432" y="219456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3039" y="2299167"/>
            <a:ext cx="266273" cy="266273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8613648" y="22128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otomatik test ne ölçüyor?</a:t>
            </a:r>
            <a:endParaRPr lang="en-US" sz="1450" dirty="0"/>
          </a:p>
        </p:txBody>
      </p:sp>
      <p:sp>
        <p:nvSpPr>
          <p:cNvPr id="53" name="Text 50"/>
          <p:cNvSpPr/>
          <p:nvPr/>
        </p:nvSpPr>
        <p:spPr>
          <a:xfrm>
            <a:off x="8028432" y="278892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Alım güvenliği (7): sahte uzantı, bozuk/bombalı arşiv reddi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Çıkarım (3+8): DOCX/XLSX/PDF kanalları, Türkçe glifli PDF üretimi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Anonimleştirme (10): TCKN checksum, kısmi IBAN sızıntısı, determinizm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katmanı (13): 54 etiketin doğru aileye katlanması, eşik/kapsam, çevrimdışı kalma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&amp; sohbet kapısı (8): eşleme asla serileşmez, onaysız erişim 403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API (30+): yükle→onay→indir, sızıntısız export, sağlamlık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MALİYET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kişilik bir kurum için üç yol — örnek senaryo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85032" cy="4343400"/>
          </a:xfrm>
          <a:prstGeom prst="roundRect">
            <a:avLst>
              <a:gd name="adj" fmla="val 2978"/>
            </a:avLst>
          </a:prstGeom>
          <a:solidFill>
            <a:srgbClr val="EEF2F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019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redaksiyon API'si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4672" y="2487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DEĞİŞKEN VE BİLEŞİK MALİYET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288036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Sayfa/karakter başı ücret: yoğun kullanan bir kurumda yıllık on binlerce dolar sınıfı, hacimle büyür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Asıl fatura gizli: veri yurt dışına çıkar → KVKK aktarım rejimi, sözleşme ve denetim yükü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 fiyat/politika değişikliği riski kalıcı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685032" cy="4343400"/>
          </a:xfrm>
          <a:prstGeom prst="roundRect">
            <a:avLst>
              <a:gd name="adj" fmla="val 2978"/>
            </a:avLst>
          </a:prstGeom>
          <a:solidFill>
            <a:srgbClr val="16305E"/>
          </a:solidFill>
          <a:ln/>
        </p:spPr>
      </p:sp>
      <p:sp>
        <p:nvSpPr>
          <p:cNvPr id="10" name="Text 8"/>
          <p:cNvSpPr/>
          <p:nvPr/>
        </p:nvSpPr>
        <p:spPr>
          <a:xfrm>
            <a:off x="4690872" y="19019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 içi büyük LLM (örn. GLM 5.2)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90872" y="2487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AĞIR SABİT YATIRIM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90872" y="288036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sınıfı bir modeli barındırmak çoklu-GPU sunucu ister: donanım + enerji + bakım ile yıllık milyonlarca TL sınıfı TCO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uzmanlığı şart; 250 kişilik kurumda tam zamanlı ekip demek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kritik nokta: genel LLM anonimleştirme GARANTİSİ vermez — determinizm yok, halüsinasyon riski var, denetim katmanı yok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691640"/>
            <a:ext cx="3685032" cy="4343400"/>
          </a:xfrm>
          <a:prstGeom prst="roundRect">
            <a:avLst>
              <a:gd name="adj" fmla="val 2978"/>
            </a:avLst>
          </a:prstGeom>
          <a:solidFill>
            <a:srgbClr val="EEF2F8"/>
          </a:solidFill>
          <a:ln w="25400">
            <a:solidFill>
              <a:srgbClr val="1FA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77072" y="19019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platform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577072" y="2487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DONANIM, SIFIRA YAKIN MARJİNAL MALİYET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77072" y="288036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 aktif parametreli UZMAN model + kural motoru: standart bir ofis iş istasyonu (16 GB M-serisi) yeterli, GPU şart değil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Lisans dışında işletme maliyeti ≈ elektrik; belge başına ek ücret yok, hacim arttıkça birim maliyet düşer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Determinizm + denetim + katman izolasyonu mimaride — maliyet avantajı güvenlikten feragat etmeden gelir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Rakamlar Temmuz 2026 kamu fiyatlandırmalarına dayalı yaklaşık senaryolardır; kesin toplam sahip olma maliyeti kurumun hacmine ve altyapısına göre değişir.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hat: yükle → temiz PDF indir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112264" cy="3108960"/>
          </a:xfrm>
          <a:prstGeom prst="roundRect">
            <a:avLst>
              <a:gd name="adj" fmla="val 5195"/>
            </a:avLst>
          </a:prstGeom>
          <a:solidFill>
            <a:srgbClr val="EEF2F8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2121408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487" y="2226015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" y="274320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182112"/>
            <a:ext cx="1929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XLSX;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uzantı + imza + zip-bombası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kontrolü; bozuk dosya reddi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633472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43784" y="1874520"/>
            <a:ext cx="2112264" cy="3108960"/>
          </a:xfrm>
          <a:prstGeom prst="roundRect">
            <a:avLst>
              <a:gd name="adj" fmla="val 5195"/>
            </a:avLst>
          </a:prstGeom>
          <a:solidFill>
            <a:srgbClr val="EEF2F8"/>
          </a:solidFill>
          <a:ln/>
        </p:spPr>
      </p:sp>
      <p:sp>
        <p:nvSpPr>
          <p:cNvPr id="12" name="Shape 9"/>
          <p:cNvSpPr/>
          <p:nvPr/>
        </p:nvSpPr>
        <p:spPr>
          <a:xfrm>
            <a:off x="3621024" y="2121408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631" y="2226015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98648" y="274320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Çıkar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935224" y="3182112"/>
            <a:ext cx="1929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Görünmeyen kanallar dahil: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üst/alt bilgi, yorumlar, hücre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notları; taranmış sayfada OCR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28616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138928" y="1874520"/>
            <a:ext cx="2112264" cy="3108960"/>
          </a:xfrm>
          <a:prstGeom prst="roundRect">
            <a:avLst>
              <a:gd name="adj" fmla="val 5195"/>
            </a:avLst>
          </a:prstGeom>
          <a:solidFill>
            <a:srgbClr val="EEF2F8"/>
          </a:solidFill>
          <a:ln/>
        </p:spPr>
      </p:sp>
      <p:sp>
        <p:nvSpPr>
          <p:cNvPr id="18" name="Shape 14"/>
          <p:cNvSpPr/>
          <p:nvPr/>
        </p:nvSpPr>
        <p:spPr>
          <a:xfrm>
            <a:off x="5916168" y="2121408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775" y="2226015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93792" y="274320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Tespit + Maskele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230368" y="3182112"/>
            <a:ext cx="1929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aşamalı tespit birleşimi;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deterministik &lt;TİP_n&gt;;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değer = aynı takma ad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7223760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7434072" y="1874520"/>
            <a:ext cx="2112264" cy="3108960"/>
          </a:xfrm>
          <a:prstGeom prst="roundRect">
            <a:avLst>
              <a:gd name="adj" fmla="val 5195"/>
            </a:avLst>
          </a:prstGeom>
          <a:solidFill>
            <a:srgbClr val="EEF2F8"/>
          </a:solidFill>
          <a:ln/>
        </p:spPr>
      </p:sp>
      <p:sp>
        <p:nvSpPr>
          <p:cNvPr id="24" name="Shape 19"/>
          <p:cNvSpPr/>
          <p:nvPr/>
        </p:nvSpPr>
        <p:spPr>
          <a:xfrm>
            <a:off x="8211312" y="2121408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919" y="2226015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88936" y="274320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Denetle (döngü)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525512" y="3182112"/>
            <a:ext cx="1929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denetçiler; kalıntı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 yasak listesine eklenir,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tur (en çok 3) veya insana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9518904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9729216" y="1874520"/>
            <a:ext cx="2112264" cy="3108960"/>
          </a:xfrm>
          <a:prstGeom prst="roundRect">
            <a:avLst>
              <a:gd name="adj" fmla="val 5195"/>
            </a:avLst>
          </a:prstGeom>
          <a:solidFill>
            <a:srgbClr val="0A1F44"/>
          </a:solidFill>
          <a:ln/>
        </p:spPr>
      </p:sp>
      <p:sp>
        <p:nvSpPr>
          <p:cNvPr id="30" name="Shape 24"/>
          <p:cNvSpPr/>
          <p:nvPr/>
        </p:nvSpPr>
        <p:spPr>
          <a:xfrm>
            <a:off x="10506456" y="2121408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1063" y="2226015"/>
            <a:ext cx="266273" cy="26627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784080" y="274320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Teslim Et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820656" y="3182112"/>
            <a:ext cx="1929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 denetlenmiş katmandan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anonim dosya adı;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orijinal bayt asla kullanılmaz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6305E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559552"/>
            <a:ext cx="411480" cy="4114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417320" y="5394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sonrası: </a:t>
            </a:r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anonim içerik üzerinde sohbet/analiz (varsayılan tamamen yerel Ollama; istenirse kurumsal LLM). Toplu klasör işleme için komut satırı aracı aynı hattı kullanır — 123 dosyalık data-room tek komutla işlendi.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TEKNOLOJİ · TESPİT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bağımsız tespit aşaması, tek tutarlı maske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85032" cy="4160520"/>
          </a:xfrm>
          <a:prstGeom prst="roundRect">
            <a:avLst>
              <a:gd name="adj" fmla="val 2978"/>
            </a:avLst>
          </a:prstGeom>
          <a:solidFill>
            <a:srgbClr val="EEF2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+ NER TABANI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76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Presidio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YAPAR: Yapılandırılmış kimlikleri kurallarla, adları NER ile yakalar — İngilizce + Türkçe çift analiz; TCKN (checksum), VKN, GSM, TR-IBAN, plaka, pasaport.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BAŞARISI: Kısmi sızıntıyı önleyen çakışma çözümü; sahada belge başına binlerce alanı hatasız maskeledi (ör. Garanti raporu: 8.199).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685032" cy="4160520"/>
          </a:xfrm>
          <a:prstGeom prst="roundRect">
            <a:avLst>
              <a:gd name="adj" fmla="val 2978"/>
            </a:avLst>
          </a:prstGeom>
          <a:solidFill>
            <a:srgbClr val="EEF2F8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BAĞLAMSAL YAPAY ZEKÂ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2176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Privacy Filter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27432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YAPAR: Kuralların göremediğini bağlamdan anlar — serbest metindeki adres, hesap no, parola/API anahtarı. 54 kategori, tamamen cihaz üzerinde (sıfır ağ).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09160" y="42062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BAŞARISI: Türkçe testte kişi/telefon/e-posta tespitlerini %83–100 güvenle üretti; kural tabanının 'yapısal kör noktalarını' kapatır.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21040" y="1691640"/>
            <a:ext cx="3685032" cy="4160520"/>
          </a:xfrm>
          <a:prstGeom prst="roundRect">
            <a:avLst>
              <a:gd name="adj" fmla="val 2978"/>
            </a:avLst>
          </a:prstGeom>
          <a:solidFill>
            <a:srgbClr val="EEF2F8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BİLGİ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0" y="2176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Yasak Listesi + Geri Besleme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0" y="27432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YAPAR: Fon/marka/proje adları gibi 'yalnız kurumun bildiği' hassas terimleri koşulsuz maskeler — büyük/küçük harf ve satır sonu esnek.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95360" y="42062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BAŞARISI: Denetçinin bulduğu her kalıntı bir SONRAKİ turda bu listeye otomatik girer — sistem kendi hatasından aynı belge içinde öğrenir.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Determinizm: </a:t>
            </a:r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"Ahmet Yılmaz" gövdede, tabloda, üstbilgide veya dosya adında — her yerde aynı </a:t>
            </a:r>
            <a:pPr indent="0" marL="0">
              <a:buNone/>
            </a:pPr>
            <a:r>
              <a:rPr lang="en-US" sz="13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&lt;KİŞİ_1&gt;</a:t>
            </a:r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olur. Üç aşama aynı değeri farklı yakalasa bile tek placeholder ailesine normalize edilir (testle garanti).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GÜVENLİK ANAYASASI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Beş değişmez ilke — kod düzeyinde zorlanır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85032" cy="2148840"/>
          </a:xfrm>
          <a:prstGeom prst="roundRect">
            <a:avLst>
              <a:gd name="adj" fmla="val 5106"/>
            </a:avLst>
          </a:prstGeom>
          <a:solidFill>
            <a:srgbClr val="16305E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47672"/>
            <a:ext cx="475488" cy="475488"/>
          </a:xfrm>
          <a:prstGeom prst="ellipse">
            <a:avLst/>
          </a:prstGeom>
          <a:solidFill>
            <a:srgbClr val="1FA6A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279" y="2052279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293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öncelik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560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Onaydan önce sıfır dış çağrı; ham belge ve kimlik eşlemesi makineyi terk etmez. Yapay zekâ modeli dahil her şey cihazda.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34840" y="1691640"/>
            <a:ext cx="3685032" cy="2148840"/>
          </a:xfrm>
          <a:prstGeom prst="roundRect">
            <a:avLst>
              <a:gd name="adj" fmla="val 5106"/>
            </a:avLst>
          </a:prstGeom>
          <a:solidFill>
            <a:srgbClr val="16305E"/>
          </a:solidFill>
          <a:ln/>
        </p:spPr>
      </p:sp>
      <p:sp>
        <p:nvSpPr>
          <p:cNvPr id="11" name="Shape 8"/>
          <p:cNvSpPr/>
          <p:nvPr/>
        </p:nvSpPr>
        <p:spPr>
          <a:xfrm>
            <a:off x="4690872" y="1947672"/>
            <a:ext cx="475488" cy="475488"/>
          </a:xfrm>
          <a:prstGeom prst="ellipse">
            <a:avLst/>
          </a:prstGeom>
          <a:solidFill>
            <a:srgbClr val="1FA6A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479" y="2052279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9293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2560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Belirsizlik otomatik onaya değil, insan incelemesine gider. OCR yoksa, denetim temiz değilse, dosya bozuksa: durur.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321040" y="1691640"/>
            <a:ext cx="3685032" cy="2148840"/>
          </a:xfrm>
          <a:prstGeom prst="roundRect">
            <a:avLst>
              <a:gd name="adj" fmla="val 5106"/>
            </a:avLst>
          </a:prstGeom>
          <a:solidFill>
            <a:srgbClr val="16305E"/>
          </a:solidFill>
          <a:ln/>
        </p:spPr>
      </p:sp>
      <p:sp>
        <p:nvSpPr>
          <p:cNvPr id="16" name="Shape 12"/>
          <p:cNvSpPr/>
          <p:nvPr/>
        </p:nvSpPr>
        <p:spPr>
          <a:xfrm>
            <a:off x="8577072" y="1947672"/>
            <a:ext cx="475488" cy="475488"/>
          </a:xfrm>
          <a:prstGeom prst="ellipse">
            <a:avLst/>
          </a:prstGeom>
          <a:solidFill>
            <a:srgbClr val="1FA6A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1679" y="2052279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89720" y="19293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Denetlenen = teslim edilen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95360" y="2560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İndirilen PDF yalnızca denetimden geçmiş anonim katmandan üretilir; orijinal bayt asla yeniden kullanılmaz.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3685032" cy="2148840"/>
          </a:xfrm>
          <a:prstGeom prst="roundRect">
            <a:avLst>
              <a:gd name="adj" fmla="val 5106"/>
            </a:avLst>
          </a:prstGeom>
          <a:solidFill>
            <a:srgbClr val="16305E"/>
          </a:solidFill>
          <a:ln/>
        </p:spPr>
      </p:sp>
      <p:sp>
        <p:nvSpPr>
          <p:cNvPr id="21" name="Shape 16"/>
          <p:cNvSpPr/>
          <p:nvPr/>
        </p:nvSpPr>
        <p:spPr>
          <a:xfrm>
            <a:off x="804672" y="4325112"/>
            <a:ext cx="475488" cy="475488"/>
          </a:xfrm>
          <a:prstGeom prst="ellipse">
            <a:avLst/>
          </a:prstGeom>
          <a:solidFill>
            <a:srgbClr val="1FA6A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79" y="4429719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3068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Determinizm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22960" y="49377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değer = aynı takma ad. Rastgelelik yok; tekrarlanabilir, savunulabilir çıktı.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434840" y="4069080"/>
            <a:ext cx="3685032" cy="2148840"/>
          </a:xfrm>
          <a:prstGeom prst="roundRect">
            <a:avLst>
              <a:gd name="adj" fmla="val 5106"/>
            </a:avLst>
          </a:prstGeom>
          <a:solidFill>
            <a:srgbClr val="16305E"/>
          </a:solidFill>
          <a:ln/>
        </p:spPr>
      </p:sp>
      <p:sp>
        <p:nvSpPr>
          <p:cNvPr id="26" name="Shape 20"/>
          <p:cNvSpPr/>
          <p:nvPr/>
        </p:nvSpPr>
        <p:spPr>
          <a:xfrm>
            <a:off x="4690872" y="4325112"/>
            <a:ext cx="475488" cy="475488"/>
          </a:xfrm>
          <a:prstGeom prst="ellipse">
            <a:avLst/>
          </a:prstGeom>
          <a:solidFill>
            <a:srgbClr val="1FA6A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479" y="4429719"/>
            <a:ext cx="266273" cy="26627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43068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izolasyonu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709160" y="49377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ayrı depo: orijinal + eşleme YEREL-KİLİTLİ; yalnız anonim katmanlar paylaşılabilir. Sınır kodda assert edilir.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8549640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ilkeler slogan değil: </a:t>
            </a:r>
            <a:pPr indent="0" marL="0">
              <a:buNone/>
            </a:pPr>
            <a:r>
              <a:rPr lang="en-US" sz="13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koşumda ağ trafiği ölçülür, katman sınırı testlerle kanıtlanır.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DEĞER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platform kurumunuz için ne ifade ediyor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EEF2F8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6596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279" y="2070567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47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Fonlar &amp; M&amp;A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463040" y="2404872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Data-room'lar alıcıya günler değil saatler içinde, kişisel veriden arındırılmış ve kanıtlanabilir biçimde açılır. Portföy şirketi adları dahi yasak listesiyle korunur.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1691640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EEF2F8"/>
          </a:solidFill>
          <a:ln/>
        </p:spPr>
      </p:sp>
      <p:sp>
        <p:nvSpPr>
          <p:cNvPr id="11" name="Shape 8"/>
          <p:cNvSpPr/>
          <p:nvPr/>
        </p:nvSpPr>
        <p:spPr>
          <a:xfrm>
            <a:off x="6611112" y="196596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719" y="2070567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47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Hukuk &amp; Denetim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269480" y="2404872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Dava dosyaları, bilirkişi raporları ve denetim evrakı; müvekkil gizliliği bozulmadan paylaşılır. Deterministik takma adlar çapraz referansı korur — dosya okunur kalır.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EEF2F8"/>
          </a:solidFill>
          <a:ln/>
        </p:spPr>
      </p:sp>
      <p:sp>
        <p:nvSpPr>
          <p:cNvPr id="16" name="Shape 12"/>
          <p:cNvSpPr/>
          <p:nvPr/>
        </p:nvSpPr>
        <p:spPr>
          <a:xfrm>
            <a:off x="804672" y="429768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9" y="4402287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2793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Bankacılık &amp; Finans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463040" y="4736592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verisi içeren raporlar (IBAN, TCKN, hesap no) düzenleyiciye/iş ortağına güvenle akar. Kredi kartı ve kimlik alanları checksum düzeyinde doğrulanır.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55080" y="4023360"/>
            <a:ext cx="5532120" cy="2103120"/>
          </a:xfrm>
          <a:prstGeom prst="roundRect">
            <a:avLst>
              <a:gd name="adj" fmla="val 4348"/>
            </a:avLst>
          </a:prstGeom>
          <a:solidFill>
            <a:srgbClr val="EEF2F8"/>
          </a:solidFill>
          <a:ln/>
        </p:spPr>
      </p:sp>
      <p:sp>
        <p:nvSpPr>
          <p:cNvPr id="21" name="Shape 16"/>
          <p:cNvSpPr/>
          <p:nvPr/>
        </p:nvSpPr>
        <p:spPr>
          <a:xfrm>
            <a:off x="6611112" y="4297680"/>
            <a:ext cx="475488" cy="475488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719" y="4402287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2793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&amp; İK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269480" y="4736592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Bordro, özlük ve kurul belgeleri kurumsal sınır dışına çıkmadan anonimleşir. KVKK saklama-imha süreçlerinin 'anonimleştirme' ayağı otomatikleşir.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UYUM ÇERÇEVESİ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ve GDPR ile aynı dili konuşur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F7F9FC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— Silme, Yok Etme ve Anonimleştirme Yönetmeliği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0" y="1783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Maskeleme temelli anonimleştirme rehber terminolojisiyle uygulanır; saklama süresi dolan verinin anonimleştirilmesi otomatik bir hat kazanır.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EEF2F8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260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EDPB 01/2025 — Pseudonymisation Rehberi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0" y="2926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Rehberin şart koştuğu 'ek bilginin (eşleme) ayrı tutulması', mimaride YEREL-KİLİTLİ katman izolasyonu olarak birebir karşılanır.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F7F9FC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690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— Veri Minimizasyonu &amp; Md. 32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0" y="4069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Paylaşılan her kopyada kişisel veri minimize edilir; teknik-organizasyonel tedbirler test edilebilir invariant'lar olarak kodda yaşar.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EEF2F8"/>
          </a:solidFill>
          <a:ln w="9525">
            <a:solidFill>
              <a:srgbClr val="D5DE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2120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Denetlenebilirlik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0" y="5212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belge için tur-tur işlem geçmişi ve tespit sayıları tutulur; yol haritasında imzalı denetim izi ve KVKK/EDPB-haritalı kanıt paketi var.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Platform bir 'uyum garantisi' değil, uyumun teknik kanıt katmanıdır; hukuki değerlendirme kuruma aittir.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 ANALİZİ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Rakipler ne yapıyor, nerede kalıyor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532120" cy="2194560"/>
          </a:xfrm>
          <a:prstGeom prst="roundRect">
            <a:avLst>
              <a:gd name="adj" fmla="val 4167"/>
            </a:avLst>
          </a:prstGeom>
          <a:solidFill>
            <a:srgbClr val="EEF2F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922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130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YAKIN RAKİP — BULUT/KONTEYNER REDAKSİYON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4672" y="24505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Güçlü: 50+ dil, format-koruyan çıktı (Word→Word, Excel→Excel), sentetik değer ikamesi.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3108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Sınır: Veri sağlayıcı yazılımına emanet edilir; TR kimlik derinliği (TCKN checksum, VKN, plaka) yok; denetim döngüsü ve fail-closed garanti yok.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5532120" cy="2194560"/>
          </a:xfrm>
          <a:prstGeom prst="roundRect">
            <a:avLst>
              <a:gd name="adj" fmla="val 4167"/>
            </a:avLst>
          </a:prstGeom>
          <a:solidFill>
            <a:srgbClr val="EEF2F8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17922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1112" y="2130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KASASI (VAULT) YAKLAŞIMI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11112" y="24505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Güçlü: Rol-kapılı yeniden-tanımlama, alan düzeyi erişim politikaları — vault mimarisi örnek alınacak sınıfta.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11112" y="3108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Sınır: SaaS vault = hassas veri yine dışarıda; belge redaksiyonu çekirdek ürünü değil, yapılandırılmış alan odaklı.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41648"/>
            <a:ext cx="5532120" cy="2194560"/>
          </a:xfrm>
          <a:prstGeom prst="roundRect">
            <a:avLst>
              <a:gd name="adj" fmla="val 4167"/>
            </a:avLst>
          </a:prstGeom>
          <a:solidFill>
            <a:srgbClr val="EEF2F8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87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Nightfall AI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AI-ÇAĞI DLP — ENGELLEME ODAKLI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4672" y="4846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Güçlü: LLM/ajan trafiğinde sızıntı tespiti, ekran görüntüsünde PII, %95 hassasiyet iddiası.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" y="55046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Sınır: Paylaşımı ENGELLER, belgeyi paylaşılabilir YAPMAZ; bulut analiz; Türkçe belge derinliği yok.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4041648"/>
            <a:ext cx="5532120" cy="2194560"/>
          </a:xfrm>
          <a:prstGeom prst="roundRect">
            <a:avLst>
              <a:gd name="adj" fmla="val 4167"/>
            </a:avLst>
          </a:prstGeom>
          <a:solidFill>
            <a:srgbClr val="EEF2F8"/>
          </a:solidFill>
          <a:ln/>
        </p:spPr>
      </p:sp>
      <p:sp>
        <p:nvSpPr>
          <p:cNvPr id="21" name="Text 19"/>
          <p:cNvSpPr/>
          <p:nvPr/>
        </p:nvSpPr>
        <p:spPr>
          <a:xfrm>
            <a:off x="6611112" y="4187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11112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DLP STANDARDI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11112" y="4846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Güçlü: Uç nokta kontrolü (USB, yazdırma, pano), Office ekosistem entegrasyonu, OCR 2026'da uca geldi.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11112" y="55046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Sınır: Span-düzeyi belge redaksiyonu yok (yalnız eDiscovery inceleme setlerinde); 'anonimleştirip teslim et' iş akışı ürün boşluğu — tam bizim konumumuz.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</a:t>
            </a:r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rakip üçünü birden vermiyor — </a:t>
            </a:r>
            <a:pPr indent="0" marL="0">
              <a:buNone/>
            </a:pPr>
            <a:r>
              <a:rPr lang="en-US" sz="135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işleme + Türkçe kimlik derinliği + denetlenmiş kanıtlı çıktı.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KARNE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 tuzak (canary) benchmark'ı ne diyor, çıta nerede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EEF2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— ÖLÇÜLEN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Değer-recall (maskelenen / yerleştirilen)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0" y="21945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%98,1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false-negative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0" y="2743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Export'ta kalıntı sızıntı adayı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3291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adı anonimleştirme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0" y="3840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OCR'lı sayfada tespit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0" y="4389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ailesi doğruluğu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0" y="49377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%55 *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99632" y="164592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0A1F44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18470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ÜRETİM ÇITASI — CI KAPISI HEDEFLERİ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73952" y="2194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PII recall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1832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73952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recall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41832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%95  (bugün ✓)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73952" y="3291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false-negative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418320" y="3291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73952" y="3840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kalıntısı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418320" y="3840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ship blocker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73952" y="4389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Yeni/yanlış placeholder ailesi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418320" y="4389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sayılır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73952" y="4937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 anında dış ağ çağrısı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418320" y="4937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sayılır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58521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Değer maskelenir (sızıntı yok) ama bazen yanlış tip etiketi alır — tutarlılık işi. Kapatma planı: </a:t>
            </a:r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kaçan tuzak regresyon testine dönüşür · kategori-bazlı eşik kalibrasyonu · satır-sonu normalizasyonu · aile eşleme düzeltmeleri.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3566160"/>
            <a:ext cx="6949440" cy="6949440"/>
          </a:xfrm>
          <a:prstGeom prst="ellipse">
            <a:avLst/>
          </a:prstGeom>
          <a:solidFill>
            <a:srgbClr val="16305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566928"/>
            <a:ext cx="640080" cy="640080"/>
          </a:xfrm>
          <a:prstGeom prst="ellipse">
            <a:avLst/>
          </a:prstGeom>
          <a:solidFill>
            <a:srgbClr val="0A1F4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746" y="707746"/>
            <a:ext cx="358445" cy="358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1488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Veriniz değerli.</a:t>
            </a:r>
            <a:endParaRPr lang="en-US" sz="4600" dirty="0"/>
          </a:p>
          <a:p>
            <a:pPr algn="ctr"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Makineyi terk etmesin.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109728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 Anonimleştirme Platformu </a:t>
            </a:r>
            <a:pPr algn="ctr" indent="0" marL="0">
              <a:buNone/>
            </a:pPr>
            <a:r>
              <a:rPr lang="en-US" sz="18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kurumsal gizliliğin yerel altyapısı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pilot data-room çalışması · teknik mimari incelemesi için hazırız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Temmuz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2026-07-22T12:28:01Z</dcterms:created>
  <dcterms:modified xsi:type="dcterms:W3CDTF">2026-07-22T12:28:01Z</dcterms:modified>
</cp:coreProperties>
</file>