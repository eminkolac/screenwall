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8"/>
    <p:sldId id="268" r:id="rId19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188720" cy="381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4688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C1B18"/>
                </a:solidFill>
                <a:latin typeface="Georgia"/>
              </a:rPr>
              <a:t>Screenwall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B675C"/>
                </a:solidFill>
                <a:latin typeface="Avenir Next"/>
              </a:rPr>
              <a:t>Hassas belgelerinizle, en güçlü yapay zekâ modellerini güvenle kullanmanın yolu.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Çözülen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70432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B675C"/>
                </a:solidFill>
                <a:latin typeface="Avenir Next"/>
              </a:rPr>
              <a:t>Kurumsal bir belge, öncü bir yapay zekâ modeline ulaşmak istediğinde bugün iki yol var — ikisi de tıkalı.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2193" y="2229306"/>
            <a:ext cx="249631" cy="332841"/>
          </a:xfrm>
          <a:prstGeom prst="rect">
            <a:avLst/>
          </a:prstGeom>
          <a:noFill/>
          <a:ln w="28575">
            <a:solidFill>
              <a:srgbClr val="6B6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32119" y="2322501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32119" y="2389069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32119" y="2455637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36192" y="2112263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1B18"/>
                </a:solidFill>
                <a:latin typeface="Avenir Next"/>
              </a:rPr>
              <a:t>Kurumsal
belge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2395726"/>
            <a:ext cx="1371600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0" y="1874519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9525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05739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4E28"/>
                </a:solidFill>
                <a:latin typeface="Avenir Next"/>
              </a:rPr>
              <a:t>A. Doğrudan gönderim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0487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Kişisel veri kurum dışına çıkar</a:t>
            </a:r>
          </a:p>
        </p:txBody>
      </p:sp>
      <p:sp>
        <p:nvSpPr>
          <p:cNvPr id="16" name="&quot;No&quot; Symbol 15"/>
          <p:cNvSpPr/>
          <p:nvPr/>
        </p:nvSpPr>
        <p:spPr>
          <a:xfrm>
            <a:off x="7800747" y="2241193"/>
            <a:ext cx="309067" cy="309067"/>
          </a:xfrm>
          <a:prstGeom prst="noSmoking">
            <a:avLst/>
          </a:prstGeom>
          <a:noFill/>
          <a:ln w="38100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2112263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4E28"/>
                </a:solidFill>
                <a:latin typeface="Avenir Next"/>
              </a:rPr>
              <a:t>Mevzuat riski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441447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KVKK / GDPR ihlali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461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2193" y="3600907"/>
            <a:ext cx="249631" cy="332841"/>
          </a:xfrm>
          <a:prstGeom prst="rect">
            <a:avLst/>
          </a:prstGeom>
          <a:noFill/>
          <a:ln w="28575">
            <a:solidFill>
              <a:srgbClr val="6B6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132119" y="3694102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2119" y="3760670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32119" y="3827238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36192" y="3483864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1B18"/>
                </a:solidFill>
                <a:latin typeface="Avenir Next"/>
              </a:rPr>
              <a:t>Kurumsal
belge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34640" y="3767327"/>
            <a:ext cx="1371600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06240" y="32461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9525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429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4E28"/>
                </a:solidFill>
                <a:latin typeface="Avenir Next"/>
              </a:rPr>
              <a:t>B. Kurum içi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764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Model kurum sınırları içinde tutulur</a:t>
            </a:r>
          </a:p>
        </p:txBody>
      </p:sp>
      <p:sp>
        <p:nvSpPr>
          <p:cNvPr id="29" name="&quot;No&quot; Symbol 28"/>
          <p:cNvSpPr/>
          <p:nvPr/>
        </p:nvSpPr>
        <p:spPr>
          <a:xfrm>
            <a:off x="7800747" y="3612794"/>
            <a:ext cx="309067" cy="309067"/>
          </a:xfrm>
          <a:prstGeom prst="noSmoking">
            <a:avLst/>
          </a:prstGeom>
          <a:noFill/>
          <a:ln w="38100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3483864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4E28"/>
                </a:solidFill>
                <a:latin typeface="Avenir Next"/>
              </a:rPr>
              <a:t>Maliyet engeli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81304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Sürdürülemez altyapı yükü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61772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82193" y="5045660"/>
            <a:ext cx="249631" cy="332841"/>
          </a:xfrm>
          <a:prstGeom prst="rect">
            <a:avLst/>
          </a:prstGeom>
          <a:noFill/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132119" y="5138855"/>
            <a:ext cx="149779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32119" y="5205423"/>
            <a:ext cx="149779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32119" y="5271991"/>
            <a:ext cx="149779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36192" y="4928616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1B18"/>
                </a:solidFill>
                <a:latin typeface="Avenir Next"/>
              </a:rPr>
              <a:t>Kurumsal
belge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834640" y="5212080"/>
            <a:ext cx="1371600" cy="0"/>
          </a:xfrm>
          <a:prstGeom prst="line">
            <a:avLst/>
          </a:prstGeom>
          <a:ln w="2857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206240" y="461772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8188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F6E56"/>
                </a:solidFill>
                <a:latin typeface="Avenir Next"/>
              </a:rPr>
              <a:t>C. Screenwall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1846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B18"/>
                </a:solidFill>
                <a:latin typeface="Avenir Next"/>
              </a:rPr>
              <a:t>Kişisel veri belgeden ayrılır,
yerine anonim etiketler geçer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98080" y="5212080"/>
            <a:ext cx="1097280" cy="0"/>
          </a:xfrm>
          <a:prstGeom prst="line">
            <a:avLst/>
          </a:prstGeom>
          <a:ln w="2857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72400" y="5184648"/>
            <a:ext cx="87783" cy="98755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860183" y="5096866"/>
            <a:ext cx="142645" cy="186537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686800" y="461772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5400" y="487375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  <a:latin typeface="Avenir Next"/>
              </a:rPr>
              <a:t>Öncü AI modeli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23951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Tam kapasiteyle kullanılır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9893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  <a:latin typeface="Avenir Next"/>
              </a:rPr>
              <a:t>Model kurum dışında kalır, veri kurum içinde. Altyapı yatırımı gerekmez, kişisel veri hiçbir aşamada aktarılmaz.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Nasıl çalışır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35201" y="1944015"/>
            <a:ext cx="307238" cy="409651"/>
          </a:xfrm>
          <a:prstGeom prst="rect">
            <a:avLst/>
          </a:prstGeom>
          <a:noFill/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896648" y="2058717"/>
            <a:ext cx="184344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96648" y="2140647"/>
            <a:ext cx="184344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96648" y="2222577"/>
            <a:ext cx="184344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26060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B18"/>
                </a:solidFill>
                <a:latin typeface="Avenir Next"/>
              </a:rPr>
              <a:t>Yükleme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675C"/>
                </a:solidFill>
                <a:latin typeface="Avenir Next"/>
              </a:rPr>
              <a:t>PDF, DOCX, XLSX — olduğu gibi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50876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3211" y="1945479"/>
            <a:ext cx="336499" cy="336499"/>
          </a:xfrm>
          <a:prstGeom prst="ellipse">
            <a:avLst/>
          </a:prstGeom>
          <a:noFill/>
          <a:ln w="381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650601" y="2222869"/>
            <a:ext cx="160934" cy="160934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47872" y="26060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B18"/>
                </a:solidFill>
                <a:latin typeface="Avenir Next"/>
              </a:rPr>
              <a:t>Çıkarım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675C"/>
                </a:solidFill>
                <a:latin typeface="Avenir Next"/>
              </a:rPr>
              <a:t>Yapı korunarak metne çevrilir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50876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entagon 17"/>
          <p:cNvSpPr/>
          <p:nvPr/>
        </p:nvSpPr>
        <p:spPr>
          <a:xfrm rot="10800000">
            <a:off x="6930238" y="1891346"/>
            <a:ext cx="468172" cy="514989"/>
          </a:xfrm>
          <a:prstGeom prst="homePlat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26060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B18"/>
                </a:solidFill>
                <a:latin typeface="Avenir Next"/>
              </a:rPr>
              <a:t>Tespit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675C"/>
                </a:solidFill>
                <a:latin typeface="Avenir Next"/>
              </a:rPr>
              <a:t>3 katmanlı sistem hassas veriyi bulur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2286000"/>
            <a:ext cx="365760" cy="0"/>
          </a:xfrm>
          <a:prstGeom prst="line">
            <a:avLst/>
          </a:prstGeom>
          <a:ln w="25400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38160" y="150876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85632" y="1673351"/>
            <a:ext cx="402336" cy="402336"/>
          </a:xfrm>
          <a:prstGeom prst="ellipse">
            <a:avLst/>
          </a:prstGeom>
          <a:noFill/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1673351"/>
            <a:ext cx="402336" cy="40233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2000" b="1">
                <a:solidFill>
                  <a:srgbClr val="0F6E56"/>
                </a:solidFill>
              </a:rPr>
              <a:t>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6916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  <a:latin typeface="Avenir Next"/>
              </a:rPr>
              <a:t>Denetim döngüsü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14884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B18"/>
                </a:solidFill>
                <a:latin typeface="Avenir Next"/>
              </a:rPr>
              <a:t>Sistem kendi işini kontrol eder: temiz mi? Değilse en fazla 3 kez yeniden dener.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429000"/>
            <a:ext cx="10515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12383" y="3834994"/>
            <a:ext cx="192755" cy="192755"/>
          </a:xfrm>
          <a:prstGeom prst="ellipse">
            <a:avLst/>
          </a:prstGeom>
          <a:solidFill>
            <a:srgbClr val="C04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14450" y="4089929"/>
            <a:ext cx="388620" cy="264261"/>
          </a:xfrm>
          <a:prstGeom prst="roundRect">
            <a:avLst/>
          </a:prstGeom>
          <a:solidFill>
            <a:srgbClr val="C04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36118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B18"/>
                </a:solidFill>
                <a:latin typeface="Avenir Next"/>
              </a:rPr>
              <a:t>Emin değilse, karar bir insana gider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3977639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3 denemenin sonunda hâlâ şüpheli bir şey varsa, sistem kendi kendine onay vermez.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27939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Belge bir uzmanın önüne düşer — belirsizlikte son sözü her zaman insan söyler.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Onaylanan belge, sadece maskelenmiş içerikten yeniden üretilen bir dosya olarak size döner 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49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orijinal belge hiçbir zaman yeniden paylaşılmaz.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3 katmanlı tespit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Her katman farklı bir şeyi yakalar. Biri kaçırırsa diğeri devreye girer — üçü birbirinin yedeği değil, tamamlayıcısıdır.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50900" y="2165300"/>
            <a:ext cx="332841" cy="332841"/>
          </a:xfrm>
          <a:prstGeom prst="roundRect">
            <a:avLst/>
          </a:prstGeom>
          <a:noFill/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61847" y="2165303"/>
            <a:ext cx="0" cy="332834"/>
          </a:xfrm>
          <a:prstGeom prst="line">
            <a:avLst/>
          </a:prstGeom>
          <a:ln w="1905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50903" y="2276247"/>
            <a:ext cx="332834" cy="0"/>
          </a:xfrm>
          <a:prstGeom prst="line">
            <a:avLst/>
          </a:prstGeom>
          <a:ln w="1905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72794" y="2165303"/>
            <a:ext cx="0" cy="332834"/>
          </a:xfrm>
          <a:prstGeom prst="line">
            <a:avLst/>
          </a:prstGeom>
          <a:ln w="1905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50903" y="2387194"/>
            <a:ext cx="332834" cy="0"/>
          </a:xfrm>
          <a:prstGeom prst="line">
            <a:avLst/>
          </a:prstGeom>
          <a:ln w="1905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65960" y="19110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6E56"/>
                </a:solidFill>
                <a:latin typeface="Avenir Next"/>
              </a:rPr>
              <a:t>① Presidio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240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75C"/>
                </a:solidFill>
                <a:latin typeface="Avenir Next"/>
              </a:rPr>
              <a:t>Microsoft · açık kaynak (MIT)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9384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B18"/>
                </a:solidFill>
                <a:latin typeface="Avenir Next"/>
              </a:rPr>
              <a:t>Kişisel veri tarama motoru. Kural tabanlı kalıplar ile yapay zekâ tabanlı varlık tanımayı birlikte kullanır.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8658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TC kimlik (doğrulama algoritmasıyla), IBAN, GSM, plaka, pasaport için Türkiye'ye özgü tanıyıcıları biz ekledik.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74136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70102" y="3775558"/>
            <a:ext cx="294436" cy="294436"/>
          </a:xfrm>
          <a:prstGeom prst="roundRect">
            <a:avLst/>
          </a:prstGeom>
          <a:noFill/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213775" y="383444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64538" y="383444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13775" y="392277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64538" y="392277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3775" y="401110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64538" y="401110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965960" y="35021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6E56"/>
                </a:solidFill>
                <a:latin typeface="Avenir Next"/>
              </a:rPr>
              <a:t>② Privacy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83133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75C"/>
                </a:solidFill>
                <a:latin typeface="Avenir Next"/>
              </a:rPr>
              <a:t>OpenAI · açık ağırlıklı (Apache-2.0)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5204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B18"/>
                </a:solidFill>
                <a:latin typeface="Avenir Next"/>
              </a:rPr>
              <a:t>Kişisel veri tespiti için eğitilmiş, kompakt bir dil modeli. Türkçe destekli çok dilli sürümü kullanılır.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7764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Tamamen cihazda / kurum sunucusunda çalışır — çalışma anında internete hiç bağlanmaz. Kalıba uymayan, yalnızca bağlamdan anlaşılan isim ve adresleri yakalar.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965192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&quot;No&quot; Symbol 28"/>
          <p:cNvSpPr/>
          <p:nvPr/>
        </p:nvSpPr>
        <p:spPr>
          <a:xfrm>
            <a:off x="1250900" y="5347412"/>
            <a:ext cx="332841" cy="332841"/>
          </a:xfrm>
          <a:prstGeom prst="noSmoking">
            <a:avLst/>
          </a:prstGeom>
          <a:noFill/>
          <a:ln w="381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50932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6E56"/>
                </a:solidFill>
                <a:latin typeface="Avenir Next"/>
              </a:rPr>
              <a:t>③ Deny 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422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75C"/>
                </a:solidFill>
                <a:latin typeface="Avenir Next"/>
              </a:rPr>
              <a:t>Kurumun kendisi tanımlar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111496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B18"/>
                </a:solidFill>
                <a:latin typeface="Avenir Next"/>
              </a:rPr>
              <a:t>Her koşulda gizlenecek kelimelerin listesi. Kurum tarafından yönetilir.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568696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Marka, fon veya proje kod adı gibi hiçbir genel modelin bilemeyeceği özel terimler — bu katman olmadan tespit edilemezler.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İki mod — ve kanundaki karşılığı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F3F1E9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26464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1B18"/>
                </a:solidFill>
                <a:latin typeface="Avenir Next"/>
              </a:rPr>
              <a:t>KVKK m.3/1-(b) — anonim hâle getirme:  kişisel verilerin, başka verilerle eşleştirilerek dahi hiçbir surette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73352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1B18"/>
                </a:solidFill>
                <a:latin typeface="Avenir Next"/>
              </a:rPr>
              <a:t>kimliği belirli veya belirlenebilir bir gerçek kişiyle ilişkilendirilemeyecek hâle getirilmesi.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93392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75C"/>
                </a:solidFill>
                <a:latin typeface="Avenir Next"/>
              </a:rPr>
              <a:t>Ölçüt geri döndürülebilirliktir: veri bir anahtarla geri açılabiliyorsa anonim değildir, kişisel veri olarak kalır.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60320"/>
            <a:ext cx="5029200" cy="342900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-Right Arrow 9"/>
          <p:cNvSpPr/>
          <p:nvPr/>
        </p:nvSpPr>
        <p:spPr>
          <a:xfrm>
            <a:off x="1212495" y="2894991"/>
            <a:ext cx="409651" cy="153619"/>
          </a:xfrm>
          <a:prstGeom prst="leftRightArrow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27432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6E56"/>
                </a:solidFill>
                <a:latin typeface="Avenir Next"/>
              </a:rPr>
              <a:t>Mapping modu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7355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675C"/>
                </a:solidFill>
                <a:latin typeface="Avenir Next"/>
              </a:rPr>
              <a:t>Geri döndürülebilir · takma adlaştırma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1B18"/>
                </a:solidFill>
                <a:latin typeface="Avenir Next"/>
              </a:rPr>
              <a:t>Orijinal belge ve eşleme tablosu saklanır.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1B18"/>
                </a:solidFill>
                <a:latin typeface="Avenir Next"/>
              </a:rPr>
              <a:t>Yetkili biri gerektiğinde geri açabilir.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70916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8280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6E56"/>
                </a:solidFill>
                <a:latin typeface="Avenir Next"/>
              </a:rPr>
              <a:t>Hukuki nitelik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0749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B18"/>
                </a:solidFill>
                <a:latin typeface="Avenir Next"/>
              </a:rPr>
              <a:t>Kişisel veri olmaya devam eder — KVKK yükümlülükleri sürer.
GDPR Res. 26 · m.4(5) ile aynı yönde.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60320"/>
            <a:ext cx="5029200" cy="342900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9525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737300" y="2894991"/>
            <a:ext cx="332841" cy="153619"/>
          </a:xfrm>
          <a:prstGeom prst="rightArrow">
            <a:avLst/>
          </a:prstGeom>
          <a:solidFill>
            <a:srgbClr val="C04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57339" y="2830983"/>
            <a:ext cx="38404" cy="281635"/>
          </a:xfrm>
          <a:prstGeom prst="rect">
            <a:avLst/>
          </a:prstGeom>
          <a:solidFill>
            <a:srgbClr val="C04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27432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04E28"/>
                </a:solidFill>
                <a:latin typeface="Avenir Next"/>
              </a:rPr>
              <a:t>Destructive modu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7355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675C"/>
                </a:solidFill>
                <a:latin typeface="Avenir Next"/>
              </a:rPr>
              <a:t>Geri dönüşü yok · anonim hâle getirme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033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1B18"/>
                </a:solidFill>
                <a:latin typeface="Avenir Next"/>
              </a:rPr>
              <a:t>Orijinal belge ve eşleme hiç diske yazılmaz.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1B18"/>
                </a:solidFill>
                <a:latin typeface="Avenir Next"/>
              </a:rPr>
              <a:t>Geri dönüş fiziksel olarak imkânsızdır.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70916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8280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4E28"/>
                </a:solidFill>
                <a:latin typeface="Avenir Next"/>
              </a:rPr>
              <a:t>Hukuki nitelik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0749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B18"/>
                </a:solidFill>
                <a:latin typeface="Avenir Next"/>
              </a:rPr>
              <a:t>KVKK m.3 ölçütünü karşılayan anonim veri.
m.7 uyarınca imha yükümlülüğünün karşılanma yolu.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0819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75C"/>
                </a:solidFill>
                <a:latin typeface="Avenir Next"/>
              </a:rPr>
              <a:t>Dayanak: 6698 sayılı KVKK m.3/1-(b), m.7, m.28/1-(b) · Silme, Yok Etme veya Anonim Hâle Getirme Yönetmeliği (RG 28.10.2017/30224)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Örnek belge — gerçek çıktı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75C"/>
                </a:solidFill>
                <a:latin typeface="Avenir Next"/>
              </a:rPr>
              <a:t>Aşağıdaki maskelenmiş metin sistemin gerçek çıktısıdır — örnek bir müşteri formu her iki moddan geçirilerek üretilmiştir.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675C"/>
                </a:solidFill>
                <a:latin typeface="Avenir Next"/>
              </a:rPr>
              <a:t>Girdi — orijinal belge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Sayın Ahmet Yılmaz, 15 Mart 2024 tarihli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başvurunuz değerlendirilmiştir.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Müşteri adı:    Ahmet Yılmaz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TC Kimlik No:   10203040550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Cep telefonu:   0532 764 21 09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E-posta:        ahmet.yilmaz@ornekposta.com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IBAN:           TR84 0009 1000 8765 4321 0987 65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Adres:          Bağdat Caddesi No 145 Kadıköy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İlgili sözleşme Ahmet Yılmaz tarafından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imzalanmıştır.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20640" cy="406908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019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Avenir Next"/>
              </a:rPr>
              <a:t>Çıktı — maskelenmiş metin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Sayın &lt;PERSON_1&gt;, 15 Mart 2024 tarihli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başvurunuz değerlendirilmiştir.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&lt;PERSON_2&gt; adı:    &lt;PERSON_1&gt;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&lt;NRP_2&gt;:          &lt;TCKN_1&gt;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Cep telefonu:   &lt;PHONE_1&gt;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E-posta:        &lt;EMAIL_1&gt;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&lt;NRP_3&gt;         &lt;IBAN_1&gt;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&lt;PERSON_3&gt;:     &lt;LOCATION_2&gt; No 145 &lt;LOCATION_1&gt;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İlgili sözleşme &lt;PERSON_1&gt; tarafından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imzalanmıştır.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3794760"/>
            <a:ext cx="274320" cy="0"/>
          </a:xfrm>
          <a:prstGeom prst="line">
            <a:avLst/>
          </a:prstGeom>
          <a:ln w="2857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9436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75C"/>
                </a:solidFill>
                <a:latin typeface="Avenir Next"/>
              </a:rPr>
              <a:t>Aynı kişi belge boyunca hep aynı etikete dönüşür (&lt;PERSON_1&gt;) — metin okunabilirliğini korur. Tereddütte kalınan ifadeler de maskelenir: sistem güvenli tarafta kalır.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Aynı çıktı, iki farklı iz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675C"/>
                </a:solidFill>
                <a:latin typeface="Avenir Next"/>
              </a:rPr>
              <a:t>Aynı belge, iki mod. Maskelenmiş metin birebir aynıdır — fark, işlem bittikten sonra diskte ne kaldığındadır.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385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6E56"/>
                </a:solidFill>
                <a:latin typeface="Avenir Next"/>
              </a:rPr>
              <a:t>Mapping modu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87168"/>
            <a:ext cx="44805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33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Orijinal belge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0" y="2761488"/>
            <a:ext cx="58522" cy="65836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270602" y="2702967"/>
            <a:ext cx="95097" cy="124357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77641" y="2633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75C"/>
                </a:solidFill>
                <a:latin typeface="Avenir Next"/>
              </a:rPr>
              <a:t>saklanır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145536"/>
            <a:ext cx="44805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Eşleme tablosu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12080" y="3419856"/>
            <a:ext cx="58522" cy="65836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270602" y="3361335"/>
            <a:ext cx="95097" cy="124357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77641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75C"/>
                </a:solidFill>
                <a:latin typeface="Avenir Next"/>
              </a:rPr>
              <a:t>saklanır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803904"/>
            <a:ext cx="44805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950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Maskelenmiş metin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12080" y="4078224"/>
            <a:ext cx="58522" cy="65836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70602" y="4019703"/>
            <a:ext cx="95097" cy="124357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77641" y="3950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75C"/>
                </a:solidFill>
                <a:latin typeface="Avenir Next"/>
              </a:rPr>
              <a:t>saklanır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6E56"/>
                </a:solidFill>
                <a:latin typeface="Avenir Next"/>
              </a:rPr>
              <a:t>Geri açılabilir — kişisel veri olarak kalır.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78308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9525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9385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4E28"/>
                </a:solidFill>
                <a:latin typeface="Avenir Next"/>
              </a:rPr>
              <a:t>Destructive modu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487168"/>
            <a:ext cx="44805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633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Orijinal belge</a:t>
            </a:r>
          </a:p>
        </p:txBody>
      </p:sp>
      <p:sp>
        <p:nvSpPr>
          <p:cNvPr id="28" name="&quot;No&quot; Symbol 27"/>
          <p:cNvSpPr/>
          <p:nvPr/>
        </p:nvSpPr>
        <p:spPr>
          <a:xfrm>
            <a:off x="10682478" y="2672334"/>
            <a:ext cx="178308" cy="178308"/>
          </a:xfrm>
          <a:prstGeom prst="noSmoking">
            <a:avLst/>
          </a:prstGeom>
          <a:noFill/>
          <a:ln w="38100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633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04E28"/>
                </a:solidFill>
                <a:latin typeface="Avenir Next"/>
              </a:rPr>
              <a:t>hiç yazılmaz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145536"/>
            <a:ext cx="44805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Eşleme tablosu</a:t>
            </a:r>
          </a:p>
        </p:txBody>
      </p:sp>
      <p:sp>
        <p:nvSpPr>
          <p:cNvPr id="32" name="&quot;No&quot; Symbol 31"/>
          <p:cNvSpPr/>
          <p:nvPr/>
        </p:nvSpPr>
        <p:spPr>
          <a:xfrm>
            <a:off x="10682478" y="3330702"/>
            <a:ext cx="178308" cy="178308"/>
          </a:xfrm>
          <a:prstGeom prst="noSmoking">
            <a:avLst/>
          </a:prstGeom>
          <a:noFill/>
          <a:ln w="38100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291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04E28"/>
                </a:solidFill>
                <a:latin typeface="Avenir Next"/>
              </a:rPr>
              <a:t>hiç yazılmaz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803904"/>
            <a:ext cx="44805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950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Maskelenmiş metin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698480" y="4078224"/>
            <a:ext cx="58522" cy="65836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757002" y="4019703"/>
            <a:ext cx="95097" cy="124357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464041" y="3950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75C"/>
                </a:solidFill>
                <a:latin typeface="Avenir Next"/>
              </a:rPr>
              <a:t>saklanır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572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4E28"/>
                </a:solidFill>
                <a:latin typeface="Avenir Next"/>
              </a:rPr>
              <a:t>Geri açılamaz — anonim veri hâline gelir.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Bu tablo, örnek belge her iki moddan geçirildikten sonra sistemin depolama katmanı doğrudan sorgulanarak elde edilmiştir.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Verileriniz nerede kalır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1588770" y="2217420"/>
            <a:ext cx="480060" cy="480060"/>
          </a:xfrm>
          <a:prstGeom prst="donut">
            <a:avLst>
              <a:gd name="adj" fmla="val 32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8760" y="2606040"/>
            <a:ext cx="640080" cy="457200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24028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B18"/>
                </a:solidFill>
                <a:latin typeface="Avenir Next"/>
              </a:rPr>
              <a:t>Her şey kendi ortamınızda kalır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B675C"/>
                </a:solidFill>
                <a:latin typeface="Avenir Next"/>
              </a:rPr>
              <a:t>Onay verilene kadar belgeniz hiçbir yere gönderilmez — kendi bilgisayarınızda ya da sunucunuzda işlenir.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105156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485900" y="4389120"/>
            <a:ext cx="685800" cy="514350"/>
          </a:xfrm>
          <a:prstGeom prst="cloud">
            <a:avLst/>
          </a:prstGeom>
          <a:noFill/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540764" y="4443984"/>
            <a:ext cx="576072" cy="438912"/>
          </a:xfrm>
          <a:prstGeom prst="line">
            <a:avLst/>
          </a:prstGeom>
          <a:ln w="381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34640" y="420624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B18"/>
                </a:solidFill>
                <a:latin typeface="Avenir Next"/>
              </a:rPr>
              <a:t>Ham belge, hiçbir yapay zekâya gitmez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7091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B675C"/>
                </a:solidFill>
                <a:latin typeface="Avenir Next"/>
              </a:rPr>
              <a:t>İşin en hassas kısmı — orijinal metin — bir bulut servisine asla dokunmaz.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B18"/>
                </a:solidFill>
                <a:latin typeface="Georgia"/>
              </a:rPr>
              <a:t>Sistem kendi kendini nasıl denetler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70432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3375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72284" y="1987906"/>
            <a:ext cx="438912" cy="131673"/>
          </a:xfrm>
          <a:prstGeom prst="roundRect">
            <a:avLst/>
          </a:prstGeom>
          <a:noFill/>
          <a:ln w="254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72284" y="2134210"/>
            <a:ext cx="438912" cy="131673"/>
          </a:xfrm>
          <a:prstGeom prst="roundRect">
            <a:avLst/>
          </a:prstGeom>
          <a:noFill/>
          <a:ln w="254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72284" y="2280514"/>
            <a:ext cx="438912" cy="131673"/>
          </a:xfrm>
          <a:prstGeom prst="roundRect">
            <a:avLst/>
          </a:prstGeom>
          <a:noFill/>
          <a:ln w="254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1B18"/>
                </a:solidFill>
                <a:latin typeface="Avenir Next"/>
              </a:rPr>
              <a:t>Katmanlı saklama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2788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75C"/>
                </a:solidFill>
                <a:latin typeface="Avenir Next"/>
              </a:rPr>
              <a:t>Farklı hassasiyetteki veriler ayrı tutulur — biri sızsa bile diğerleri etkilenmez.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00200"/>
            <a:ext cx="33375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9572" y="1874520"/>
            <a:ext cx="548640" cy="548640"/>
          </a:xfrm>
          <a:prstGeom prst="ellipse">
            <a:avLst/>
          </a:prstGeom>
          <a:noFill/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9572" y="1874520"/>
            <a:ext cx="548640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2400" b="1">
                <a:solidFill>
                  <a:srgbClr val="0F6E56"/>
                </a:solidFill>
              </a:rPr>
              <a:t>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0604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1B18"/>
                </a:solidFill>
                <a:latin typeface="Avenir Next"/>
              </a:rPr>
              <a:t>Tutarlı maskeleme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017520"/>
            <a:ext cx="2788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75C"/>
                </a:solidFill>
                <a:latin typeface="Avenir Next"/>
              </a:rPr>
              <a:t>Aynı isim, belge boyunca hep aynı şekilde gizlenir.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27264" y="1600200"/>
            <a:ext cx="33375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05336" y="1885493"/>
            <a:ext cx="181416" cy="181416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13164" y="2125432"/>
            <a:ext cx="365760" cy="248716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4" y="260604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1B18"/>
                </a:solidFill>
                <a:latin typeface="Avenir Next"/>
              </a:rPr>
              <a:t>İnsan her zaman devrede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4" y="3017520"/>
            <a:ext cx="2788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75C"/>
                </a:solidFill>
                <a:latin typeface="Avenir Next"/>
              </a:rPr>
              <a:t>Sistem emin değilse, kararı kendisi vermez — bir kişiye sorar.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Ölçülebilirlik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1B18"/>
                </a:solidFill>
                <a:latin typeface="Avenir Next"/>
              </a:rPr>
              <a:t>Sistem, gerçek Borsa İstanbul şirketlerinin kamuya açık belgelerinden oluşan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C1B18"/>
                </a:solidFill>
                <a:latin typeface="Avenir Next"/>
              </a:rPr>
              <a:t>bağımsız bir korpus ve tekrarlanabilir bir yöntemle test ediliyor.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6B675C"/>
                </a:solidFill>
                <a:latin typeface="Avenir Next"/>
              </a:rPr>
              <a:t>Bağımsız bir ekip aynı korpusu ve aynı yöntemi kendi sisteminde uygulayıp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675C"/>
                </a:solidFill>
                <a:latin typeface="Avenir Next"/>
              </a:rPr>
              <a:t>karşılaştırılabilir sonuçlar üretebilir — iddia değil, tekrarlanabilir ölçüm.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188720" cy="381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C1B18"/>
                </a:solidFill>
                <a:latin typeface="Georgia"/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6E56"/>
                </a:solidFill>
                <a:latin typeface="Avenir Next"/>
              </a:rPr>
              <a:t>Screenwall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Hassas belgelerinizle, en güçlü yapay zekâ modellerini güvenle kullanmanın yolu.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C1B18"/>
                </a:solidFill>
                <a:latin typeface="Georgia"/>
              </a:defRPr>
            </a:pPr>
            <a:r>
              <a:t>Sayılarla kanıt — bağımsız ölçüm altyapısı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75C"/>
                </a:solidFill>
                <a:latin typeface="Avenir Next"/>
              </a:defRPr>
            </a:pPr>
            <a:r>
              <a:t>240 belgelik mühürlü test seti · 72 tuzaklı stres dosyası · bağımsız problar — hepsi tekrar koşturulabilir.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t>72 tuzaklı belgede kritik sızıntı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9202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70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t>Kritik veri yakalama (mühürlü holdout)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6700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t>%100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19856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t>Belgenin işe yararlığı korunuyor 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41985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t>%98,9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9664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t>Sahte kimlik probu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16966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t>16/16 yakalandı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1947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t>Otomatik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91947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t>337 yeşil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75C"/>
                </a:solidFill>
                <a:latin typeface="Avenir Next"/>
              </a:defRPr>
            </a:pPr>
            <a:r>
              <a:t>Şüphede sistem onaylamaz, belge insana düşer — güvenlik ayar değil, varsayılan.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C1B18"/>
                </a:solidFill>
                <a:latin typeface="Georgia"/>
              </a:defRPr>
            </a:pPr>
            <a:r>
              <a:t>Aynı sınavda iki bağımsız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75C"/>
                </a:solidFill>
                <a:latin typeface="Avenir Next"/>
              </a:defRPr>
            </a:pPr>
            <a:r>
              <a:t>Ölçüm altyapımız, bağımsız geliştirilen ikinci bir sistemle (Sol) aynı sabit kurallarla koşuldu.</a:t>
            </a:r>
          </a:p>
          <a:p>
            <a:pPr algn="l">
              <a:defRPr sz="1400" b="0">
                <a:solidFill>
                  <a:srgbClr val="6B675C"/>
                </a:solidFill>
                <a:latin typeface="Avenir Next"/>
              </a:defRPr>
            </a:pPr>
            <a:r>
              <a:t>Skorlayıcı bağımsız, korpuslar hash-pinli — her sayı yeniden üretilebilir.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75C"/>
                </a:solidFill>
                <a:latin typeface="Avenir Next"/>
              </a:defRPr>
            </a:pPr>
            <a: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75C"/>
                </a:solidFill>
                <a:latin typeface="Avenir Next"/>
              </a:defRPr>
            </a:pPr>
            <a:r>
              <a:t>Screenwall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057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75C"/>
                </a:solidFill>
                <a:latin typeface="Avenir Next"/>
              </a:defRPr>
            </a:pPr>
            <a:r>
              <a:t>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t>Kritik veri yakalama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t>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24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t>0.68 (kural-eşit: 0.86)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9125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t>Aşırı-maskeleme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19125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t>0/90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912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t>0/90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5818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t>Stres: kritik sızıntı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7581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t>0/72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75818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t>9/72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251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t>Sahte kimlik kaçışı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251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t>0/16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251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t>1/16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t>Gereksiz maskeleme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892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t>11/40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t>3/40 — Sol önde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50408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75C"/>
                </a:solidFill>
                <a:latin typeface="Avenir Next"/>
              </a:defRPr>
            </a:pPr>
            <a:r>
              <a:t>Dürüstlük notu: rakip skoru kendi aleyhine daha sert bir kuralla ölçtü; kural eşitlenince 0.86.</a:t>
            </a:r>
          </a:p>
          <a:p>
            <a:pPr algn="l">
              <a:defRPr sz="1300" b="0">
                <a:solidFill>
                  <a:srgbClr val="6B675C"/>
                </a:solidFill>
                <a:latin typeface="Avenir Next"/>
              </a:defRPr>
            </a:pPr>
            <a:r>
              <a:t>Gereksiz maskelemede Sol'un çıtası bizim sıradaki hedefimiz. Kod adı: Fable — github.com/EminKolac/fable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